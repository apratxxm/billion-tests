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405" r:id="rId2"/>
    <p:sldId id="412" r:id="rId3"/>
    <p:sldId id="409" r:id="rId4"/>
    <p:sldId id="407" r:id="rId5"/>
    <p:sldId id="413" r:id="rId6"/>
    <p:sldId id="408" r:id="rId7"/>
    <p:sldId id="403" r:id="rId8"/>
    <p:sldId id="410" r:id="rId9"/>
    <p:sldId id="411" r:id="rId10"/>
    <p:sldId id="404" r:id="rId11"/>
    <p:sldId id="406" r:id="rId12"/>
    <p:sldId id="401" r:id="rId13"/>
    <p:sldId id="402" r:id="rId14"/>
    <p:sldId id="268" r:id="rId15"/>
    <p:sldId id="4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00FF"/>
    <a:srgbClr val="4B2269"/>
    <a:srgbClr val="414141"/>
    <a:srgbClr val="D642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37" d="100"/>
          <a:sy n="37" d="100"/>
        </p:scale>
        <p:origin x="5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32D577-C01C-49A8-8CFF-FC346EC8568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233465-F333-4830-943B-CA19CB7C74CC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Blood Tests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Hemoglobin, cholesterol, malaria, and rapid test kits.</a:t>
          </a:r>
        </a:p>
      </dgm:t>
    </dgm:pt>
    <dgm:pt modelId="{52003479-7117-44EB-B55A-01EFB0307C89}" type="parTrans" cxnId="{50643BAF-FB3D-44DD-A70F-0C0B4D7B335B}">
      <dgm:prSet/>
      <dgm:spPr/>
      <dgm:t>
        <a:bodyPr/>
        <a:lstStyle/>
        <a:p>
          <a:endParaRPr lang="en-US"/>
        </a:p>
      </dgm:t>
    </dgm:pt>
    <dgm:pt modelId="{F5F1F01C-F928-4462-B210-22164D01714F}" type="sibTrans" cxnId="{50643BAF-FB3D-44DD-A70F-0C0B4D7B335B}">
      <dgm:prSet/>
      <dgm:spPr/>
      <dgm:t>
        <a:bodyPr/>
        <a:lstStyle/>
        <a:p>
          <a:endParaRPr lang="en-US"/>
        </a:p>
      </dgm:t>
    </dgm:pt>
    <dgm:pt modelId="{9752865E-DA87-4CE7-B577-BD15BD681238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Glucose Monitoring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Affordable, at-home diabetes management.</a:t>
          </a:r>
        </a:p>
      </dgm:t>
    </dgm:pt>
    <dgm:pt modelId="{102262E9-62F1-48A1-B118-E5C5D83EEC6F}" type="parTrans" cxnId="{94CAC814-0B37-421E-8634-3CD26D6793FE}">
      <dgm:prSet/>
      <dgm:spPr/>
      <dgm:t>
        <a:bodyPr/>
        <a:lstStyle/>
        <a:p>
          <a:endParaRPr lang="en-US"/>
        </a:p>
      </dgm:t>
    </dgm:pt>
    <dgm:pt modelId="{E7DF549B-808C-4830-8545-FECB8F1A6C86}" type="sibTrans" cxnId="{94CAC814-0B37-421E-8634-3CD26D6793FE}">
      <dgm:prSet/>
      <dgm:spPr/>
      <dgm:t>
        <a:bodyPr/>
        <a:lstStyle/>
        <a:p>
          <a:endParaRPr lang="en-US"/>
        </a:p>
      </dgm:t>
    </dgm:pt>
    <dgm:pt modelId="{03FE1EF2-6A54-4AE5-A428-D4914355E1A0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Pregnancy &amp; Fertility Tests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</a:t>
          </a:r>
          <a:r>
            <a:rPr lang="en-US" sz="18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hCG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ovulation strips.</a:t>
          </a:r>
        </a:p>
      </dgm:t>
    </dgm:pt>
    <dgm:pt modelId="{962F8429-7B02-416F-A1AE-B10EAD0C6D0C}" type="parTrans" cxnId="{703C4CA9-4922-49C0-903E-1DBDA8E4062A}">
      <dgm:prSet/>
      <dgm:spPr/>
      <dgm:t>
        <a:bodyPr/>
        <a:lstStyle/>
        <a:p>
          <a:endParaRPr lang="en-US"/>
        </a:p>
      </dgm:t>
    </dgm:pt>
    <dgm:pt modelId="{5A32A27A-4A20-4177-82E5-43B8CD346DD9}" type="sibTrans" cxnId="{703C4CA9-4922-49C0-903E-1DBDA8E4062A}">
      <dgm:prSet/>
      <dgm:spPr/>
      <dgm:t>
        <a:bodyPr/>
        <a:lstStyle/>
        <a:p>
          <a:endParaRPr lang="en-US"/>
        </a:p>
      </dgm:t>
    </dgm:pt>
    <dgm:pt modelId="{F037054F-8C00-47E2-B6DB-643C9A5AC961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Infectious Disease Strips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Malaria, dengue, COVID-19 antigen/antibody kits.</a:t>
          </a:r>
        </a:p>
      </dgm:t>
    </dgm:pt>
    <dgm:pt modelId="{6DD12FAA-0C45-41A9-97FF-49DAA22A72A3}" type="parTrans" cxnId="{A472805A-7795-4724-8738-2E8737176C40}">
      <dgm:prSet/>
      <dgm:spPr/>
      <dgm:t>
        <a:bodyPr/>
        <a:lstStyle/>
        <a:p>
          <a:endParaRPr lang="en-US"/>
        </a:p>
      </dgm:t>
    </dgm:pt>
    <dgm:pt modelId="{2961B3D1-51A4-490F-8CA3-E15FA7DFFFAA}" type="sibTrans" cxnId="{A472805A-7795-4724-8738-2E8737176C40}">
      <dgm:prSet/>
      <dgm:spPr/>
      <dgm:t>
        <a:bodyPr/>
        <a:lstStyle/>
        <a:p>
          <a:endParaRPr lang="en-US"/>
        </a:p>
      </dgm:t>
    </dgm:pt>
    <dgm:pt modelId="{38A08805-47E5-46DD-BDBB-318AABDE814E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Veterinary Diagnostics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 tests for livestock and pets.</a:t>
          </a:r>
        </a:p>
      </dgm:t>
    </dgm:pt>
    <dgm:pt modelId="{826DEE8A-7180-49E2-9E3A-1DF59A00CE6C}" type="parTrans" cxnId="{3A35708C-0A9E-45D6-BC2F-FBBF27447727}">
      <dgm:prSet/>
      <dgm:spPr/>
      <dgm:t>
        <a:bodyPr/>
        <a:lstStyle/>
        <a:p>
          <a:endParaRPr lang="en-US"/>
        </a:p>
      </dgm:t>
    </dgm:pt>
    <dgm:pt modelId="{B00D5B89-A077-40EE-A955-D312440CE46A}" type="sibTrans" cxnId="{3A35708C-0A9E-45D6-BC2F-FBBF27447727}">
      <dgm:prSet/>
      <dgm:spPr/>
      <dgm:t>
        <a:bodyPr/>
        <a:lstStyle/>
        <a:p>
          <a:endParaRPr lang="en-US"/>
        </a:p>
      </dgm:t>
    </dgm:pt>
    <dgm:pt modelId="{800460B9-4119-4671-8E51-7979BFDFED25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Colorimetric Strips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</a:t>
          </a:r>
          <a:r>
            <a:rPr lang="en-US" sz="1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Extensible to 30+ strip types across human and animal </a:t>
          </a:r>
          <a:r>
            <a:rPr lang="en-US" sz="1800" b="1" dirty="0" err="1" smtClean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health</a:t>
          </a:r>
          <a:r>
            <a:rPr lang="en-US" sz="1800" dirty="0" err="1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r>
            <a:rPr lang="en-US" sz="1800" b="1" dirty="0" err="1" smtClean="0">
              <a:solidFill>
                <a:srgbClr val="00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Adaptable</a:t>
          </a:r>
          <a:r>
            <a:rPr lang="en-US" sz="1800" b="1" dirty="0" smtClean="0">
              <a:solidFill>
                <a:srgbClr val="00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to over 30 test strip variants across human health diagnostics licensed under CDCO. </a:t>
          </a:r>
          <a:endParaRPr lang="en-US" sz="1800" b="1" dirty="0">
            <a:solidFill>
              <a:srgbClr val="0000FF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8BE5206-F306-4181-97D5-81AD569876B3}" type="parTrans" cxnId="{685A19D4-DF89-4A61-83B3-20C244467B7A}">
      <dgm:prSet/>
      <dgm:spPr/>
      <dgm:t>
        <a:bodyPr/>
        <a:lstStyle/>
        <a:p>
          <a:endParaRPr lang="en-US"/>
        </a:p>
      </dgm:t>
    </dgm:pt>
    <dgm:pt modelId="{228AD07E-0150-4BED-B12E-2F90CED5802F}" type="sibTrans" cxnId="{685A19D4-DF89-4A61-83B3-20C244467B7A}">
      <dgm:prSet/>
      <dgm:spPr/>
      <dgm:t>
        <a:bodyPr/>
        <a:lstStyle/>
        <a:p>
          <a:endParaRPr lang="en-US"/>
        </a:p>
      </dgm:t>
    </dgm:pt>
    <dgm:pt modelId="{685A7A7D-AA46-4EE8-93CA-FECED8D00B14}" type="pres">
      <dgm:prSet presAssocID="{9432D577-C01C-49A8-8CFF-FC346EC8568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AF3D4FB-A1BB-4095-8D36-71DDCD034F8A}" type="pres">
      <dgm:prSet presAssocID="{F6233465-F333-4830-943B-CA19CB7C74CC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F80A17-8799-4B94-BB81-DE07B5D0B877}" type="pres">
      <dgm:prSet presAssocID="{F5F1F01C-F928-4462-B210-22164D01714F}" presName="spacer" presStyleCnt="0"/>
      <dgm:spPr/>
    </dgm:pt>
    <dgm:pt modelId="{24B45B36-5FBB-487A-BABB-587EC36845B7}" type="pres">
      <dgm:prSet presAssocID="{9752865E-DA87-4CE7-B577-BD15BD681238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4B3A16-5E3C-4148-96A5-7C0B556A1AF1}" type="pres">
      <dgm:prSet presAssocID="{E7DF549B-808C-4830-8545-FECB8F1A6C86}" presName="spacer" presStyleCnt="0"/>
      <dgm:spPr/>
    </dgm:pt>
    <dgm:pt modelId="{E0BF5500-497C-4909-90E0-A771F99C711F}" type="pres">
      <dgm:prSet presAssocID="{03FE1EF2-6A54-4AE5-A428-D4914355E1A0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78A01E-EF38-4917-8636-5D53BDC6B874}" type="pres">
      <dgm:prSet presAssocID="{5A32A27A-4A20-4177-82E5-43B8CD346DD9}" presName="spacer" presStyleCnt="0"/>
      <dgm:spPr/>
    </dgm:pt>
    <dgm:pt modelId="{438C0FC8-5A47-4A67-AED0-1920D58120A2}" type="pres">
      <dgm:prSet presAssocID="{F037054F-8C00-47E2-B6DB-643C9A5AC961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978850-BE66-4A3F-A00E-2855465160DA}" type="pres">
      <dgm:prSet presAssocID="{2961B3D1-51A4-490F-8CA3-E15FA7DFFFAA}" presName="spacer" presStyleCnt="0"/>
      <dgm:spPr/>
    </dgm:pt>
    <dgm:pt modelId="{D7473D68-EE5C-4927-941B-BDDAF9AC275F}" type="pres">
      <dgm:prSet presAssocID="{38A08805-47E5-46DD-BDBB-318AABDE814E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150AE8-DF47-47F0-B4EF-662C0AEEAA03}" type="pres">
      <dgm:prSet presAssocID="{B00D5B89-A077-40EE-A955-D312440CE46A}" presName="spacer" presStyleCnt="0"/>
      <dgm:spPr/>
    </dgm:pt>
    <dgm:pt modelId="{D948EDCD-243F-45EA-A59B-B1CC8AB7C7C2}" type="pres">
      <dgm:prSet presAssocID="{800460B9-4119-4671-8E51-7979BFDFED25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4264035-5797-4030-BDB7-6F630BEAF7AD}" type="presOf" srcId="{03FE1EF2-6A54-4AE5-A428-D4914355E1A0}" destId="{E0BF5500-497C-4909-90E0-A771F99C711F}" srcOrd="0" destOrd="0" presId="urn:microsoft.com/office/officeart/2005/8/layout/vList2"/>
    <dgm:cxn modelId="{5CA4006C-D0C4-4040-B80B-4C9D856B663A}" type="presOf" srcId="{9432D577-C01C-49A8-8CFF-FC346EC85683}" destId="{685A7A7D-AA46-4EE8-93CA-FECED8D00B14}" srcOrd="0" destOrd="0" presId="urn:microsoft.com/office/officeart/2005/8/layout/vList2"/>
    <dgm:cxn modelId="{52DC54DD-BA3C-49DD-B3F2-DF023F06C152}" type="presOf" srcId="{38A08805-47E5-46DD-BDBB-318AABDE814E}" destId="{D7473D68-EE5C-4927-941B-BDDAF9AC275F}" srcOrd="0" destOrd="0" presId="urn:microsoft.com/office/officeart/2005/8/layout/vList2"/>
    <dgm:cxn modelId="{8139057D-8A86-4AAF-B13D-B958F94B3377}" type="presOf" srcId="{9752865E-DA87-4CE7-B577-BD15BD681238}" destId="{24B45B36-5FBB-487A-BABB-587EC36845B7}" srcOrd="0" destOrd="0" presId="urn:microsoft.com/office/officeart/2005/8/layout/vList2"/>
    <dgm:cxn modelId="{C41EBB6F-80CB-404F-82CA-C0A424F7F792}" type="presOf" srcId="{800460B9-4119-4671-8E51-7979BFDFED25}" destId="{D948EDCD-243F-45EA-A59B-B1CC8AB7C7C2}" srcOrd="0" destOrd="0" presId="urn:microsoft.com/office/officeart/2005/8/layout/vList2"/>
    <dgm:cxn modelId="{240A7BD9-DBBF-4B06-B437-360A504C120C}" type="presOf" srcId="{F037054F-8C00-47E2-B6DB-643C9A5AC961}" destId="{438C0FC8-5A47-4A67-AED0-1920D58120A2}" srcOrd="0" destOrd="0" presId="urn:microsoft.com/office/officeart/2005/8/layout/vList2"/>
    <dgm:cxn modelId="{A472805A-7795-4724-8738-2E8737176C40}" srcId="{9432D577-C01C-49A8-8CFF-FC346EC85683}" destId="{F037054F-8C00-47E2-B6DB-643C9A5AC961}" srcOrd="3" destOrd="0" parTransId="{6DD12FAA-0C45-41A9-97FF-49DAA22A72A3}" sibTransId="{2961B3D1-51A4-490F-8CA3-E15FA7DFFFAA}"/>
    <dgm:cxn modelId="{94CAC814-0B37-421E-8634-3CD26D6793FE}" srcId="{9432D577-C01C-49A8-8CFF-FC346EC85683}" destId="{9752865E-DA87-4CE7-B577-BD15BD681238}" srcOrd="1" destOrd="0" parTransId="{102262E9-62F1-48A1-B118-E5C5D83EEC6F}" sibTransId="{E7DF549B-808C-4830-8545-FECB8F1A6C86}"/>
    <dgm:cxn modelId="{703C4CA9-4922-49C0-903E-1DBDA8E4062A}" srcId="{9432D577-C01C-49A8-8CFF-FC346EC85683}" destId="{03FE1EF2-6A54-4AE5-A428-D4914355E1A0}" srcOrd="2" destOrd="0" parTransId="{962F8429-7B02-416F-A1AE-B10EAD0C6D0C}" sibTransId="{5A32A27A-4A20-4177-82E5-43B8CD346DD9}"/>
    <dgm:cxn modelId="{50643BAF-FB3D-44DD-A70F-0C0B4D7B335B}" srcId="{9432D577-C01C-49A8-8CFF-FC346EC85683}" destId="{F6233465-F333-4830-943B-CA19CB7C74CC}" srcOrd="0" destOrd="0" parTransId="{52003479-7117-44EB-B55A-01EFB0307C89}" sibTransId="{F5F1F01C-F928-4462-B210-22164D01714F}"/>
    <dgm:cxn modelId="{685A19D4-DF89-4A61-83B3-20C244467B7A}" srcId="{9432D577-C01C-49A8-8CFF-FC346EC85683}" destId="{800460B9-4119-4671-8E51-7979BFDFED25}" srcOrd="5" destOrd="0" parTransId="{B8BE5206-F306-4181-97D5-81AD569876B3}" sibTransId="{228AD07E-0150-4BED-B12E-2F90CED5802F}"/>
    <dgm:cxn modelId="{3A35708C-0A9E-45D6-BC2F-FBBF27447727}" srcId="{9432D577-C01C-49A8-8CFF-FC346EC85683}" destId="{38A08805-47E5-46DD-BDBB-318AABDE814E}" srcOrd="4" destOrd="0" parTransId="{826DEE8A-7180-49E2-9E3A-1DF59A00CE6C}" sibTransId="{B00D5B89-A077-40EE-A955-D312440CE46A}"/>
    <dgm:cxn modelId="{DCC7B167-8C84-4458-BEB1-90496B3C74E6}" type="presOf" srcId="{F6233465-F333-4830-943B-CA19CB7C74CC}" destId="{DAF3D4FB-A1BB-4095-8D36-71DDCD034F8A}" srcOrd="0" destOrd="0" presId="urn:microsoft.com/office/officeart/2005/8/layout/vList2"/>
    <dgm:cxn modelId="{B77F9A3C-8F13-4E92-978B-401044E6E2F5}" type="presParOf" srcId="{685A7A7D-AA46-4EE8-93CA-FECED8D00B14}" destId="{DAF3D4FB-A1BB-4095-8D36-71DDCD034F8A}" srcOrd="0" destOrd="0" presId="urn:microsoft.com/office/officeart/2005/8/layout/vList2"/>
    <dgm:cxn modelId="{FA93C3C8-BDBB-4923-9B9A-BBAC52DB5422}" type="presParOf" srcId="{685A7A7D-AA46-4EE8-93CA-FECED8D00B14}" destId="{14F80A17-8799-4B94-BB81-DE07B5D0B877}" srcOrd="1" destOrd="0" presId="urn:microsoft.com/office/officeart/2005/8/layout/vList2"/>
    <dgm:cxn modelId="{D6572B6F-0128-42F0-938D-DE42EE8FCFE6}" type="presParOf" srcId="{685A7A7D-AA46-4EE8-93CA-FECED8D00B14}" destId="{24B45B36-5FBB-487A-BABB-587EC36845B7}" srcOrd="2" destOrd="0" presId="urn:microsoft.com/office/officeart/2005/8/layout/vList2"/>
    <dgm:cxn modelId="{0A1EA43D-6147-4A63-A30A-B22465965DF5}" type="presParOf" srcId="{685A7A7D-AA46-4EE8-93CA-FECED8D00B14}" destId="{8E4B3A16-5E3C-4148-96A5-7C0B556A1AF1}" srcOrd="3" destOrd="0" presId="urn:microsoft.com/office/officeart/2005/8/layout/vList2"/>
    <dgm:cxn modelId="{2BAD1506-EBFF-4B5B-B64B-669B41A651C4}" type="presParOf" srcId="{685A7A7D-AA46-4EE8-93CA-FECED8D00B14}" destId="{E0BF5500-497C-4909-90E0-A771F99C711F}" srcOrd="4" destOrd="0" presId="urn:microsoft.com/office/officeart/2005/8/layout/vList2"/>
    <dgm:cxn modelId="{08FCAEA8-4C6A-4675-BB3F-3CBED0208217}" type="presParOf" srcId="{685A7A7D-AA46-4EE8-93CA-FECED8D00B14}" destId="{2E78A01E-EF38-4917-8636-5D53BDC6B874}" srcOrd="5" destOrd="0" presId="urn:microsoft.com/office/officeart/2005/8/layout/vList2"/>
    <dgm:cxn modelId="{F59AA7BB-D280-4A51-9F04-BFFB8CE420E5}" type="presParOf" srcId="{685A7A7D-AA46-4EE8-93CA-FECED8D00B14}" destId="{438C0FC8-5A47-4A67-AED0-1920D58120A2}" srcOrd="6" destOrd="0" presId="urn:microsoft.com/office/officeart/2005/8/layout/vList2"/>
    <dgm:cxn modelId="{B6C995EA-0C04-4C2F-830D-E2100781053F}" type="presParOf" srcId="{685A7A7D-AA46-4EE8-93CA-FECED8D00B14}" destId="{E1978850-BE66-4A3F-A00E-2855465160DA}" srcOrd="7" destOrd="0" presId="urn:microsoft.com/office/officeart/2005/8/layout/vList2"/>
    <dgm:cxn modelId="{0E4F619B-442C-4D65-924B-634982B2FB55}" type="presParOf" srcId="{685A7A7D-AA46-4EE8-93CA-FECED8D00B14}" destId="{D7473D68-EE5C-4927-941B-BDDAF9AC275F}" srcOrd="8" destOrd="0" presId="urn:microsoft.com/office/officeart/2005/8/layout/vList2"/>
    <dgm:cxn modelId="{E3BD6375-9C38-4305-8909-3C6EC0C8A2A0}" type="presParOf" srcId="{685A7A7D-AA46-4EE8-93CA-FECED8D00B14}" destId="{B3150AE8-DF47-47F0-B4EF-662C0AEEAA03}" srcOrd="9" destOrd="0" presId="urn:microsoft.com/office/officeart/2005/8/layout/vList2"/>
    <dgm:cxn modelId="{C803C8FE-C79E-4BA5-A8DF-B89EAE7E7995}" type="presParOf" srcId="{685A7A7D-AA46-4EE8-93CA-FECED8D00B14}" destId="{D948EDCD-243F-45EA-A59B-B1CC8AB7C7C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3D4FB-A1BB-4095-8D36-71DDCD034F8A}">
      <dsp:nvSpPr>
        <dsp:cNvPr id="0" name=""/>
        <dsp:cNvSpPr/>
      </dsp:nvSpPr>
      <dsp:spPr>
        <a:xfrm>
          <a:off x="0" y="349"/>
          <a:ext cx="10574548" cy="519538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Blood Tests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Hemoglobin, cholesterol, malaria, and rapid test kits.</a:t>
          </a:r>
        </a:p>
      </dsp:txBody>
      <dsp:txXfrm>
        <a:off x="25362" y="25711"/>
        <a:ext cx="10523824" cy="468814"/>
      </dsp:txXfrm>
    </dsp:sp>
    <dsp:sp modelId="{24B45B36-5FBB-487A-BABB-587EC36845B7}">
      <dsp:nvSpPr>
        <dsp:cNvPr id="0" name=""/>
        <dsp:cNvSpPr/>
      </dsp:nvSpPr>
      <dsp:spPr>
        <a:xfrm>
          <a:off x="0" y="530321"/>
          <a:ext cx="10574548" cy="519538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Glucose Monitoring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Affordable, at-home diabetes management.</a:t>
          </a:r>
        </a:p>
      </dsp:txBody>
      <dsp:txXfrm>
        <a:off x="25362" y="555683"/>
        <a:ext cx="10523824" cy="468814"/>
      </dsp:txXfrm>
    </dsp:sp>
    <dsp:sp modelId="{E0BF5500-497C-4909-90E0-A771F99C711F}">
      <dsp:nvSpPr>
        <dsp:cNvPr id="0" name=""/>
        <dsp:cNvSpPr/>
      </dsp:nvSpPr>
      <dsp:spPr>
        <a:xfrm>
          <a:off x="0" y="1060294"/>
          <a:ext cx="10574548" cy="519538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Pregnancy &amp; Fertility Tests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</a:t>
          </a:r>
          <a:r>
            <a:rPr lang="en-US" sz="1800" kern="12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hCG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ovulation strips.</a:t>
          </a:r>
        </a:p>
      </dsp:txBody>
      <dsp:txXfrm>
        <a:off x="25362" y="1085656"/>
        <a:ext cx="10523824" cy="468814"/>
      </dsp:txXfrm>
    </dsp:sp>
    <dsp:sp modelId="{438C0FC8-5A47-4A67-AED0-1920D58120A2}">
      <dsp:nvSpPr>
        <dsp:cNvPr id="0" name=""/>
        <dsp:cNvSpPr/>
      </dsp:nvSpPr>
      <dsp:spPr>
        <a:xfrm>
          <a:off x="0" y="1590266"/>
          <a:ext cx="10574548" cy="519538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Infectious Disease Strips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Malaria, dengue, COVID-19 antigen/antibody kits.</a:t>
          </a:r>
        </a:p>
      </dsp:txBody>
      <dsp:txXfrm>
        <a:off x="25362" y="1615628"/>
        <a:ext cx="10523824" cy="468814"/>
      </dsp:txXfrm>
    </dsp:sp>
    <dsp:sp modelId="{D7473D68-EE5C-4927-941B-BDDAF9AC275F}">
      <dsp:nvSpPr>
        <dsp:cNvPr id="0" name=""/>
        <dsp:cNvSpPr/>
      </dsp:nvSpPr>
      <dsp:spPr>
        <a:xfrm>
          <a:off x="0" y="2120239"/>
          <a:ext cx="10574548" cy="519538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Veterinary Diagnostics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 tests for livestock and pets.</a:t>
          </a:r>
        </a:p>
      </dsp:txBody>
      <dsp:txXfrm>
        <a:off x="25362" y="2145601"/>
        <a:ext cx="10523824" cy="468814"/>
      </dsp:txXfrm>
    </dsp:sp>
    <dsp:sp modelId="{D948EDCD-243F-45EA-A59B-B1CC8AB7C7C2}">
      <dsp:nvSpPr>
        <dsp:cNvPr id="0" name=""/>
        <dsp:cNvSpPr/>
      </dsp:nvSpPr>
      <dsp:spPr>
        <a:xfrm>
          <a:off x="0" y="2650211"/>
          <a:ext cx="10574548" cy="519538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Colorimetric Strips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</a:t>
          </a:r>
          <a:r>
            <a:rPr lang="en-US" sz="1800" b="1" kern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Extensible to 30+ strip types across human and animal </a:t>
          </a:r>
          <a:r>
            <a:rPr lang="en-US" sz="1800" b="1" kern="1200" dirty="0" err="1" smtClean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health</a:t>
          </a:r>
          <a:r>
            <a:rPr lang="en-US" sz="1800" kern="1200" dirty="0" err="1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r>
            <a:rPr lang="en-US" sz="1800" b="1" kern="1200" dirty="0" err="1" smtClean="0">
              <a:solidFill>
                <a:srgbClr val="00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Adaptable</a:t>
          </a:r>
          <a:r>
            <a:rPr lang="en-US" sz="1800" b="1" kern="1200" dirty="0" smtClean="0">
              <a:solidFill>
                <a:srgbClr val="00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to over 30 test strip variants across human health diagnostics licensed under CDCO. </a:t>
          </a:r>
          <a:endParaRPr lang="en-US" sz="1800" b="1" kern="1200" dirty="0">
            <a:solidFill>
              <a:srgbClr val="0000FF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5362" y="2675573"/>
        <a:ext cx="10523824" cy="468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CFFB8-57B1-4EFD-90F1-8C43F972464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14128-E272-4383-8CC0-DA1952CE8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3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34071C-303A-8B7D-540A-6D383511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6E5BFFB-E4C1-0A9F-EE4E-16347E151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6972EE9-E5BA-D420-3B40-2758AAA6F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747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411BC4-B7DF-67D2-17FC-A3946507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8CADED4-6FB6-EE53-2706-D2E5D29FA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1542DE9-F98C-76DC-9302-8B9D5FD96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528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14128-E272-4383-8CC0-DA1952CE85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02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5949C7-8CEC-25CE-C728-11B23B57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3397D2B-64DE-A53C-FC1B-4095764E5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F825FE8-27EA-DEF2-B6DA-63BC12DC4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687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47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5917BA5-7A83-283D-E5B4-A11FA972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EE40B162-C16C-4FAE-F420-9DC026F47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4E886D5-F290-CC61-793E-5D0BAA961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4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25679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 b="1"/>
            </a:lvl1pPr>
            <a:lvl2pPr marL="228600" indent="457200">
              <a:buClrTx/>
              <a:buSzTx/>
              <a:buFontTx/>
              <a:buNone/>
              <a:defRPr sz="2400" b="1"/>
            </a:lvl2pPr>
            <a:lvl3pPr marL="228600" indent="914400">
              <a:buClrTx/>
              <a:buSzTx/>
              <a:buFontTx/>
              <a:buNone/>
              <a:defRPr sz="2400" b="1"/>
            </a:lvl3pPr>
            <a:lvl4pPr marL="228600" indent="1371600">
              <a:buClrTx/>
              <a:buSzTx/>
              <a:buFontTx/>
              <a:buNone/>
              <a:defRPr sz="2400" b="1"/>
            </a:lvl4pPr>
            <a:lvl5pPr marL="22860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39;p6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Google Shape;40;p6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Google Shape;41;p6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795755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467581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6" name="Google Shape;63;p10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805260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439752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32339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53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669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6" r:id="rId3"/>
    <p:sldLayoutId id="2147483669" r:id="rId4"/>
    <p:sldLayoutId id="2147483670" r:id="rId5"/>
    <p:sldLayoutId id="2147483671" r:id="rId6"/>
    <p:sldLayoutId id="2147483672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9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37E72E-F172-D7D4-3DA2-3AFA33D8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5244AF5E-0D6C-E058-D5B9-C912DD89FBE4}"/>
              </a:ext>
            </a:extLst>
          </p:cNvPr>
          <p:cNvSpPr/>
          <p:nvPr/>
        </p:nvSpPr>
        <p:spPr>
          <a:xfrm>
            <a:off x="-1" y="1314459"/>
            <a:ext cx="12192001" cy="554354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C7201F7E-2F84-D9C2-DB55-4ECB43ED7AA7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 fontScale="85000" lnSpcReduction="20000"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sym typeface="Calibri"/>
              </a:rPr>
              <a:t>emove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sym typeface="Calibri"/>
              </a:rPr>
              <a:t> pricing where ever given like 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sym typeface="Calibri"/>
              </a:rPr>
              <a:t>Rs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sym typeface="Calibri"/>
              </a:rPr>
              <a:t>. 10 in this case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sym typeface="Calibri"/>
              </a:rPr>
              <a:t>based analysis</a:t>
            </a: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98F8E7B9-8F88-22AB-FA43-5BB2C871D51C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9788F7BE-2654-E237-28A4-A55B50D1EBA2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E20316C-E6AF-E7AE-98D8-0180DA81F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16" y="1487515"/>
            <a:ext cx="114907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Strip-based analysis is one of the simplest, fastest, and most cost-effective ways to get a preliminary diagnosis of critical health parameters—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₹10 per test.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Yet, despite its potential for scale, current approaches are riddled with challenges that prevent widespread adoption and reliable use,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for humans, livestock, or pets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rgbClr val="000000">
                  <a:lumMod val="85000"/>
                  <a:lumOff val="1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C0C0C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with Current Approaches: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C8C1667-8D4F-6962-1B77-7D41702A3A73}"/>
              </a:ext>
            </a:extLst>
          </p:cNvPr>
          <p:cNvSpPr txBox="1"/>
          <p:nvPr/>
        </p:nvSpPr>
        <p:spPr>
          <a:xfrm>
            <a:off x="520668" y="2858872"/>
            <a:ext cx="10969216" cy="27940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numCol="3" spcCol="45720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 Manual Reading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Error-prone (depends on lighting,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perception, human judgment)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 (requires reading strips carefully at precise intervals)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trained personnel (not scalable for home/field use)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scalable for mass screening programs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2: Imported Machines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Expensive (₹1-2 lakh per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Dominated by foreign brands (Siemens, Roche, Abbott, Menarini)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Usually single-purpose (proprietary strip dependency)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Lab-bound (require electricity, stable environment)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3: Lab-Based Testing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Infrastructure-dependent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24-48 hour delays for results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data (no real-time health visibility)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costs for patients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22B3F7DF-E12C-722A-EF31-D9C3C27E97C3}"/>
              </a:ext>
            </a:extLst>
          </p:cNvPr>
          <p:cNvSpPr/>
          <p:nvPr/>
        </p:nvSpPr>
        <p:spPr>
          <a:xfrm>
            <a:off x="520668" y="5583783"/>
            <a:ext cx="10923854" cy="8309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B349E6B-097D-76CF-AE71-8C129F07B899}"/>
              </a:ext>
            </a:extLst>
          </p:cNvPr>
          <p:cNvSpPr txBox="1"/>
          <p:nvPr/>
        </p:nvSpPr>
        <p:spPr>
          <a:xfrm>
            <a:off x="747475" y="5563715"/>
            <a:ext cx="10697047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Patients, farmers, and pet owners end up paying more, waiting longer, and health systems lose the chance for real-time, scalable diagnostics.</a:t>
            </a:r>
          </a:p>
        </p:txBody>
      </p:sp>
    </p:spTree>
    <p:extLst>
      <p:ext uri="{BB962C8B-B14F-4D97-AF65-F5344CB8AC3E}">
        <p14:creationId xmlns:p14="http://schemas.microsoft.com/office/powerpoint/2010/main" val="327526375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3677F6-DF3B-074A-B127-B6CF5AC8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9FA0A5FD-C138-1D7A-024A-DAEBCB36CCDB}"/>
              </a:ext>
            </a:extLst>
          </p:cNvPr>
          <p:cNvSpPr/>
          <p:nvPr/>
        </p:nvSpPr>
        <p:spPr>
          <a:xfrm>
            <a:off x="-1" y="1536159"/>
            <a:ext cx="12192001" cy="534269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19F341C6-2BE2-F780-3412-710ADFE2D231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EEB1F8D8-9D95-E4E1-094F-16D73781FC1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2C5915F5-5D9B-EE6B-16F6-1BED4B6AFCDD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xmlns="" id="{6AECC0CC-44FA-D017-8E26-0BF7BA2268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6136135"/>
              </p:ext>
            </p:extLst>
          </p:nvPr>
        </p:nvGraphicFramePr>
        <p:xfrm>
          <a:off x="497492" y="2593972"/>
          <a:ext cx="10574548" cy="3170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3186D0B-C6FB-9CE1-3DD8-16FE06ABDDDD}"/>
              </a:ext>
            </a:extLst>
          </p:cNvPr>
          <p:cNvSpPr txBox="1"/>
          <p:nvPr/>
        </p:nvSpPr>
        <p:spPr>
          <a:xfrm>
            <a:off x="413135" y="476384"/>
            <a:ext cx="60935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Expansion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2C140CEB-CE90-4EE3-E3D0-DF34E926ED7D}"/>
              </a:ext>
            </a:extLst>
          </p:cNvPr>
          <p:cNvSpPr/>
          <p:nvPr/>
        </p:nvSpPr>
        <p:spPr>
          <a:xfrm>
            <a:off x="520668" y="1751794"/>
            <a:ext cx="10528196" cy="71508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BillionTests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not limited to urinalysis — the same AI + IoT + Blockchain platform can power a universal diagnostic ecosystem: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29C2C1F0-561F-19F1-4669-61A70537872C}"/>
              </a:ext>
            </a:extLst>
          </p:cNvPr>
          <p:cNvSpPr/>
          <p:nvPr/>
        </p:nvSpPr>
        <p:spPr>
          <a:xfrm>
            <a:off x="520668" y="5891162"/>
            <a:ext cx="10528196" cy="40862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Vision: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a urine-based gateway test to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comprehensive, low-cost diagnostic platform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serving billions.</a:t>
            </a:r>
          </a:p>
        </p:txBody>
      </p:sp>
    </p:spTree>
    <p:extLst>
      <p:ext uri="{BB962C8B-B14F-4D97-AF65-F5344CB8AC3E}">
        <p14:creationId xmlns:p14="http://schemas.microsoft.com/office/powerpoint/2010/main" val="10988712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Innovation Highlights"/>
          <p:cNvSpPr txBox="1"/>
          <p:nvPr/>
        </p:nvSpPr>
        <p:spPr>
          <a:xfrm>
            <a:off x="482066" y="365124"/>
            <a:ext cx="516635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Innovation</a:t>
            </a:r>
            <a:r>
              <a:rPr kumimoji="0" lang="en-IN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and novelty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Line"/>
          <p:cNvSpPr/>
          <p:nvPr/>
        </p:nvSpPr>
        <p:spPr>
          <a:xfrm flipV="1">
            <a:off x="5548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095216" y="6375024"/>
            <a:ext cx="258585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01D4AB28-9EA3-46A0-9EBB-67301B7BA12E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6908507C-314C-DCAD-5D9F-515A5CF8CE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3011" y="1141061"/>
            <a:ext cx="10606156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Radically Affordable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₹1,999 device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 ₹1-2 lakh imports (99% cost reduction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Mention OPEX model against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Capex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expenditure of 1-2 Lakh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₹10 per 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 ₹50-200 lab tests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3333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10X lower cost than Affordable VS 100-300 by any diagnostic Lab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rgbClr val="3333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Truly universal - works with ALL govt-approved strips—no vendor lock-in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Leverages mature supply chains instead of reinventing hardware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AI-Powered Accuracy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98% accuracy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validated on 200+ samples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on 100,000+ diverse images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Eliminates human reading errors and subjective interpretation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learning from real-world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Zero-Friction Testing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Single-click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smartphone app (Android/iOS) 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 Cards handle lighting/environmental variations automatically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training required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anywhere—home, clinic, or remote village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Lean-by-design architecture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Uses existing strips, smartphones, and mature supply chains instead of reinventing hardware, enabling massive cost reduction and rapid scale.</a:t>
            </a:r>
          </a:p>
        </p:txBody>
      </p:sp>
      <p:grpSp>
        <p:nvGrpSpPr>
          <p:cNvPr id="3" name="Group">
            <a:extLst>
              <a:ext uri="{FF2B5EF4-FFF2-40B4-BE49-F238E27FC236}">
                <a16:creationId xmlns:a16="http://schemas.microsoft.com/office/drawing/2014/main" xmlns="" id="{A8FC0DD9-FD6B-F78F-7D5F-01D63FEFAC90}"/>
              </a:ext>
            </a:extLst>
          </p:cNvPr>
          <p:cNvGrpSpPr/>
          <p:nvPr/>
        </p:nvGrpSpPr>
        <p:grpSpPr>
          <a:xfrm>
            <a:off x="593011" y="5921822"/>
            <a:ext cx="10528720" cy="535931"/>
            <a:chOff x="4554" y="727898"/>
            <a:chExt cx="1795190" cy="2718186"/>
          </a:xfrm>
        </p:grpSpPr>
        <p:sp>
          <p:nvSpPr>
            <p:cNvPr id="6" name="Rounded Rectangle">
              <a:extLst>
                <a:ext uri="{FF2B5EF4-FFF2-40B4-BE49-F238E27FC236}">
                  <a16:creationId xmlns:a16="http://schemas.microsoft.com/office/drawing/2014/main" xmlns="" id="{0C6BBE38-CD75-A998-4903-82C0C2B9BA1E}"/>
                </a:ext>
              </a:extLst>
            </p:cNvPr>
            <p:cNvSpPr/>
            <p:nvPr/>
          </p:nvSpPr>
          <p:spPr>
            <a:xfrm>
              <a:off x="4554" y="727898"/>
              <a:ext cx="1795190" cy="2718186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371;p32">
              <a:extLst>
                <a:ext uri="{FF2B5EF4-FFF2-40B4-BE49-F238E27FC236}">
                  <a16:creationId xmlns:a16="http://schemas.microsoft.com/office/drawing/2014/main" xmlns="" id="{CD4E57C4-B2C6-1635-44CF-87C99E720761}"/>
                </a:ext>
              </a:extLst>
            </p:cNvPr>
            <p:cNvSpPr/>
            <p:nvPr/>
          </p:nvSpPr>
          <p:spPr>
            <a:xfrm>
              <a:off x="20134" y="1321042"/>
              <a:ext cx="1775056" cy="1495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rPr lang="en-US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</a:rPr>
                <a:t>The Bottom Line:</a:t>
              </a:r>
              <a:r>
                <a:rPr lang="en-US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</a:rPr>
                <a:t> Lab-grade diagnostics at 1% of the cost, accessible to anyone with a smartphone</a:t>
              </a:r>
            </a:p>
          </p:txBody>
        </p:sp>
      </p:grpSp>
      <p:grpSp>
        <p:nvGrpSpPr>
          <p:cNvPr id="15" name="Group">
            <a:extLst>
              <a:ext uri="{FF2B5EF4-FFF2-40B4-BE49-F238E27FC236}">
                <a16:creationId xmlns:a16="http://schemas.microsoft.com/office/drawing/2014/main" xmlns="" id="{FFD63042-1CCF-F6CE-F501-0F9C5CF476C0}"/>
              </a:ext>
            </a:extLst>
          </p:cNvPr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16" name="Rounded Rectangle">
              <a:extLst>
                <a:ext uri="{FF2B5EF4-FFF2-40B4-BE49-F238E27FC236}">
                  <a16:creationId xmlns:a16="http://schemas.microsoft.com/office/drawing/2014/main" xmlns="" id="{F044AB42-DB5A-A81C-5CE2-8C8C15FC313D}"/>
                </a:ext>
              </a:extLst>
            </p:cNvPr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Rectangle">
              <a:extLst>
                <a:ext uri="{FF2B5EF4-FFF2-40B4-BE49-F238E27FC236}">
                  <a16:creationId xmlns:a16="http://schemas.microsoft.com/office/drawing/2014/main" xmlns="" id="{BA2D2BD2-6A76-2D69-53AC-3DE69D65D12A}"/>
                </a:ext>
              </a:extLst>
            </p:cNvPr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Rectangle">
              <a:extLst>
                <a:ext uri="{FF2B5EF4-FFF2-40B4-BE49-F238E27FC236}">
                  <a16:creationId xmlns:a16="http://schemas.microsoft.com/office/drawing/2014/main" xmlns="" id="{933D6A8D-FA1B-71FD-F7D0-743075DE9C6F}"/>
                </a:ext>
              </a:extLst>
            </p:cNvPr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Rectangle">
              <a:extLst>
                <a:ext uri="{FF2B5EF4-FFF2-40B4-BE49-F238E27FC236}">
                  <a16:creationId xmlns:a16="http://schemas.microsoft.com/office/drawing/2014/main" xmlns="" id="{E6E5DE48-6DFF-CD79-8A9A-7A7B210B7DAA}"/>
                </a:ext>
              </a:extLst>
            </p:cNvPr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Rounded Rectangle">
              <a:extLst>
                <a:ext uri="{FF2B5EF4-FFF2-40B4-BE49-F238E27FC236}">
                  <a16:creationId xmlns:a16="http://schemas.microsoft.com/office/drawing/2014/main" xmlns="" id="{2BCBA26F-BDCD-60E1-A3C6-73CACC327FE6}"/>
                </a:ext>
              </a:extLst>
            </p:cNvPr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19046073-7BC4-1BAE-7162-D3BE5E9809F1}"/>
                </a:ext>
              </a:extLst>
            </p:cNvPr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2" name="Slide Number">
            <a:extLst>
              <a:ext uri="{FF2B5EF4-FFF2-40B4-BE49-F238E27FC236}">
                <a16:creationId xmlns:a16="http://schemas.microsoft.com/office/drawing/2014/main" xmlns="" id="{784FEA82-79D5-A03B-24A4-D0E9CFBBADF1}"/>
              </a:ext>
            </a:extLst>
          </p:cNvPr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defRPr/>
            </a:pPr>
            <a:fld id="{86CB4B4D-7CA3-9044-876B-883B54F8677D}" type="slidenum">
              <a:rPr lang="en-IN" kern="0" smtClean="0"/>
              <a:pPr hangingPunct="0">
                <a:defRPr/>
              </a:pPr>
              <a:t>3</a:t>
            </a:fld>
            <a:endParaRPr lang="en-IN" kern="0"/>
          </a:p>
        </p:txBody>
      </p:sp>
    </p:spTree>
    <p:extLst>
      <p:ext uri="{BB962C8B-B14F-4D97-AF65-F5344CB8AC3E}">
        <p14:creationId xmlns:p14="http://schemas.microsoft.com/office/powerpoint/2010/main" val="2002651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BF5AA8C-C0FF-5F2F-03BC-FD0BDFC8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8DB3CA48-E5ED-D1ED-691C-F792D19C879B}"/>
              </a:ext>
            </a:extLst>
          </p:cNvPr>
          <p:cNvSpPr/>
          <p:nvPr/>
        </p:nvSpPr>
        <p:spPr>
          <a:xfrm>
            <a:off x="729260" y="5521386"/>
            <a:ext cx="5466078" cy="355844"/>
          </a:xfrm>
          <a:prstGeom prst="roundRect">
            <a:avLst/>
          </a:prstGeom>
          <a:solidFill>
            <a:srgbClr val="4B2269"/>
          </a:solidFill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72" name="Rectangle">
            <a:extLst>
              <a:ext uri="{FF2B5EF4-FFF2-40B4-BE49-F238E27FC236}">
                <a16:creationId xmlns:a16="http://schemas.microsoft.com/office/drawing/2014/main" xmlns="" id="{8CA16AE3-A7D5-888C-EA97-4EF042BF9104}"/>
              </a:ext>
            </a:extLst>
          </p:cNvPr>
          <p:cNvSpPr/>
          <p:nvPr/>
        </p:nvSpPr>
        <p:spPr>
          <a:xfrm>
            <a:off x="7062762" y="-1"/>
            <a:ext cx="5120272" cy="685800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4" name="Solution Overview">
            <a:extLst>
              <a:ext uri="{FF2B5EF4-FFF2-40B4-BE49-F238E27FC236}">
                <a16:creationId xmlns:a16="http://schemas.microsoft.com/office/drawing/2014/main" xmlns="" id="{08B28878-09A6-C2BE-49F0-15D04EB2FCA2}"/>
              </a:ext>
            </a:extLst>
          </p:cNvPr>
          <p:cNvSpPr txBox="1"/>
          <p:nvPr/>
        </p:nvSpPr>
        <p:spPr>
          <a:xfrm>
            <a:off x="506423" y="417572"/>
            <a:ext cx="6946800" cy="805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hangingPunct="0">
              <a:defRPr/>
            </a:pPr>
            <a:endParaRPr lang="en-IN" sz="3200" b="1" dirty="0"/>
          </a:p>
          <a:p>
            <a:pPr hangingPunct="0">
              <a:defRPr/>
            </a:pPr>
            <a:endParaRPr lang="en-US" sz="24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hangingPunct="0">
              <a:defRPr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Remove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pricing where ever given like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Rs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. 10 in this case based analysis</a:t>
            </a:r>
            <a:endParaRPr lang="en-US" sz="2400" b="1" kern="0" dirty="0">
              <a:solidFill>
                <a:schemeClr val="accent1">
                  <a:lumMod val="75000"/>
                </a:schemeClr>
              </a:solidFill>
            </a:endParaRPr>
          </a:p>
          <a:p>
            <a:pPr lvl="0" hangingPunct="0">
              <a:defRPr/>
            </a:pPr>
            <a:r>
              <a:rPr lang="en-IN" sz="3200" b="1" dirty="0" err="1" smtClean="0"/>
              <a:t>ionTests</a:t>
            </a:r>
            <a:endParaRPr lang="en-IN" sz="3200" b="1" dirty="0" smtClean="0"/>
          </a:p>
          <a:p>
            <a:pPr lvl="0" hangingPunct="0">
              <a:defRPr/>
            </a:pPr>
            <a:r>
              <a:rPr lang="en-IN" sz="3200" b="1" dirty="0" err="1" smtClean="0"/>
              <a:t>ntroduction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Slide Number">
            <a:extLst>
              <a:ext uri="{FF2B5EF4-FFF2-40B4-BE49-F238E27FC236}">
                <a16:creationId xmlns:a16="http://schemas.microsoft.com/office/drawing/2014/main" xmlns="" id="{FA484B66-3006-9D85-6C1B-90FF4046005D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Use our intuitive mobile app to guide users in performing the test correctly.">
            <a:extLst>
              <a:ext uri="{FF2B5EF4-FFF2-40B4-BE49-F238E27FC236}">
                <a16:creationId xmlns:a16="http://schemas.microsoft.com/office/drawing/2014/main" xmlns="" id="{5EF90571-F187-44FC-F463-4B4FF6293785}"/>
              </a:ext>
            </a:extLst>
          </p:cNvPr>
          <p:cNvSpPr txBox="1"/>
          <p:nvPr/>
        </p:nvSpPr>
        <p:spPr>
          <a:xfrm>
            <a:off x="729260" y="2576821"/>
            <a:ext cx="403888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91DFBC8F-BC05-717C-0DAD-924FFADCF671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5062089-5322-DB73-062B-91AEAE986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423" y="2363638"/>
            <a:ext cx="5863464" cy="388250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The platform delivers lab-grade accuracy at field-level affordability, addressing critical gaps in India's preventive healthcare infrastructure.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F917AB9-C1B4-BF03-35EB-D68ABA9AB074}"/>
              </a:ext>
            </a:extLst>
          </p:cNvPr>
          <p:cNvSpPr txBox="1"/>
          <p:nvPr/>
        </p:nvSpPr>
        <p:spPr>
          <a:xfrm>
            <a:off x="7230829" y="1051236"/>
            <a:ext cx="4784138" cy="56630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Differentiators: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with 30+ types of diagnostic strips (human, cattle, pet)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98% accuracy through AI-powered image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₹10 per scan (mobile app) or ₹1,999 portable device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Opex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at place of </a:t>
            </a:r>
            <a:r>
              <a:rPr lang="en-IN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Capex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 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₹40k–₹2L imported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analyzers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Completely Made in India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Portable, offline-capable, electricity-free operation, field ready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Blockchain-secured, tamper-proof results for data trust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Compatible with all govt.- approved strips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xmlns="" id="{5F2FD0D6-A3EA-429E-BDC4-1BC289418D04}"/>
              </a:ext>
            </a:extLst>
          </p:cNvPr>
          <p:cNvSpPr/>
          <p:nvPr/>
        </p:nvSpPr>
        <p:spPr>
          <a:xfrm>
            <a:off x="729260" y="2631251"/>
            <a:ext cx="5486482" cy="2474150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Urine-Based Screening Is Powerful in India</a:t>
            </a: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cost, non-invasive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lab dependency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in 1–2 minutes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 rural areas, elderly care, mass screening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pSp>
        <p:nvGrpSpPr>
          <p:cNvPr id="151" name="Group"/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Rectangle"/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Rectangle"/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Rectangle"/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" name="Rounded Rectangle"/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Rectangle"/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52" name="Slide Number"/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defRPr/>
            </a:pPr>
            <a:fld id="{86CB4B4D-7CA3-9044-876B-883B54F8677D}" type="slidenum">
              <a:rPr lang="en-IN" kern="0" smtClean="0"/>
              <a:pPr hangingPunct="0">
                <a:defRPr/>
              </a:pPr>
              <a:t>4</a:t>
            </a:fld>
            <a:endParaRPr lang="en-IN" ker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E607853-439A-ED7E-3789-25C11EA532BC}"/>
              </a:ext>
            </a:extLst>
          </p:cNvPr>
          <p:cNvSpPr txBox="1"/>
          <p:nvPr/>
        </p:nvSpPr>
        <p:spPr>
          <a:xfrm>
            <a:off x="1038304" y="5521386"/>
            <a:ext cx="505769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education needed – single click operation </a:t>
            </a:r>
          </a:p>
        </p:txBody>
      </p:sp>
      <p:sp>
        <p:nvSpPr>
          <p:cNvPr id="21" name="Solution Overview">
            <a:extLst>
              <a:ext uri="{FF2B5EF4-FFF2-40B4-BE49-F238E27FC236}">
                <a16:creationId xmlns:a16="http://schemas.microsoft.com/office/drawing/2014/main" xmlns="" id="{08B28878-09A6-C2BE-49F0-15D04EB2FCA2}"/>
              </a:ext>
            </a:extLst>
          </p:cNvPr>
          <p:cNvSpPr txBox="1"/>
          <p:nvPr/>
        </p:nvSpPr>
        <p:spPr>
          <a:xfrm>
            <a:off x="311193" y="1222899"/>
            <a:ext cx="6946800" cy="121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hangingPunct="0">
              <a:defRPr/>
            </a:pP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 hangingPunct="0">
              <a:defRPr/>
            </a:pPr>
            <a:r>
              <a:rPr lang="en-US" sz="2400" b="1" dirty="0" smtClean="0">
                <a:solidFill>
                  <a:srgbClr val="FF0000"/>
                </a:solidFill>
              </a:rPr>
              <a:t>Remove 30+ type of diagnostic strips. Mention following</a:t>
            </a:r>
            <a:endParaRPr lang="en-US" sz="24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hangingPunct="0"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orks with all different type of standard urine test strips licensed under CDSCO (Central Drugs Standard Control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</a:rPr>
              <a:t>Organisation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sz="2400" b="1" kern="0" dirty="0">
              <a:solidFill>
                <a:schemeClr val="accent1">
                  <a:lumMod val="75000"/>
                </a:schemeClr>
              </a:solidFill>
            </a:endParaRPr>
          </a:p>
          <a:p>
            <a:pPr lvl="0" hangingPunct="0">
              <a:defRPr/>
            </a:pPr>
            <a:r>
              <a:rPr lang="en-IN" sz="3200" b="1" dirty="0" err="1" smtClean="0"/>
              <a:t>ionTests</a:t>
            </a:r>
            <a:r>
              <a:rPr lang="en-IN" sz="3200" b="1" dirty="0"/>
              <a:t>: Introduction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52326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3535D7-D310-6A10-EB9D-A95E5BE6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BD304C84-E5CA-8B6A-EF99-04CB5D1AC7D8}"/>
              </a:ext>
            </a:extLst>
          </p:cNvPr>
          <p:cNvSpPr/>
          <p:nvPr/>
        </p:nvSpPr>
        <p:spPr>
          <a:xfrm>
            <a:off x="-1" y="1422271"/>
            <a:ext cx="12192001" cy="545658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xmlns="" id="{CEE7F941-7DA9-84F4-EAED-CB5579647352}"/>
              </a:ext>
            </a:extLst>
          </p:cNvPr>
          <p:cNvSpPr/>
          <p:nvPr/>
        </p:nvSpPr>
        <p:spPr>
          <a:xfrm>
            <a:off x="5416481" y="1422271"/>
            <a:ext cx="6775519" cy="5406350"/>
          </a:xfrm>
          <a:prstGeom prst="rect">
            <a:avLst/>
          </a:prstGeom>
          <a:solidFill>
            <a:srgbClr val="D9C9FE">
              <a:alpha val="5981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6537B439-BC8E-254D-1BDA-3B4A05944EB4}"/>
              </a:ext>
            </a:extLst>
          </p:cNvPr>
          <p:cNvSpPr/>
          <p:nvPr/>
        </p:nvSpPr>
        <p:spPr>
          <a:xfrm>
            <a:off x="0" y="1422271"/>
            <a:ext cx="5416482" cy="5483884"/>
          </a:xfrm>
          <a:prstGeom prst="rect">
            <a:avLst/>
          </a:prstGeom>
          <a:solidFill>
            <a:srgbClr val="D3E2FF">
              <a:alpha val="6027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8E0CB26D-C759-0C1B-2C80-2C00A2963BF6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5FE03A84-5E9B-167F-6742-863129D140C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AB69A9F8-3FD2-F2B7-BA22-2B7C3BF70339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BE152F9-87E7-C581-DCAE-BEDF75F0EB7B}"/>
              </a:ext>
            </a:extLst>
          </p:cNvPr>
          <p:cNvSpPr txBox="1"/>
          <p:nvPr/>
        </p:nvSpPr>
        <p:spPr>
          <a:xfrm>
            <a:off x="413135" y="450933"/>
            <a:ext cx="736415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&amp; PUBLIC HEALTH IMPACT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A6D2E61E-D979-2B59-E751-A933B098C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6657" y="1536389"/>
            <a:ext cx="5617144" cy="5228348"/>
          </a:xfrm>
        </p:spPr>
        <p:txBody>
          <a:bodyPr numCol="1">
            <a:noAutofit/>
          </a:bodyPr>
          <a:lstStyle/>
          <a:p>
            <a:pPr marL="114300" indent="0" algn="just">
              <a:buNone/>
            </a:pPr>
            <a:r>
              <a:rPr lang="en-IN" sz="1600" b="1" dirty="0">
                <a:solidFill>
                  <a:schemeClr val="tx1"/>
                </a:solidFill>
              </a:rPr>
              <a:t>2. Alignment with National Goals</a:t>
            </a:r>
            <a:endParaRPr lang="en-IN" sz="16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SDG 3:</a:t>
            </a:r>
            <a:r>
              <a:rPr lang="en-IN" sz="1600" dirty="0">
                <a:solidFill>
                  <a:schemeClr val="tx1"/>
                </a:solidFill>
              </a:rPr>
              <a:t> Good Health and Well-being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Ayushman Bharat:</a:t>
            </a:r>
            <a:r>
              <a:rPr lang="en-IN" sz="1600" dirty="0">
                <a:solidFill>
                  <a:schemeClr val="tx1"/>
                </a:solidFill>
              </a:rPr>
              <a:t> Preventive healthcare mission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National Health Mission:</a:t>
            </a:r>
            <a:r>
              <a:rPr lang="en-IN" sz="1600" dirty="0">
                <a:solidFill>
                  <a:schemeClr val="tx1"/>
                </a:solidFill>
              </a:rPr>
              <a:t> Universal health coverage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Digital India:</a:t>
            </a:r>
            <a:r>
              <a:rPr lang="en-IN" sz="1600" dirty="0">
                <a:solidFill>
                  <a:schemeClr val="tx1"/>
                </a:solidFill>
              </a:rPr>
              <a:t> Healthcare digitization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Skill India:</a:t>
            </a:r>
            <a:r>
              <a:rPr lang="en-IN" sz="1600" dirty="0">
                <a:solidFill>
                  <a:schemeClr val="tx1"/>
                </a:solidFill>
              </a:rPr>
              <a:t> Empowers workers with technology</a:t>
            </a:r>
          </a:p>
          <a:p>
            <a:pPr>
              <a:buClr>
                <a:schemeClr val="tx1"/>
              </a:buClr>
              <a:buSzPct val="100000"/>
            </a:pPr>
            <a:endParaRPr lang="en-IN" sz="16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tx1"/>
                </a:solidFill>
              </a:rPr>
              <a:t>3. Global Impact Potential</a:t>
            </a:r>
            <a:endParaRPr lang="en-IN" sz="1600" dirty="0">
              <a:solidFill>
                <a:schemeClr val="tx1"/>
              </a:solidFill>
            </a:endParaRPr>
          </a:p>
          <a:p>
            <a:pPr marL="114300" indent="0">
              <a:buClr>
                <a:schemeClr val="bg1"/>
              </a:buClr>
              <a:buSzPct val="100000"/>
              <a:buNone/>
            </a:pPr>
            <a:r>
              <a:rPr lang="en-IN" sz="1600" b="1" dirty="0">
                <a:solidFill>
                  <a:schemeClr val="tx1"/>
                </a:solidFill>
              </a:rPr>
              <a:t>According to Lancet Commission:</a:t>
            </a:r>
            <a:endParaRPr lang="en-IN" sz="16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47% of global population lacks access to early diagnostics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dirty="0" err="1">
                <a:solidFill>
                  <a:schemeClr val="tx1"/>
                </a:solidFill>
              </a:rPr>
              <a:t>BillionTests</a:t>
            </a:r>
            <a:r>
              <a:rPr lang="en-IN" sz="1600" dirty="0">
                <a:solidFill>
                  <a:schemeClr val="tx1"/>
                </a:solidFill>
              </a:rPr>
              <a:t> addresses this through: 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Ultra-low cost </a:t>
            </a:r>
            <a:r>
              <a:rPr lang="en-IN" sz="1600" b="1" dirty="0">
                <a:solidFill>
                  <a:srgbClr val="FF0000"/>
                </a:solidFill>
              </a:rPr>
              <a:t>(&lt;$2 per test</a:t>
            </a:r>
            <a:r>
              <a:rPr lang="en-IN" sz="1600" dirty="0" smtClean="0">
                <a:solidFill>
                  <a:srgbClr val="3333FF"/>
                </a:solidFill>
              </a:rPr>
              <a:t>) (Remove cost)</a:t>
            </a:r>
            <a:endParaRPr lang="en-IN" sz="1600" dirty="0">
              <a:solidFill>
                <a:srgbClr val="3333FF"/>
              </a:solidFill>
            </a:endParaRP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No infrastructure requirement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Simple operation (single click)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Scalable deployment model</a:t>
            </a:r>
          </a:p>
          <a:p>
            <a:endParaRPr lang="en-IN" sz="1600" dirty="0">
              <a:solidFill>
                <a:schemeClr val="tx1"/>
              </a:solidFill>
            </a:endParaRPr>
          </a:p>
          <a:p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05D0B83-1267-1CC1-2BA9-CAB6364C2710}"/>
              </a:ext>
            </a:extLst>
          </p:cNvPr>
          <p:cNvSpPr txBox="1"/>
          <p:nvPr/>
        </p:nvSpPr>
        <p:spPr>
          <a:xfrm>
            <a:off x="520668" y="1581620"/>
            <a:ext cx="4831206" cy="53245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715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</a:t>
            </a:r>
          </a:p>
          <a:p>
            <a:pPr marL="5715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Disease Detection: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at-risk individuals before symptoms develop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timely intervention and treatment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progression to severe complications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Healthcare System Load: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Decreases tertiary hospital admissions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preventive care at primary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Optimizes resource allocation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Community Health Data: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population health monitoring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policy decisions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Epidemic/outbreak early warning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9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Equity: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Brings diagnostics to underserved populations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Bridges urban-rural healthcare gap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Empowers community health workers</a:t>
            </a:r>
          </a:p>
        </p:txBody>
      </p:sp>
    </p:spTree>
    <p:extLst>
      <p:ext uri="{BB962C8B-B14F-4D97-AF65-F5344CB8AC3E}">
        <p14:creationId xmlns:p14="http://schemas.microsoft.com/office/powerpoint/2010/main" val="16885786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87105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Trade mark id not for BT Card it is for following so us them and mention in website</a:t>
            </a:r>
          </a:p>
          <a:p>
            <a:endParaRPr lang="en-US" dirty="0"/>
          </a:p>
          <a:p>
            <a:pPr lvl="2"/>
            <a:r>
              <a:rPr lang="en-US" dirty="0" smtClean="0"/>
              <a:t>BILLIONTESTS.AI</a:t>
            </a:r>
            <a:r>
              <a:rPr lang="en-US" b="1" dirty="0"/>
              <a:t>™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BTCARDX</a:t>
            </a:r>
            <a:r>
              <a:rPr lang="en-US" b="1" dirty="0"/>
              <a:t>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61815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851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852517-A282-E165-9182-F8C6820E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D07C2774-E781-42CA-E946-F9609B08FE51}"/>
              </a:ext>
            </a:extLst>
          </p:cNvPr>
          <p:cNvSpPr/>
          <p:nvPr/>
        </p:nvSpPr>
        <p:spPr>
          <a:xfrm>
            <a:off x="0" y="1133504"/>
            <a:ext cx="12192001" cy="5706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7" name="Line">
            <a:extLst>
              <a:ext uri="{FF2B5EF4-FFF2-40B4-BE49-F238E27FC236}">
                <a16:creationId xmlns:a16="http://schemas.microsoft.com/office/drawing/2014/main" xmlns="" id="{0613903F-D5B5-212A-FBE3-151D87E93C83}"/>
              </a:ext>
            </a:extLst>
          </p:cNvPr>
          <p:cNvSpPr/>
          <p:nvPr/>
        </p:nvSpPr>
        <p:spPr>
          <a:xfrm flipV="1">
            <a:off x="5675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xmlns="" id="{5455F627-921D-4264-0BD7-FE696D529966}"/>
              </a:ext>
            </a:extLst>
          </p:cNvPr>
          <p:cNvSpPr txBox="1"/>
          <p:nvPr/>
        </p:nvSpPr>
        <p:spPr>
          <a:xfrm>
            <a:off x="520667" y="365125"/>
            <a:ext cx="8173627" cy="132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hangingPunct="0">
              <a:defRPr/>
            </a:pPr>
            <a:r>
              <a:rPr lang="en-US" sz="2000" b="1" kern="0" dirty="0" smtClean="0">
                <a:solidFill>
                  <a:srgbClr val="FF0000"/>
                </a:solidFill>
              </a:rPr>
              <a:t>At </a:t>
            </a:r>
            <a:r>
              <a:rPr lang="en-US" sz="2000" b="1" kern="0" dirty="0">
                <a:solidFill>
                  <a:srgbClr val="FF0000"/>
                </a:solidFill>
              </a:rPr>
              <a:t>place of only Kidney </a:t>
            </a:r>
            <a:r>
              <a:rPr lang="en-US" sz="2000" b="1" kern="0" dirty="0" smtClean="0">
                <a:solidFill>
                  <a:srgbClr val="FF0000"/>
                </a:solidFill>
              </a:rPr>
              <a:t>disease </a:t>
            </a:r>
          </a:p>
          <a:p>
            <a:pPr hangingPunct="0">
              <a:defRPr/>
            </a:pPr>
            <a:r>
              <a:rPr lang="en-US" sz="2000" b="1" kern="0" dirty="0" smtClean="0">
                <a:solidFill>
                  <a:srgbClr val="0000FF"/>
                </a:solidFill>
              </a:rPr>
              <a:t>mention </a:t>
            </a:r>
            <a:r>
              <a:rPr lang="en-US" sz="2000" b="1" dirty="0">
                <a:solidFill>
                  <a:srgbClr val="0000FF"/>
                </a:solidFill>
              </a:rPr>
              <a:t>urinary tract infections (</a:t>
            </a:r>
            <a:r>
              <a:rPr lang="en-US" sz="2000" b="1" dirty="0" smtClean="0">
                <a:solidFill>
                  <a:srgbClr val="0000FF"/>
                </a:solidFill>
              </a:rPr>
              <a:t>UTIs) , kidney </a:t>
            </a:r>
            <a:r>
              <a:rPr lang="en-US" sz="2000" b="1" dirty="0">
                <a:solidFill>
                  <a:srgbClr val="0000FF"/>
                </a:solidFill>
              </a:rPr>
              <a:t>disease, </a:t>
            </a:r>
            <a:r>
              <a:rPr lang="en-US" sz="2000" b="1" dirty="0" smtClean="0">
                <a:solidFill>
                  <a:srgbClr val="0000FF"/>
                </a:solidFill>
              </a:rPr>
              <a:t>Kidney stones, diabetes, dehydration </a:t>
            </a:r>
            <a:r>
              <a:rPr lang="en-US" sz="2000" b="1" dirty="0">
                <a:solidFill>
                  <a:srgbClr val="0000FF"/>
                </a:solidFill>
              </a:rPr>
              <a:t>and </a:t>
            </a:r>
            <a:r>
              <a:rPr lang="en-US" sz="2000" b="1" dirty="0" smtClean="0">
                <a:solidFill>
                  <a:srgbClr val="0000FF"/>
                </a:solidFill>
              </a:rPr>
              <a:t>liver or bile duct problems.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xmlns="" id="{29C598FD-9EDB-0BCA-D256-88BB2BF11E05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xmlns="" id="{6951432B-B473-AF8F-9875-40FF9AD75CB3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63BAC653-EC55-B409-C7BC-C0588C6BF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304360"/>
              </p:ext>
            </p:extLst>
          </p:nvPr>
        </p:nvGraphicFramePr>
        <p:xfrm>
          <a:off x="567538" y="1966822"/>
          <a:ext cx="10786264" cy="462093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828921">
                  <a:extLst>
                    <a:ext uri="{9D8B030D-6E8A-4147-A177-3AD203B41FA5}">
                      <a16:colId xmlns:a16="http://schemas.microsoft.com/office/drawing/2014/main" xmlns="" val="2577793351"/>
                    </a:ext>
                  </a:extLst>
                </a:gridCol>
                <a:gridCol w="5957343">
                  <a:extLst>
                    <a:ext uri="{9D8B030D-6E8A-4147-A177-3AD203B41FA5}">
                      <a16:colId xmlns:a16="http://schemas.microsoft.com/office/drawing/2014/main" xmlns="" val="2821527188"/>
                    </a:ext>
                  </a:extLst>
                </a:gridCol>
              </a:tblGrid>
              <a:tr h="347982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Parameter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Indicates Possible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754599227"/>
                  </a:ext>
                </a:extLst>
              </a:tr>
              <a:tr h="608969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Protein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Kidney disease, dehydration, intense exercise, kidney stones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460261331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Leukocytes (WBC)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Infection, UTI, kidney stones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0781844"/>
                  </a:ext>
                </a:extLst>
              </a:tr>
              <a:tr h="506131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Ketones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Low-carb diet, diabetes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001673565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Glucose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Diabetes (if &gt;180 mg/dL)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11635155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Nitrites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Bacterial infection (E. coli, Gonorrhea)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10619596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Blood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UTI, intense exercise, kidney stones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77145158"/>
                  </a:ext>
                </a:extLst>
              </a:tr>
              <a:tr h="548647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Urobilinogen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Liver disease, cirrhosis, hepatitis, liver damage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836239989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pH (6.7–7.5)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Uric acid stones, excess protein intake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739275803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Specific Gravity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Dehydration, urine concentration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425861118"/>
                  </a:ext>
                </a:extLst>
              </a:tr>
              <a:tr h="347982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Bilirubin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Early liver disease, blocked bile 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3603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07499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89063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0915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="" xmlns:a16="http://schemas.microsoft.com/office/drawing/2014/main" id="{F307901A-04F5-3A7B-5C8A-D1F1D1574FC2}"/>
              </a:ext>
            </a:extLst>
          </p:cNvPr>
          <p:cNvSpPr/>
          <p:nvPr/>
        </p:nvSpPr>
        <p:spPr>
          <a:xfrm>
            <a:off x="3080168" y="2305960"/>
            <a:ext cx="1371600" cy="1973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endParaRPr lang="en-US" sz="855" b="1" dirty="0">
              <a:solidFill>
                <a:srgbClr val="000000">
                  <a:alpha val="99000"/>
                </a:srgb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endParaRPr lang="en-US" sz="855" b="1" dirty="0">
              <a:solidFill>
                <a:srgbClr val="000000">
                  <a:alpha val="99000"/>
                </a:srgb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endParaRPr lang="en-US" sz="855" b="1" dirty="0">
              <a:solidFill>
                <a:srgbClr val="000000">
                  <a:alpha val="99000"/>
                </a:srgb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endParaRPr lang="en-US" sz="855" b="1" dirty="0">
              <a:solidFill>
                <a:srgbClr val="000000">
                  <a:alpha val="99000"/>
                </a:srgb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endParaRPr lang="en-US" sz="855" b="1" dirty="0">
              <a:solidFill>
                <a:srgbClr val="000000">
                  <a:alpha val="99000"/>
                </a:srgbClr>
              </a:solidFill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5B67E6D-94E4-C84F-1C94-2D5CDF23D8E3}"/>
              </a:ext>
            </a:extLst>
          </p:cNvPr>
          <p:cNvSpPr txBox="1"/>
          <p:nvPr/>
        </p:nvSpPr>
        <p:spPr>
          <a:xfrm>
            <a:off x="3469064" y="2564091"/>
            <a:ext cx="879406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1400" dirty="0">
                <a:solidFill>
                  <a:srgbClr val="000000"/>
                </a:solidFill>
                <a:sym typeface="Arial"/>
              </a:rPr>
              <a:t>Sethi ji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Alok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1400" dirty="0">
                <a:solidFill>
                  <a:srgbClr val="000000"/>
                </a:solidFill>
                <a:sym typeface="Arial"/>
              </a:rPr>
              <a:t>Abhishek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1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sahil</a:t>
            </a: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70575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1500" dirty="0" smtClean="0"/>
              <a:t>1</a:t>
            </a:r>
            <a:r>
              <a:rPr lang="en-US" sz="1500" baseline="30000" dirty="0" smtClean="0"/>
              <a:t>st</a:t>
            </a:r>
            <a:r>
              <a:rPr lang="en-US" sz="1500" dirty="0" smtClean="0"/>
              <a:t> row Founder and </a:t>
            </a:r>
            <a:r>
              <a:rPr lang="en-US" sz="1500" smtClean="0"/>
              <a:t>co-founder 4Nos </a:t>
            </a:r>
            <a:endParaRPr lang="en-US" sz="1500" dirty="0" smtClean="0"/>
          </a:p>
          <a:p>
            <a:pPr lvl="1">
              <a:lnSpc>
                <a:spcPct val="100000"/>
              </a:lnSpc>
            </a:pPr>
            <a:r>
              <a:rPr lang="en-US" sz="1500" dirty="0"/>
              <a:t>MPS</a:t>
            </a:r>
          </a:p>
          <a:p>
            <a:pPr lvl="1">
              <a:lnSpc>
                <a:spcPct val="100000"/>
              </a:lnSpc>
            </a:pPr>
            <a:r>
              <a:rPr lang="en-US" sz="1500" dirty="0"/>
              <a:t>ALOK</a:t>
            </a:r>
          </a:p>
          <a:p>
            <a:pPr lvl="1">
              <a:lnSpc>
                <a:spcPct val="100000"/>
              </a:lnSpc>
            </a:pPr>
            <a:r>
              <a:rPr lang="en-US" sz="1500" dirty="0" err="1"/>
              <a:t>ABHISHek</a:t>
            </a:r>
            <a:endParaRPr lang="en-US" sz="1500" dirty="0"/>
          </a:p>
          <a:p>
            <a:pPr lvl="1">
              <a:lnSpc>
                <a:spcPct val="100000"/>
              </a:lnSpc>
            </a:pPr>
            <a:r>
              <a:rPr lang="en-US" sz="1500" dirty="0" err="1" smtClean="0"/>
              <a:t>Sahil</a:t>
            </a:r>
            <a:endParaRPr lang="en-US" sz="1500" dirty="0"/>
          </a:p>
          <a:p>
            <a:pPr>
              <a:lnSpc>
                <a:spcPct val="100000"/>
              </a:lnSpc>
            </a:pPr>
            <a:r>
              <a:rPr lang="en-US" sz="1500" dirty="0" smtClean="0"/>
              <a:t>2nd </a:t>
            </a:r>
            <a:r>
              <a:rPr lang="en-US" sz="1500" dirty="0"/>
              <a:t>row </a:t>
            </a:r>
            <a:r>
              <a:rPr lang="en-US" sz="1500" dirty="0" smtClean="0"/>
              <a:t>Development team 4Nos</a:t>
            </a:r>
          </a:p>
          <a:p>
            <a:pPr lvl="2">
              <a:lnSpc>
                <a:spcPct val="100000"/>
              </a:lnSpc>
            </a:pPr>
            <a:r>
              <a:rPr lang="en-US" sz="1500" dirty="0"/>
              <a:t>Pranav</a:t>
            </a:r>
          </a:p>
          <a:p>
            <a:pPr lvl="2">
              <a:lnSpc>
                <a:spcPct val="100000"/>
              </a:lnSpc>
            </a:pPr>
            <a:r>
              <a:rPr lang="en-US" sz="1500" dirty="0" err="1"/>
              <a:t>Pramod</a:t>
            </a:r>
            <a:r>
              <a:rPr lang="en-US" sz="1500" dirty="0"/>
              <a:t> </a:t>
            </a:r>
          </a:p>
          <a:p>
            <a:pPr lvl="2">
              <a:lnSpc>
                <a:spcPct val="100000"/>
              </a:lnSpc>
            </a:pPr>
            <a:r>
              <a:rPr lang="en-US" sz="1500" dirty="0" err="1"/>
              <a:t>Ritu</a:t>
            </a:r>
            <a:endParaRPr lang="en-US" sz="1500" dirty="0"/>
          </a:p>
          <a:p>
            <a:pPr lvl="2">
              <a:lnSpc>
                <a:spcPct val="100000"/>
              </a:lnSpc>
            </a:pPr>
            <a:r>
              <a:rPr lang="en-US" sz="1500" dirty="0" err="1" smtClean="0"/>
              <a:t>Mohni</a:t>
            </a:r>
            <a:endParaRPr lang="en-US" sz="1500" dirty="0" smtClean="0"/>
          </a:p>
          <a:p>
            <a:pPr>
              <a:lnSpc>
                <a:spcPct val="100000"/>
              </a:lnSpc>
            </a:pPr>
            <a:r>
              <a:rPr lang="en-US" sz="1500" dirty="0" smtClean="0"/>
              <a:t>3</a:t>
            </a:r>
            <a:r>
              <a:rPr lang="en-US" sz="1500" baseline="30000" dirty="0" smtClean="0"/>
              <a:t>rd</a:t>
            </a:r>
            <a:r>
              <a:rPr lang="en-US" sz="1500" dirty="0" smtClean="0"/>
              <a:t> row of Mentors and employees 8Nos</a:t>
            </a:r>
            <a:endParaRPr lang="en-US" sz="1500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3"/>
          </p:nvPr>
        </p:nvSpPr>
        <p:spPr/>
        <p:txBody>
          <a:bodyPr/>
          <a:lstStyle/>
          <a:p>
            <a:r>
              <a:rPr lang="en-US" dirty="0" smtClean="0"/>
              <a:t>1 &amp; 2 row in one page</a:t>
            </a:r>
          </a:p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row in next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2777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323" y="5476315"/>
            <a:ext cx="10668000" cy="368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8323" y="5476315"/>
            <a:ext cx="10668000" cy="368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5475" y="446963"/>
            <a:ext cx="10668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759"/>
              </a:lnSpc>
            </a:pPr>
            <a:r>
              <a:rPr lang="en-US" sz="2280" b="1" dirty="0">
                <a:solidFill>
                  <a:srgbClr val="FFFFFF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THE TEAM </a:t>
            </a:r>
            <a:r>
              <a:rPr lang="en-US" sz="2280" dirty="0">
                <a:solidFill>
                  <a:srgbClr val="FFFFFF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 </a:t>
            </a:r>
            <a:endParaRPr lang="en-US" sz="2280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0773" y="1219773"/>
            <a:ext cx="10979153" cy="57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9"/>
              </a:lnSpc>
            </a:pPr>
            <a:r>
              <a:rPr lang="en-US" sz="1331" dirty="0">
                <a:solidFill>
                  <a:srgbClr val="FFFFFF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Vision</a:t>
            </a:r>
            <a:r>
              <a:rPr lang="en-US" sz="1331">
                <a:solidFill>
                  <a:srgbClr val="FFFFFF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: </a:t>
            </a:r>
            <a:r>
              <a:rPr lang="en-US" sz="1331" i="1">
                <a:solidFill>
                  <a:srgbClr val="FFFFFF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Transform </a:t>
            </a:r>
            <a:r>
              <a:rPr lang="en-US" sz="1331" i="1" dirty="0">
                <a:solidFill>
                  <a:srgbClr val="FFFFFF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existing industrial camera infrastructure into intelligent inspection and monitoring systems to drive operational efficiency and cost saving.</a:t>
            </a:r>
            <a:endParaRPr lang="en-US" sz="1331" i="1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56168" y="1915435"/>
            <a:ext cx="9372600" cy="3759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556168" y="1915435"/>
            <a:ext cx="2946400" cy="177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556168" y="1915435"/>
            <a:ext cx="2946400" cy="1778000"/>
          </a:xfrm>
          <a:prstGeom prst="roundRect">
            <a:avLst>
              <a:gd name="adj" fmla="val 8229"/>
            </a:avLst>
          </a:prstGeom>
          <a:solidFill>
            <a:srgbClr val="FFF0CE"/>
          </a:solidFill>
          <a:ln w="4524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556168" y="1915435"/>
            <a:ext cx="1371600" cy="177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6168" y="1905275"/>
            <a:ext cx="1371600" cy="1798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080168" y="1950361"/>
            <a:ext cx="1422400" cy="17081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080168" y="2102760"/>
            <a:ext cx="1270000" cy="30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080168" y="210276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1"/>
              </a:lnSpc>
            </a:pP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Pranav Asthana</a:t>
            </a:r>
            <a:endParaRPr lang="en-US" sz="1140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080168" y="2305960"/>
            <a:ext cx="1371600" cy="85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r>
              <a:rPr lang="en-US" sz="855" b="1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Co-Inventor &amp; Platform Head</a:t>
            </a:r>
          </a:p>
        </p:txBody>
      </p:sp>
      <p:sp>
        <p:nvSpPr>
          <p:cNvPr id="17" name="Text 14"/>
          <p:cNvSpPr/>
          <p:nvPr/>
        </p:nvSpPr>
        <p:spPr>
          <a:xfrm>
            <a:off x="3080168" y="2509161"/>
            <a:ext cx="1270000" cy="79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Cofounded visotonics, Checko, 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r>
              <a:rPr lang="en-US" sz="933" dirty="0" err="1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Upjao</a:t>
            </a: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. $25M exit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20+ research papers, 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10+ patents 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Ex-Intel, IIT Kanpur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7870180" y="1902817"/>
            <a:ext cx="2946400" cy="177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870180" y="1902817"/>
            <a:ext cx="2946400" cy="1778000"/>
          </a:xfrm>
          <a:prstGeom prst="roundRect">
            <a:avLst>
              <a:gd name="adj" fmla="val 8229"/>
            </a:avLst>
          </a:prstGeom>
          <a:solidFill>
            <a:srgbClr val="FFF0CE"/>
          </a:solidFill>
          <a:ln w="4524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7870180" y="1902817"/>
            <a:ext cx="1371600" cy="177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70180" y="1902817"/>
            <a:ext cx="1371600" cy="17881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394180" y="1937743"/>
            <a:ext cx="1422400" cy="17081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9394180" y="2090143"/>
            <a:ext cx="1270000" cy="30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9394180" y="2090143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1"/>
              </a:lnSpc>
            </a:pP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Ritu Mishra</a:t>
            </a:r>
            <a:endParaRPr lang="en-US" sz="1140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9394180" y="2293343"/>
            <a:ext cx="127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r>
              <a:rPr lang="en-US" sz="855" b="1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Co-Inventor &amp; Head of Innovation</a:t>
            </a:r>
          </a:p>
        </p:txBody>
      </p:sp>
      <p:sp>
        <p:nvSpPr>
          <p:cNvPr id="31" name="Text 24"/>
          <p:cNvSpPr/>
          <p:nvPr/>
        </p:nvSpPr>
        <p:spPr>
          <a:xfrm>
            <a:off x="9394180" y="2496543"/>
            <a:ext cx="1270000" cy="79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Cofounded visotonics, Upjao. 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8 years in building deep tech products. 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Ex-researcher at NCFlexe, IIT Kanpur.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79" name="Shape 57"/>
          <p:cNvSpPr/>
          <p:nvPr/>
        </p:nvSpPr>
        <p:spPr>
          <a:xfrm>
            <a:off x="4705768" y="1919731"/>
            <a:ext cx="2946400" cy="177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80" name="Shape 58"/>
          <p:cNvSpPr/>
          <p:nvPr/>
        </p:nvSpPr>
        <p:spPr>
          <a:xfrm>
            <a:off x="4705768" y="1919731"/>
            <a:ext cx="2946400" cy="1778000"/>
          </a:xfrm>
          <a:prstGeom prst="roundRect">
            <a:avLst>
              <a:gd name="adj" fmla="val 8229"/>
            </a:avLst>
          </a:prstGeom>
          <a:solidFill>
            <a:srgbClr val="FFF0CE"/>
          </a:solidFill>
          <a:ln w="4524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81" name="Shape 59"/>
          <p:cNvSpPr/>
          <p:nvPr/>
        </p:nvSpPr>
        <p:spPr>
          <a:xfrm>
            <a:off x="4705768" y="1919731"/>
            <a:ext cx="1371600" cy="177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83" name="Shape 60"/>
          <p:cNvSpPr/>
          <p:nvPr/>
        </p:nvSpPr>
        <p:spPr>
          <a:xfrm>
            <a:off x="6229768" y="1926082"/>
            <a:ext cx="1422400" cy="1765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84" name="Shape 61"/>
          <p:cNvSpPr/>
          <p:nvPr/>
        </p:nvSpPr>
        <p:spPr>
          <a:xfrm>
            <a:off x="6229768" y="2078482"/>
            <a:ext cx="1270000" cy="3619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85" name="Text 62"/>
          <p:cNvSpPr/>
          <p:nvPr/>
        </p:nvSpPr>
        <p:spPr>
          <a:xfrm>
            <a:off x="6229769" y="2078481"/>
            <a:ext cx="13398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1"/>
              </a:lnSpc>
            </a:pP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Pramod Prasad</a:t>
            </a:r>
            <a:endParaRPr lang="en-US" sz="1140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86" name="Text 63"/>
          <p:cNvSpPr/>
          <p:nvPr/>
        </p:nvSpPr>
        <p:spPr>
          <a:xfrm>
            <a:off x="6229769" y="2263621"/>
            <a:ext cx="1339849" cy="15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r>
              <a:rPr lang="en-US" sz="855" b="1" dirty="0" err="1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RevOps</a:t>
            </a:r>
            <a:r>
              <a:rPr lang="en-US" sz="855" b="1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 Leader</a:t>
            </a:r>
          </a:p>
        </p:txBody>
      </p:sp>
      <p:sp>
        <p:nvSpPr>
          <p:cNvPr id="87" name="Text 64"/>
          <p:cNvSpPr/>
          <p:nvPr/>
        </p:nvSpPr>
        <p:spPr>
          <a:xfrm>
            <a:off x="6229767" y="2712773"/>
            <a:ext cx="1422399" cy="79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Cofounded visotonics,</a:t>
            </a:r>
          </a:p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30+ years of technology business leadership | Built $150M+ business portfolios | Scaling AI-led enterprise innovation.</a:t>
            </a:r>
          </a:p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Ex-Cisco | Motorola | Ericsson | IIFT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1240D781-0A42-8165-B070-8D0F0F7CD9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04"/>
          <a:stretch>
            <a:fillRect/>
          </a:stretch>
        </p:blipFill>
        <p:spPr>
          <a:xfrm>
            <a:off x="4705766" y="1915921"/>
            <a:ext cx="1371599" cy="1788160"/>
          </a:xfrm>
          <a:prstGeom prst="rect">
            <a:avLst/>
          </a:prstGeom>
        </p:spPr>
      </p:pic>
      <p:sp>
        <p:nvSpPr>
          <p:cNvPr id="21" name="Shape 27">
            <a:extLst>
              <a:ext uri="{FF2B5EF4-FFF2-40B4-BE49-F238E27FC236}">
                <a16:creationId xmlns="" xmlns:a16="http://schemas.microsoft.com/office/drawing/2014/main" id="{EDED70FF-3462-C929-C018-6D4409131EED}"/>
              </a:ext>
            </a:extLst>
          </p:cNvPr>
          <p:cNvSpPr/>
          <p:nvPr/>
        </p:nvSpPr>
        <p:spPr>
          <a:xfrm>
            <a:off x="1534972" y="3900037"/>
            <a:ext cx="2946400" cy="177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32" name="Shape 28">
            <a:extLst>
              <a:ext uri="{FF2B5EF4-FFF2-40B4-BE49-F238E27FC236}">
                <a16:creationId xmlns="" xmlns:a16="http://schemas.microsoft.com/office/drawing/2014/main" id="{B929517C-5C44-8BB5-E14F-60DCCE15E0E8}"/>
              </a:ext>
            </a:extLst>
          </p:cNvPr>
          <p:cNvSpPr/>
          <p:nvPr/>
        </p:nvSpPr>
        <p:spPr>
          <a:xfrm>
            <a:off x="1534972" y="3900037"/>
            <a:ext cx="2946400" cy="1778000"/>
          </a:xfrm>
          <a:prstGeom prst="roundRect">
            <a:avLst>
              <a:gd name="adj" fmla="val 8229"/>
            </a:avLst>
          </a:prstGeom>
          <a:solidFill>
            <a:srgbClr val="FFF0CE"/>
          </a:solidFill>
          <a:ln w="4524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34" name="Shape 29">
            <a:extLst>
              <a:ext uri="{FF2B5EF4-FFF2-40B4-BE49-F238E27FC236}">
                <a16:creationId xmlns="" xmlns:a16="http://schemas.microsoft.com/office/drawing/2014/main" id="{65A8195C-0F0F-4B85-4BB2-52259B4462E0}"/>
              </a:ext>
            </a:extLst>
          </p:cNvPr>
          <p:cNvSpPr/>
          <p:nvPr/>
        </p:nvSpPr>
        <p:spPr>
          <a:xfrm>
            <a:off x="1534972" y="3900037"/>
            <a:ext cx="1371600" cy="177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pic>
        <p:nvPicPr>
          <p:cNvPr id="36" name="Image 8" descr="preencoded.png">
            <a:extLst>
              <a:ext uri="{FF2B5EF4-FFF2-40B4-BE49-F238E27FC236}">
                <a16:creationId xmlns="" xmlns:a16="http://schemas.microsoft.com/office/drawing/2014/main" id="{9AAD6B65-99AA-0BA3-ED40-890BF6E83C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34972" y="3910197"/>
            <a:ext cx="1371600" cy="1778000"/>
          </a:xfrm>
          <a:prstGeom prst="rect">
            <a:avLst/>
          </a:prstGeom>
        </p:spPr>
      </p:pic>
      <p:sp>
        <p:nvSpPr>
          <p:cNvPr id="47" name="Shape 30">
            <a:extLst>
              <a:ext uri="{FF2B5EF4-FFF2-40B4-BE49-F238E27FC236}">
                <a16:creationId xmlns="" xmlns:a16="http://schemas.microsoft.com/office/drawing/2014/main" id="{24E6E4F7-FD15-7534-C8EE-B7B90D29147E}"/>
              </a:ext>
            </a:extLst>
          </p:cNvPr>
          <p:cNvSpPr/>
          <p:nvPr/>
        </p:nvSpPr>
        <p:spPr>
          <a:xfrm>
            <a:off x="3058972" y="3934963"/>
            <a:ext cx="1422400" cy="170815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49" name="Shape 31">
            <a:extLst>
              <a:ext uri="{FF2B5EF4-FFF2-40B4-BE49-F238E27FC236}">
                <a16:creationId xmlns="" xmlns:a16="http://schemas.microsoft.com/office/drawing/2014/main" id="{CCE002D2-B706-8D44-5ECB-427E6A6CB157}"/>
              </a:ext>
            </a:extLst>
          </p:cNvPr>
          <p:cNvSpPr/>
          <p:nvPr/>
        </p:nvSpPr>
        <p:spPr>
          <a:xfrm>
            <a:off x="3058972" y="4087363"/>
            <a:ext cx="1270000" cy="30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40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60" name="Text 32">
            <a:extLst>
              <a:ext uri="{FF2B5EF4-FFF2-40B4-BE49-F238E27FC236}">
                <a16:creationId xmlns="" xmlns:a16="http://schemas.microsoft.com/office/drawing/2014/main" id="{F6B98475-FA81-0B64-320F-CE6ABA97BFCC}"/>
              </a:ext>
            </a:extLst>
          </p:cNvPr>
          <p:cNvSpPr/>
          <p:nvPr/>
        </p:nvSpPr>
        <p:spPr>
          <a:xfrm>
            <a:off x="3058972" y="4087363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1"/>
              </a:lnSpc>
            </a:pP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Mohini Behera</a:t>
            </a:r>
            <a:endParaRPr lang="en-US" sz="1140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62" name="Text 33">
            <a:extLst>
              <a:ext uri="{FF2B5EF4-FFF2-40B4-BE49-F238E27FC236}">
                <a16:creationId xmlns="" xmlns:a16="http://schemas.microsoft.com/office/drawing/2014/main" id="{E4D9A793-EE4D-89AE-6E83-FF6AE3C31014}"/>
              </a:ext>
            </a:extLst>
          </p:cNvPr>
          <p:cNvSpPr/>
          <p:nvPr/>
        </p:nvSpPr>
        <p:spPr>
          <a:xfrm>
            <a:off x="3058972" y="4290563"/>
            <a:ext cx="127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r>
              <a:rPr lang="en-US" sz="855" b="1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Co-Inventor &amp; Chief Scientist</a:t>
            </a:r>
            <a:endParaRPr lang="en-US" sz="855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  <p:sp>
        <p:nvSpPr>
          <p:cNvPr id="64" name="Text 34">
            <a:extLst>
              <a:ext uri="{FF2B5EF4-FFF2-40B4-BE49-F238E27FC236}">
                <a16:creationId xmlns="" xmlns:a16="http://schemas.microsoft.com/office/drawing/2014/main" id="{B5420137-5763-62D5-80C9-D098305717D6}"/>
              </a:ext>
            </a:extLst>
          </p:cNvPr>
          <p:cNvSpPr/>
          <p:nvPr/>
        </p:nvSpPr>
        <p:spPr>
          <a:xfrm>
            <a:off x="3058972" y="4493763"/>
            <a:ext cx="1270000" cy="79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Cofounded visotonics, Upjao. Developed 10+ AI products for large enterprises.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  <a:p>
            <a:pPr>
              <a:lnSpc>
                <a:spcPts val="1188"/>
              </a:lnSpc>
            </a:pPr>
            <a:r>
              <a:rPr lang="en-US" sz="933" dirty="0">
                <a:solidFill>
                  <a:srgbClr val="000000">
                    <a:alpha val="99000"/>
                  </a:srgbClr>
                </a:solidFill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IIT Jodhpur, NIT Rourkela</a:t>
            </a:r>
            <a:endParaRPr lang="en-US" sz="933" dirty="0">
              <a:latin typeface="Inter" panose="020B0604020202020204" charset="0"/>
              <a:ea typeface="Inter" panose="020B0604020202020204" charset="0"/>
              <a:cs typeface="Inter" panose="020B060402020202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0FEEA0E4-95E1-743D-04AA-F7A87945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="" xmlns:a16="http://schemas.microsoft.com/office/drawing/2014/main" id="{ACE0237B-38AF-EA8E-A613-A0795275BFC2}"/>
              </a:ext>
            </a:extLst>
          </p:cNvPr>
          <p:cNvSpPr/>
          <p:nvPr/>
        </p:nvSpPr>
        <p:spPr>
          <a:xfrm>
            <a:off x="-1" y="1077911"/>
            <a:ext cx="12192001" cy="580094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="" xmlns:a16="http://schemas.microsoft.com/office/drawing/2014/main" id="{286670F4-CEE9-845B-447A-0518F392A15D}"/>
              </a:ext>
            </a:extLst>
          </p:cNvPr>
          <p:cNvSpPr txBox="1"/>
          <p:nvPr/>
        </p:nvSpPr>
        <p:spPr>
          <a:xfrm>
            <a:off x="413135" y="253266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Team: Mentors and employees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="" xmlns:a16="http://schemas.microsoft.com/office/drawing/2014/main" id="{28F9E312-89C7-C64D-D7FE-802741D4BC3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004982" y="6914637"/>
            <a:ext cx="258585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="" xmlns:a16="http://schemas.microsoft.com/office/drawing/2014/main" id="{CADFF7CE-FDDE-6A7E-021B-8A95F4CEE957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1026" name="Picture 2" descr="Cover Story: Transforming Indian Dairy with Technology and ...">
            <a:extLst>
              <a:ext uri="{FF2B5EF4-FFF2-40B4-BE49-F238E27FC236}">
                <a16:creationId xmlns="" xmlns:a16="http://schemas.microsoft.com/office/drawing/2014/main" id="{83BFAD66-8C2B-31AF-FED9-F7AD7AF20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00" y="4032436"/>
            <a:ext cx="1914825" cy="165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1DE84BE-13DB-9D55-6B6C-8564A6715F2B}"/>
              </a:ext>
            </a:extLst>
          </p:cNvPr>
          <p:cNvSpPr txBox="1"/>
          <p:nvPr/>
        </p:nvSpPr>
        <p:spPr>
          <a:xfrm>
            <a:off x="180768" y="5713158"/>
            <a:ext cx="3415253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Sudhindra Tatti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Advisor 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CEO of Prompt Innovations 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(University of Texas, Austin)</a:t>
            </a:r>
          </a:p>
        </p:txBody>
      </p:sp>
      <p:pic>
        <p:nvPicPr>
          <p:cNvPr id="1028" name="Picture 4" descr="Profile photo of Shikha Dhawan, PhD, PGDM">
            <a:extLst>
              <a:ext uri="{FF2B5EF4-FFF2-40B4-BE49-F238E27FC236}">
                <a16:creationId xmlns="" xmlns:a16="http://schemas.microsoft.com/office/drawing/2014/main" id="{F39192CD-CA37-1563-B8C3-174D0D9A9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853" y="1177697"/>
            <a:ext cx="1728470" cy="1728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2586281-E449-DBCF-10C5-9F23E2D6526D}"/>
              </a:ext>
            </a:extLst>
          </p:cNvPr>
          <p:cNvSpPr txBox="1"/>
          <p:nvPr/>
        </p:nvSpPr>
        <p:spPr>
          <a:xfrm>
            <a:off x="3486698" y="2873647"/>
            <a:ext cx="275995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Shikha Dhawan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algn="ctr">
              <a:defRPr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Advisor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Founder,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Biozazen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(Delhi University)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2" name="Picture 8" descr="Sandeep Kumar - Associate Professor at IIT Delhi, MISN Lab IIT Delhi |  LinkedIn">
            <a:extLst>
              <a:ext uri="{FF2B5EF4-FFF2-40B4-BE49-F238E27FC236}">
                <a16:creationId xmlns="" xmlns:a16="http://schemas.microsoft.com/office/drawing/2014/main" id="{145DFE97-55C2-ECA3-39DD-25F61977C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021" y="4191182"/>
            <a:ext cx="1737331" cy="173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379C074-061C-093C-45FD-B80917E4B318}"/>
              </a:ext>
            </a:extLst>
          </p:cNvPr>
          <p:cNvSpPr txBox="1"/>
          <p:nvPr/>
        </p:nvSpPr>
        <p:spPr>
          <a:xfrm>
            <a:off x="6382287" y="5888379"/>
            <a:ext cx="351282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Sandeep Kumar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Advisor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EE, IIT Delhi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(IIT Kanpur)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C155CFA1-2B3E-9E82-CD50-9DC597B4A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9419" y="1208084"/>
            <a:ext cx="1764360" cy="17853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E3A53E8-45CF-E4AC-28D9-255D373095DC}"/>
              </a:ext>
            </a:extLst>
          </p:cNvPr>
          <p:cNvSpPr txBox="1"/>
          <p:nvPr/>
        </p:nvSpPr>
        <p:spPr>
          <a:xfrm>
            <a:off x="9618521" y="3043198"/>
            <a:ext cx="2712721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Sudheer Kumar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algn="ctr">
              <a:defRPr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Advisor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 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NCFlexe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IIT Kanpur) 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(NPL)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3E9FD005-CF00-C93C-7008-73765F5B2225}"/>
              </a:ext>
            </a:extLst>
          </p:cNvPr>
          <p:cNvSpPr txBox="1"/>
          <p:nvPr/>
        </p:nvSpPr>
        <p:spPr>
          <a:xfrm>
            <a:off x="3153635" y="6005292"/>
            <a:ext cx="351282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Neeraj Garg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algn="ctr">
              <a:defRPr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Advisor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Partner, SBM Advisors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Ex-CTO AMUL, NDDB</a:t>
            </a:r>
          </a:p>
        </p:txBody>
      </p:sp>
      <p:pic>
        <p:nvPicPr>
          <p:cNvPr id="1038" name="Picture 14" descr="Dr. Amitabha Bandyopadhyay | Medical Learning Hub">
            <a:extLst>
              <a:ext uri="{FF2B5EF4-FFF2-40B4-BE49-F238E27FC236}">
                <a16:creationId xmlns="" xmlns:a16="http://schemas.microsoft.com/office/drawing/2014/main" id="{E1595801-833C-58B3-AF18-3174E45AE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26" y="1168836"/>
            <a:ext cx="1737331" cy="173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rofile photo of Ravikiran Vedururu">
            <a:extLst>
              <a:ext uri="{FF2B5EF4-FFF2-40B4-BE49-F238E27FC236}">
                <a16:creationId xmlns="" xmlns:a16="http://schemas.microsoft.com/office/drawing/2014/main" id="{FB531DC3-64D1-2450-C9FA-4A8473C9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815" y="1168836"/>
            <a:ext cx="1764360" cy="176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708C6B9-777B-7A79-4A1C-B681E4B25935}"/>
              </a:ext>
            </a:extLst>
          </p:cNvPr>
          <p:cNvSpPr txBox="1"/>
          <p:nvPr/>
        </p:nvSpPr>
        <p:spPr>
          <a:xfrm>
            <a:off x="6389869" y="2993448"/>
            <a:ext cx="3631883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RAVI VEDURURU</a:t>
            </a:r>
          </a:p>
          <a:p>
            <a:pPr algn="ctr"/>
            <a:r>
              <a:rPr lang="en-IN" dirty="0"/>
              <a:t>Subject Matter Expert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PhD Exec. MBA , Clinical Dx                   &amp; Medical device Consultant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904716C-76B2-8925-AFFE-25BC81E180ED}"/>
              </a:ext>
            </a:extLst>
          </p:cNvPr>
          <p:cNvSpPr txBox="1"/>
          <p:nvPr/>
        </p:nvSpPr>
        <p:spPr>
          <a:xfrm>
            <a:off x="-521237" y="2858419"/>
            <a:ext cx="4523105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Amitabha Bandyopadhyay</a:t>
            </a:r>
          </a:p>
          <a:p>
            <a:pPr marL="114300" lvl="0" algn="ctr">
              <a:defRPr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Advisor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BSBE, IIT Kanpur</a:t>
            </a:r>
          </a:p>
          <a:p>
            <a:pPr marL="11430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Ex-Harvard Medical School</a:t>
            </a:r>
          </a:p>
        </p:txBody>
      </p:sp>
      <p:pic>
        <p:nvPicPr>
          <p:cNvPr id="1042" name="Picture 18" descr="Profile photo of Niraj Prakash Garg">
            <a:extLst>
              <a:ext uri="{FF2B5EF4-FFF2-40B4-BE49-F238E27FC236}">
                <a16:creationId xmlns="" xmlns:a16="http://schemas.microsoft.com/office/drawing/2014/main" id="{BFC377B2-6747-981A-4932-505427C31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853" y="4191182"/>
            <a:ext cx="1764360" cy="176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Vinod K. Kurmi, Ph.D. - Indian Institute of Science Education and Research  Bhopal (IISER Bhopal) | LinkedIn">
            <a:extLst>
              <a:ext uri="{FF2B5EF4-FFF2-40B4-BE49-F238E27FC236}">
                <a16:creationId xmlns="" xmlns:a16="http://schemas.microsoft.com/office/drawing/2014/main" id="{EF564306-6DA3-345E-B34C-1AFA20A72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1752" y="4402235"/>
            <a:ext cx="1806579" cy="180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70687453-3EBB-5508-57F2-6EA3136A7285}"/>
              </a:ext>
            </a:extLst>
          </p:cNvPr>
          <p:cNvSpPr txBox="1"/>
          <p:nvPr/>
        </p:nvSpPr>
        <p:spPr>
          <a:xfrm>
            <a:off x="9736075" y="6219926"/>
            <a:ext cx="2314892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Vinod Kurmi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algn="ctr">
              <a:defRPr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Advisor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EE, IISER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Ph.D. (IIT Kanpur)</a:t>
            </a:r>
          </a:p>
        </p:txBody>
      </p:sp>
    </p:spTree>
    <p:extLst>
      <p:ext uri="{BB962C8B-B14F-4D97-AF65-F5344CB8AC3E}">
        <p14:creationId xmlns:p14="http://schemas.microsoft.com/office/powerpoint/2010/main" val="252336617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5339</TotalTime>
  <Words>1298</Words>
  <Application>Microsoft Office PowerPoint</Application>
  <PresentationFormat>Widescreen</PresentationFormat>
  <Paragraphs>247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Cascadia Code Regular Bold</vt:lpstr>
      <vt:lpstr>Cascadia Mono SemiBold</vt:lpstr>
      <vt:lpstr>Inter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shikha kumari</dc:creator>
  <cp:lastModifiedBy>User</cp:lastModifiedBy>
  <cp:revision>125</cp:revision>
  <cp:lastPrinted>2026-01-08T06:17:23Z</cp:lastPrinted>
  <dcterms:created xsi:type="dcterms:W3CDTF">2025-09-03T06:40:05Z</dcterms:created>
  <dcterms:modified xsi:type="dcterms:W3CDTF">2026-08-11T12:52:08Z</dcterms:modified>
</cp:coreProperties>
</file>