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430" r:id="rId3"/>
    <p:sldId id="382" r:id="rId4"/>
    <p:sldId id="261" r:id="rId5"/>
    <p:sldId id="432" r:id="rId6"/>
    <p:sldId id="293" r:id="rId7"/>
    <p:sldId id="271" r:id="rId8"/>
    <p:sldId id="284" r:id="rId9"/>
    <p:sldId id="265" r:id="rId10"/>
    <p:sldId id="272" r:id="rId11"/>
    <p:sldId id="266" r:id="rId12"/>
    <p:sldId id="445" r:id="rId13"/>
    <p:sldId id="456" r:id="rId14"/>
    <p:sldId id="435" r:id="rId15"/>
    <p:sldId id="442" r:id="rId16"/>
    <p:sldId id="345" r:id="rId17"/>
    <p:sldId id="398" r:id="rId18"/>
    <p:sldId id="399" r:id="rId19"/>
    <p:sldId id="459" r:id="rId20"/>
    <p:sldId id="4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269"/>
    <a:srgbClr val="414141"/>
    <a:srgbClr val="D64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69F0EC-337B-4EFF-BE73-8EA312AF25D4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A76FC1E-B78C-4CA4-8133-08E7A1F96E60}">
      <dgm:prSet custT="1"/>
      <dgm:spPr/>
      <dgm:t>
        <a:bodyPr/>
        <a:lstStyle/>
        <a:p>
          <a:r>
            <a:rPr lang="en-IN" sz="1800" b="1" i="0" baseline="0" dirty="0"/>
            <a:t>1 vs. Imported </a:t>
          </a:r>
          <a:r>
            <a:rPr lang="en-IN" sz="1800" b="1" i="0" baseline="0" dirty="0" err="1"/>
            <a:t>Analyzers</a:t>
          </a:r>
          <a:endParaRPr lang="en-US" sz="1800" dirty="0"/>
        </a:p>
      </dgm:t>
    </dgm:pt>
    <dgm:pt modelId="{AC7E5A0A-12D2-4F84-B26B-B567A914F1E7}" type="parTrans" cxnId="{12637446-5CDA-47FE-84CF-EFAE650DDDC7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5046868-B1B9-4937-BE99-7F671D5EBEB1}" type="sibTrans" cxnId="{12637446-5CDA-47FE-84CF-EFAE650DDDC7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F2B72B3-1E7D-41DC-AEDD-4664E6383C6D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90% lower cost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9125487-2FCF-42D2-A1CD-18208573ECBC}" type="parTrans" cxnId="{0EECC44F-A059-4A45-8E8C-21376D802D0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96EB747-265A-4574-825F-0E6A68D97938}" type="sibTrans" cxnId="{0EECC44F-A059-4A45-8E8C-21376D802D0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78F3081-603D-45EA-91D9-C82D97B42467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Universal strip compatibility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E43CEC1-0D2B-44B0-86FD-16D024F5ADBD}" type="parTrans" cxnId="{AD89446D-EFFA-455B-BF77-BD532715D0BA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0B6BDA3D-5874-43FD-AE05-EF261D241CE5}" type="sibTrans" cxnId="{AD89446D-EFFA-455B-BF77-BD532715D0BA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EC2A943-6FDD-4A2C-B0D4-D8A383F3B7F4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Portable &amp; field-deployable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8BA2DCA-10F3-4DDB-AC65-A491CD709B44}" type="parTrans" cxnId="{9B9CFFA5-7108-4A22-8198-3BC24C6488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F55392E9-CC19-4811-B004-24B3F2373548}" type="sibTrans" cxnId="{9B9CFFA5-7108-4A22-8198-3BC24C6488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DF9B5DC-85F9-4C6F-B35F-80077192888C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electricity requirement 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BAE3438-F5FC-4AA5-90EF-85B80CB208C2}" type="parTrans" cxnId="{D2DE3114-8588-4AB3-8947-D69D96AFDDA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EE2083B9-4E92-419F-99AC-2759819C7A19}" type="sibTrans" cxnId="{D2DE3114-8588-4AB3-8947-D69D96AFDDA6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B223889-7D84-4C3E-BD4D-0137BD9D05C1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Indigenous manufacturing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2D34031-FB3B-415C-84D4-CA122B23DD01}" type="parTrans" cxnId="{454469A9-D808-49A9-AFDD-972984C8178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FF23177-E583-4237-AB13-84C4AD3F8B85}" type="sibTrans" cxnId="{454469A9-D808-49A9-AFDD-972984C8178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048A8715-084C-49AA-B464-71351CE18951}">
      <dgm:prSet custT="1"/>
      <dgm:spPr/>
      <dgm:t>
        <a:bodyPr/>
        <a:lstStyle/>
        <a:p>
          <a:r>
            <a:rPr lang="en-IN" sz="1800" b="1" i="0" baseline="0" dirty="0"/>
            <a:t>2 vs. Manual Reading</a:t>
          </a:r>
          <a:endParaRPr lang="en-US" sz="1800" dirty="0"/>
        </a:p>
      </dgm:t>
    </dgm:pt>
    <dgm:pt modelId="{0A8F9674-4BDF-4083-9AD3-62677CA78704}" type="parTrans" cxnId="{9D92A85D-C4F3-4FA7-92A6-95AA81BB09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AF7626DC-79BB-4A43-B44F-4E1C235229F4}" type="sibTrans" cxnId="{9D92A85D-C4F3-4FA7-92A6-95AA81BB09A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3AE3B96-1EE8-4F73-876D-04279CA02463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human error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17FBD55-9172-4B82-8CA9-2010CBBAD7CE}" type="parTrans" cxnId="{0B8D91C7-8E41-4B0D-8F7C-EE92022ED91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4C1600F5-EA31-44A7-B378-86CF38781D55}" type="sibTrans" cxnId="{0B8D91C7-8E41-4B0D-8F7C-EE92022ED91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36A40916-00E7-4278-8CF3-B3CA6B5C5506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Standardized results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849A632-3A2A-4BDD-8066-8060A642978C}" type="parTrans" cxnId="{CEF47A87-C15F-4733-91A1-69708FFE85C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67B8EBF4-E70A-4C36-B807-4A67D36DBD24}" type="sibTrans" cxnId="{CEF47A87-C15F-4733-91A1-69708FFE85C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4C1792A-4109-4246-B266-6B8C61F8FB0B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 records &amp; traceability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68767EA-1EF8-401E-8BCA-41CC7FB432ED}" type="parTrans" cxnId="{36145640-F0C7-408A-AE2E-B7C0573C3D4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0DA71B7-BAD6-43F4-93CA-2806513B142C}" type="sibTrans" cxnId="{36145640-F0C7-408A-AE2E-B7C0573C3D4F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33AF84F-08F2-4F26-9EB9-1C5869AB996C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expertise required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D680111-27B4-4A0D-9515-833593A6D2FA}" type="parTrans" cxnId="{8106B032-352B-4816-B59B-820547869A5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0241F04-75E3-4AC1-9A65-7E4BAA018445}" type="sibTrans" cxnId="{8106B032-352B-4816-B59B-820547869A5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70B2C5D-56A1-4E3B-8382-7381CE516E62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turnaround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0A98769-3DDB-447B-B93C-734DA29B088C}" type="parTrans" cxnId="{B7D48F08-3B3D-4D5D-9C78-AB8D5B89D46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7D27A95-F6B8-4FEC-97B2-4E4C10EF419F}" type="sibTrans" cxnId="{B7D48F08-3B3D-4D5D-9C78-AB8D5B89D46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691A5E6B-8D2F-4602-B45D-A83E1AA43578}">
      <dgm:prSet custT="1"/>
      <dgm:spPr/>
      <dgm:t>
        <a:bodyPr/>
        <a:lstStyle/>
        <a:p>
          <a:r>
            <a:rPr lang="en-IN" sz="1800" b="1" i="0" baseline="0"/>
            <a:t>3 vs. Lab-Based Testing</a:t>
          </a:r>
          <a:endParaRPr lang="en-US" sz="1800" dirty="0"/>
        </a:p>
      </dgm:t>
    </dgm:pt>
    <dgm:pt modelId="{D93A13DD-E710-47F7-A648-D673CC7FAD12}" type="parTrans" cxnId="{AC049D81-9976-4B83-A250-87F57990707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EBD91639-AC65-4105-AFFD-D78DCCD89063}" type="sibTrans" cxnId="{AC049D81-9976-4B83-A250-87F57990707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9FA53E70-1814-41F3-A8C2-AA1D971DAD1E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Point-of-care results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2C10EA1-ABBA-43CF-9508-D5E9C48C880F}" type="parTrans" cxnId="{A386260F-1C33-4EB7-8412-0E74E782FFD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49A79DA-06DF-4776-89DA-17EA0B75F99E}" type="sibTrans" cxnId="{A386260F-1C33-4EB7-8412-0E74E782FFD0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C1F95F6-F58E-46CB-9403-4A7D51002C1E}">
      <dgm:prSet custT="1"/>
      <dgm:spPr/>
      <dgm:t>
        <a:bodyPr/>
        <a:lstStyle/>
        <a:p>
          <a:r>
            <a:rPr lang="en-IN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10x lower cost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C10B4E-6DE5-42A1-BD6C-79547A1B6DE7}" type="parTrans" cxnId="{F88C4C4E-9EF6-477A-AB6D-5D4DB6E29D0D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8A8E60A-341B-408E-A413-A8FAE49046D6}" type="sibTrans" cxnId="{F88C4C4E-9EF6-477A-AB6D-5D4DB6E29D0D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5D0E037A-EFFB-4A4E-9D62-BFF1D9B38FB2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sample transport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0754918-CEA0-4DD2-B48E-D37FF98A09F5}" type="parTrans" cxnId="{79BBE240-312D-4F0F-A26E-0132E91BB59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2C5CAAF-0F8C-42CE-A763-5352A0C2D905}" type="sibTrans" cxnId="{79BBE240-312D-4F0F-A26E-0132E91BB595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0AEC6A6-0096-42D3-B36A-4700DC61D0D6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Immediate clinical decision support 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96C5705-66D6-443D-976F-EF813372B14F}" type="parTrans" cxnId="{FBC3F65A-D6A2-42DA-B7E5-B821DDE7EFC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3404DD5-4972-4861-B4A4-D62B72BE9B18}" type="sibTrans" cxnId="{FBC3F65A-D6A2-42DA-B7E5-B821DDE7EFC4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1E248A9D-7A5E-4A13-B33B-B2ACCE492CB8}">
      <dgm:prSet custT="1"/>
      <dgm:spPr/>
      <dgm:t>
        <a:bodyPr/>
        <a:lstStyle/>
        <a:p>
          <a:r>
            <a:rPr lang="en-IN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Higher compliance &amp; follow-up</a:t>
          </a:r>
          <a:endParaRPr lang="en-US" sz="16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D1BA90D-6105-4DB3-B697-D5D54EB6F432}" type="parTrans" cxnId="{03924D8D-0425-4A4A-81D9-74DD1EE66B7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4541195D-7020-438A-85BE-54201602AA0E}" type="sibTrans" cxnId="{03924D8D-0425-4A4A-81D9-74DD1EE66B7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CEAA399-1D36-4067-A3CB-534DC8901370}" type="pres">
      <dgm:prSet presAssocID="{3D69F0EC-337B-4EFF-BE73-8EA312AF25D4}" presName="theList" presStyleCnt="0">
        <dgm:presLayoutVars>
          <dgm:dir/>
          <dgm:animLvl val="lvl"/>
          <dgm:resizeHandles val="exact"/>
        </dgm:presLayoutVars>
      </dgm:prSet>
      <dgm:spPr/>
    </dgm:pt>
    <dgm:pt modelId="{C5E20F3A-C63B-448B-8639-CEB58913C2C5}" type="pres">
      <dgm:prSet presAssocID="{DA76FC1E-B78C-4CA4-8133-08E7A1F96E60}" presName="compNode" presStyleCnt="0"/>
      <dgm:spPr/>
    </dgm:pt>
    <dgm:pt modelId="{FF0BE9BA-187F-475C-826B-F7E6E36F4A63}" type="pres">
      <dgm:prSet presAssocID="{DA76FC1E-B78C-4CA4-8133-08E7A1F96E60}" presName="aNode" presStyleLbl="bgShp" presStyleIdx="0" presStyleCnt="3" custLinFactNeighborX="-1178" custLinFactNeighborY="-4052"/>
      <dgm:spPr/>
    </dgm:pt>
    <dgm:pt modelId="{EEB44976-6D5D-4BE0-BB25-67B9919D4AC6}" type="pres">
      <dgm:prSet presAssocID="{DA76FC1E-B78C-4CA4-8133-08E7A1F96E60}" presName="textNode" presStyleLbl="bgShp" presStyleIdx="0" presStyleCnt="3"/>
      <dgm:spPr/>
    </dgm:pt>
    <dgm:pt modelId="{40F55619-EDAC-4DAA-86F9-B5868BD0E98C}" type="pres">
      <dgm:prSet presAssocID="{DA76FC1E-B78C-4CA4-8133-08E7A1F96E60}" presName="compChildNode" presStyleCnt="0"/>
      <dgm:spPr/>
    </dgm:pt>
    <dgm:pt modelId="{24849419-2707-4A6B-ABD5-A6B1B564A740}" type="pres">
      <dgm:prSet presAssocID="{DA76FC1E-B78C-4CA4-8133-08E7A1F96E60}" presName="theInnerList" presStyleCnt="0"/>
      <dgm:spPr/>
    </dgm:pt>
    <dgm:pt modelId="{9A094AFD-02DB-46C6-9EE3-7451F1BA1158}" type="pres">
      <dgm:prSet presAssocID="{9F2B72B3-1E7D-41DC-AEDD-4664E6383C6D}" presName="childNode" presStyleLbl="node1" presStyleIdx="0" presStyleCnt="15">
        <dgm:presLayoutVars>
          <dgm:bulletEnabled val="1"/>
        </dgm:presLayoutVars>
      </dgm:prSet>
      <dgm:spPr/>
    </dgm:pt>
    <dgm:pt modelId="{CE6D56FA-7E77-4785-AB46-2D23BC2BE79F}" type="pres">
      <dgm:prSet presAssocID="{9F2B72B3-1E7D-41DC-AEDD-4664E6383C6D}" presName="aSpace2" presStyleCnt="0"/>
      <dgm:spPr/>
    </dgm:pt>
    <dgm:pt modelId="{AA7EFF1D-4141-4CD6-9B8B-83569781F0C5}" type="pres">
      <dgm:prSet presAssocID="{978F3081-603D-45EA-91D9-C82D97B42467}" presName="childNode" presStyleLbl="node1" presStyleIdx="1" presStyleCnt="15">
        <dgm:presLayoutVars>
          <dgm:bulletEnabled val="1"/>
        </dgm:presLayoutVars>
      </dgm:prSet>
      <dgm:spPr/>
    </dgm:pt>
    <dgm:pt modelId="{D9080E50-4A45-4A63-A24D-0E69025BE615}" type="pres">
      <dgm:prSet presAssocID="{978F3081-603D-45EA-91D9-C82D97B42467}" presName="aSpace2" presStyleCnt="0"/>
      <dgm:spPr/>
    </dgm:pt>
    <dgm:pt modelId="{1FC8C746-E44C-4F2D-9BD4-3B0770BD9D06}" type="pres">
      <dgm:prSet presAssocID="{8EC2A943-6FDD-4A2C-B0D4-D8A383F3B7F4}" presName="childNode" presStyleLbl="node1" presStyleIdx="2" presStyleCnt="15">
        <dgm:presLayoutVars>
          <dgm:bulletEnabled val="1"/>
        </dgm:presLayoutVars>
      </dgm:prSet>
      <dgm:spPr/>
    </dgm:pt>
    <dgm:pt modelId="{1735487D-E5D7-4E8A-8879-ADF3479417C2}" type="pres">
      <dgm:prSet presAssocID="{8EC2A943-6FDD-4A2C-B0D4-D8A383F3B7F4}" presName="aSpace2" presStyleCnt="0"/>
      <dgm:spPr/>
    </dgm:pt>
    <dgm:pt modelId="{0E084248-7F80-4F2F-81A0-F769EE6D5CB7}" type="pres">
      <dgm:prSet presAssocID="{1DF9B5DC-85F9-4C6F-B35F-80077192888C}" presName="childNode" presStyleLbl="node1" presStyleIdx="3" presStyleCnt="15">
        <dgm:presLayoutVars>
          <dgm:bulletEnabled val="1"/>
        </dgm:presLayoutVars>
      </dgm:prSet>
      <dgm:spPr/>
    </dgm:pt>
    <dgm:pt modelId="{94BF8CDE-AAB7-4B9A-9716-7C715CD2D2C1}" type="pres">
      <dgm:prSet presAssocID="{1DF9B5DC-85F9-4C6F-B35F-80077192888C}" presName="aSpace2" presStyleCnt="0"/>
      <dgm:spPr/>
    </dgm:pt>
    <dgm:pt modelId="{4E14A25E-106F-4E6A-BAFA-B912D79D301A}" type="pres">
      <dgm:prSet presAssocID="{5B223889-7D84-4C3E-BD4D-0137BD9D05C1}" presName="childNode" presStyleLbl="node1" presStyleIdx="4" presStyleCnt="15">
        <dgm:presLayoutVars>
          <dgm:bulletEnabled val="1"/>
        </dgm:presLayoutVars>
      </dgm:prSet>
      <dgm:spPr/>
    </dgm:pt>
    <dgm:pt modelId="{58429D36-D5D6-48FD-981B-5AEE95C776B9}" type="pres">
      <dgm:prSet presAssocID="{DA76FC1E-B78C-4CA4-8133-08E7A1F96E60}" presName="aSpace" presStyleCnt="0"/>
      <dgm:spPr/>
    </dgm:pt>
    <dgm:pt modelId="{25565202-C0D8-4A60-9E19-091C2460A641}" type="pres">
      <dgm:prSet presAssocID="{048A8715-084C-49AA-B464-71351CE18951}" presName="compNode" presStyleCnt="0"/>
      <dgm:spPr/>
    </dgm:pt>
    <dgm:pt modelId="{11E7D011-88C6-4E89-99FE-1138E1BC8C34}" type="pres">
      <dgm:prSet presAssocID="{048A8715-084C-49AA-B464-71351CE18951}" presName="aNode" presStyleLbl="bgShp" presStyleIdx="1" presStyleCnt="3"/>
      <dgm:spPr/>
    </dgm:pt>
    <dgm:pt modelId="{20473AD7-6FFC-4883-87A3-25FB5E4A65A7}" type="pres">
      <dgm:prSet presAssocID="{048A8715-084C-49AA-B464-71351CE18951}" presName="textNode" presStyleLbl="bgShp" presStyleIdx="1" presStyleCnt="3"/>
      <dgm:spPr/>
    </dgm:pt>
    <dgm:pt modelId="{3A7FECD4-BF27-4615-A511-5A464943392F}" type="pres">
      <dgm:prSet presAssocID="{048A8715-084C-49AA-B464-71351CE18951}" presName="compChildNode" presStyleCnt="0"/>
      <dgm:spPr/>
    </dgm:pt>
    <dgm:pt modelId="{950184D3-AAAE-4CA1-B94E-F81AA7B8F40A}" type="pres">
      <dgm:prSet presAssocID="{048A8715-084C-49AA-B464-71351CE18951}" presName="theInnerList" presStyleCnt="0"/>
      <dgm:spPr/>
    </dgm:pt>
    <dgm:pt modelId="{42028F19-DFA4-4AAD-8F50-E1D7540F0FBF}" type="pres">
      <dgm:prSet presAssocID="{13AE3B96-1EE8-4F73-876D-04279CA02463}" presName="childNode" presStyleLbl="node1" presStyleIdx="5" presStyleCnt="15">
        <dgm:presLayoutVars>
          <dgm:bulletEnabled val="1"/>
        </dgm:presLayoutVars>
      </dgm:prSet>
      <dgm:spPr/>
    </dgm:pt>
    <dgm:pt modelId="{D1747E16-E2C1-445E-A9BA-B00C694D7E97}" type="pres">
      <dgm:prSet presAssocID="{13AE3B96-1EE8-4F73-876D-04279CA02463}" presName="aSpace2" presStyleCnt="0"/>
      <dgm:spPr/>
    </dgm:pt>
    <dgm:pt modelId="{023907BA-EAE9-4AC3-AA90-8BE2B975B66B}" type="pres">
      <dgm:prSet presAssocID="{36A40916-00E7-4278-8CF3-B3CA6B5C5506}" presName="childNode" presStyleLbl="node1" presStyleIdx="6" presStyleCnt="15">
        <dgm:presLayoutVars>
          <dgm:bulletEnabled val="1"/>
        </dgm:presLayoutVars>
      </dgm:prSet>
      <dgm:spPr/>
    </dgm:pt>
    <dgm:pt modelId="{C2AADE6B-26EB-4D8F-9FED-232AA50A90BD}" type="pres">
      <dgm:prSet presAssocID="{36A40916-00E7-4278-8CF3-B3CA6B5C5506}" presName="aSpace2" presStyleCnt="0"/>
      <dgm:spPr/>
    </dgm:pt>
    <dgm:pt modelId="{EB986721-69A7-482F-9732-20564A048CEF}" type="pres">
      <dgm:prSet presAssocID="{94C1792A-4109-4246-B266-6B8C61F8FB0B}" presName="childNode" presStyleLbl="node1" presStyleIdx="7" presStyleCnt="15">
        <dgm:presLayoutVars>
          <dgm:bulletEnabled val="1"/>
        </dgm:presLayoutVars>
      </dgm:prSet>
      <dgm:spPr/>
    </dgm:pt>
    <dgm:pt modelId="{C68FA271-A206-4A1A-AF55-2595B8F8ECA5}" type="pres">
      <dgm:prSet presAssocID="{94C1792A-4109-4246-B266-6B8C61F8FB0B}" presName="aSpace2" presStyleCnt="0"/>
      <dgm:spPr/>
    </dgm:pt>
    <dgm:pt modelId="{D9C7A618-ED41-408F-AECE-268667A0F004}" type="pres">
      <dgm:prSet presAssocID="{D33AF84F-08F2-4F26-9EB9-1C5869AB996C}" presName="childNode" presStyleLbl="node1" presStyleIdx="8" presStyleCnt="15">
        <dgm:presLayoutVars>
          <dgm:bulletEnabled val="1"/>
        </dgm:presLayoutVars>
      </dgm:prSet>
      <dgm:spPr/>
    </dgm:pt>
    <dgm:pt modelId="{14BC1C6C-F480-4FD5-A811-FC691AE2339D}" type="pres">
      <dgm:prSet presAssocID="{D33AF84F-08F2-4F26-9EB9-1C5869AB996C}" presName="aSpace2" presStyleCnt="0"/>
      <dgm:spPr/>
    </dgm:pt>
    <dgm:pt modelId="{5D76C18A-F01A-4551-86CB-77D882407250}" type="pres">
      <dgm:prSet presAssocID="{D70B2C5D-56A1-4E3B-8382-7381CE516E62}" presName="childNode" presStyleLbl="node1" presStyleIdx="9" presStyleCnt="15">
        <dgm:presLayoutVars>
          <dgm:bulletEnabled val="1"/>
        </dgm:presLayoutVars>
      </dgm:prSet>
      <dgm:spPr/>
    </dgm:pt>
    <dgm:pt modelId="{653BDA0E-20B8-486B-BA27-453A0F6A5030}" type="pres">
      <dgm:prSet presAssocID="{048A8715-084C-49AA-B464-71351CE18951}" presName="aSpace" presStyleCnt="0"/>
      <dgm:spPr/>
    </dgm:pt>
    <dgm:pt modelId="{ABDDB8F7-3D0E-4704-BECF-08476797C785}" type="pres">
      <dgm:prSet presAssocID="{691A5E6B-8D2F-4602-B45D-A83E1AA43578}" presName="compNode" presStyleCnt="0"/>
      <dgm:spPr/>
    </dgm:pt>
    <dgm:pt modelId="{569B01F7-F71F-4D6C-9699-947FFD1881D1}" type="pres">
      <dgm:prSet presAssocID="{691A5E6B-8D2F-4602-B45D-A83E1AA43578}" presName="aNode" presStyleLbl="bgShp" presStyleIdx="2" presStyleCnt="3"/>
      <dgm:spPr/>
    </dgm:pt>
    <dgm:pt modelId="{5A876917-4C52-4C6A-B0C9-C2CAF7B4E526}" type="pres">
      <dgm:prSet presAssocID="{691A5E6B-8D2F-4602-B45D-A83E1AA43578}" presName="textNode" presStyleLbl="bgShp" presStyleIdx="2" presStyleCnt="3"/>
      <dgm:spPr/>
    </dgm:pt>
    <dgm:pt modelId="{103EFC57-5539-4979-8747-1A166917288E}" type="pres">
      <dgm:prSet presAssocID="{691A5E6B-8D2F-4602-B45D-A83E1AA43578}" presName="compChildNode" presStyleCnt="0"/>
      <dgm:spPr/>
    </dgm:pt>
    <dgm:pt modelId="{3F89802A-CA66-42AE-8C7E-FE2E7A25098A}" type="pres">
      <dgm:prSet presAssocID="{691A5E6B-8D2F-4602-B45D-A83E1AA43578}" presName="theInnerList" presStyleCnt="0"/>
      <dgm:spPr/>
    </dgm:pt>
    <dgm:pt modelId="{CFE42088-5D02-4442-A723-A383E84EAC96}" type="pres">
      <dgm:prSet presAssocID="{9FA53E70-1814-41F3-A8C2-AA1D971DAD1E}" presName="childNode" presStyleLbl="node1" presStyleIdx="10" presStyleCnt="15">
        <dgm:presLayoutVars>
          <dgm:bulletEnabled val="1"/>
        </dgm:presLayoutVars>
      </dgm:prSet>
      <dgm:spPr/>
    </dgm:pt>
    <dgm:pt modelId="{1EBDFF14-DE3A-4917-9C45-D2E8D210CAEA}" type="pres">
      <dgm:prSet presAssocID="{9FA53E70-1814-41F3-A8C2-AA1D971DAD1E}" presName="aSpace2" presStyleCnt="0"/>
      <dgm:spPr/>
    </dgm:pt>
    <dgm:pt modelId="{FF5FD654-7759-48F6-B865-76ADFAA0604F}" type="pres">
      <dgm:prSet presAssocID="{DC1F95F6-F58E-46CB-9403-4A7D51002C1E}" presName="childNode" presStyleLbl="node1" presStyleIdx="11" presStyleCnt="15">
        <dgm:presLayoutVars>
          <dgm:bulletEnabled val="1"/>
        </dgm:presLayoutVars>
      </dgm:prSet>
      <dgm:spPr/>
    </dgm:pt>
    <dgm:pt modelId="{A567933F-FC29-4DD2-A9C9-9DE11B37C440}" type="pres">
      <dgm:prSet presAssocID="{DC1F95F6-F58E-46CB-9403-4A7D51002C1E}" presName="aSpace2" presStyleCnt="0"/>
      <dgm:spPr/>
    </dgm:pt>
    <dgm:pt modelId="{48937407-45E1-4DE0-ACC5-D681E60F0BBD}" type="pres">
      <dgm:prSet presAssocID="{5D0E037A-EFFB-4A4E-9D62-BFF1D9B38FB2}" presName="childNode" presStyleLbl="node1" presStyleIdx="12" presStyleCnt="15">
        <dgm:presLayoutVars>
          <dgm:bulletEnabled val="1"/>
        </dgm:presLayoutVars>
      </dgm:prSet>
      <dgm:spPr/>
    </dgm:pt>
    <dgm:pt modelId="{8C443C78-3D0D-46C5-A466-E1E9D62E9A95}" type="pres">
      <dgm:prSet presAssocID="{5D0E037A-EFFB-4A4E-9D62-BFF1D9B38FB2}" presName="aSpace2" presStyleCnt="0"/>
      <dgm:spPr/>
    </dgm:pt>
    <dgm:pt modelId="{F26F6173-B0F8-466C-9325-A849DD1FE508}" type="pres">
      <dgm:prSet presAssocID="{B0AEC6A6-0096-42D3-B36A-4700DC61D0D6}" presName="childNode" presStyleLbl="node1" presStyleIdx="13" presStyleCnt="15">
        <dgm:presLayoutVars>
          <dgm:bulletEnabled val="1"/>
        </dgm:presLayoutVars>
      </dgm:prSet>
      <dgm:spPr/>
    </dgm:pt>
    <dgm:pt modelId="{812AFEBD-900C-4951-8A08-F6D96BC44F08}" type="pres">
      <dgm:prSet presAssocID="{B0AEC6A6-0096-42D3-B36A-4700DC61D0D6}" presName="aSpace2" presStyleCnt="0"/>
      <dgm:spPr/>
    </dgm:pt>
    <dgm:pt modelId="{2F8C6D33-2B3C-4437-85EB-5F3C44F67FF2}" type="pres">
      <dgm:prSet presAssocID="{1E248A9D-7A5E-4A13-B33B-B2ACCE492CB8}" presName="childNode" presStyleLbl="node1" presStyleIdx="14" presStyleCnt="15">
        <dgm:presLayoutVars>
          <dgm:bulletEnabled val="1"/>
        </dgm:presLayoutVars>
      </dgm:prSet>
      <dgm:spPr/>
    </dgm:pt>
  </dgm:ptLst>
  <dgm:cxnLst>
    <dgm:cxn modelId="{B7D48F08-3B3D-4D5D-9C78-AB8D5B89D462}" srcId="{048A8715-084C-49AA-B464-71351CE18951}" destId="{D70B2C5D-56A1-4E3B-8382-7381CE516E62}" srcOrd="4" destOrd="0" parTransId="{10A98769-3DDB-447B-B93C-734DA29B088C}" sibTransId="{87D27A95-F6B8-4FEC-97B2-4E4C10EF419F}"/>
    <dgm:cxn modelId="{2C120A0C-54AD-47E2-9F9A-A3B8C3782BCF}" type="presOf" srcId="{9FA53E70-1814-41F3-A8C2-AA1D971DAD1E}" destId="{CFE42088-5D02-4442-A723-A383E84EAC96}" srcOrd="0" destOrd="0" presId="urn:microsoft.com/office/officeart/2005/8/layout/lProcess2"/>
    <dgm:cxn modelId="{A386260F-1C33-4EB7-8412-0E74E782FFD0}" srcId="{691A5E6B-8D2F-4602-B45D-A83E1AA43578}" destId="{9FA53E70-1814-41F3-A8C2-AA1D971DAD1E}" srcOrd="0" destOrd="0" parTransId="{52C10EA1-ABBA-43CF-9508-D5E9C48C880F}" sibTransId="{249A79DA-06DF-4776-89DA-17EA0B75F99E}"/>
    <dgm:cxn modelId="{FC27C411-B4B8-444D-BC31-03B4B9B883B4}" type="presOf" srcId="{D33AF84F-08F2-4F26-9EB9-1C5869AB996C}" destId="{D9C7A618-ED41-408F-AECE-268667A0F004}" srcOrd="0" destOrd="0" presId="urn:microsoft.com/office/officeart/2005/8/layout/lProcess2"/>
    <dgm:cxn modelId="{D2DE3114-8588-4AB3-8947-D69D96AFDDA6}" srcId="{DA76FC1E-B78C-4CA4-8133-08E7A1F96E60}" destId="{1DF9B5DC-85F9-4C6F-B35F-80077192888C}" srcOrd="3" destOrd="0" parTransId="{FBAE3438-F5FC-4AA5-90EF-85B80CB208C2}" sibTransId="{EE2083B9-4E92-419F-99AC-2759819C7A19}"/>
    <dgm:cxn modelId="{EA08B51E-B58E-4E4E-B27C-4B1F134A9982}" type="presOf" srcId="{B0AEC6A6-0096-42D3-B36A-4700DC61D0D6}" destId="{F26F6173-B0F8-466C-9325-A849DD1FE508}" srcOrd="0" destOrd="0" presId="urn:microsoft.com/office/officeart/2005/8/layout/lProcess2"/>
    <dgm:cxn modelId="{4DC3C924-2490-4C53-B054-B9BACCD09F5E}" type="presOf" srcId="{1E248A9D-7A5E-4A13-B33B-B2ACCE492CB8}" destId="{2F8C6D33-2B3C-4437-85EB-5F3C44F67FF2}" srcOrd="0" destOrd="0" presId="urn:microsoft.com/office/officeart/2005/8/layout/lProcess2"/>
    <dgm:cxn modelId="{38F5FC24-2108-4376-8906-F9E270BB46E7}" type="presOf" srcId="{DC1F95F6-F58E-46CB-9403-4A7D51002C1E}" destId="{FF5FD654-7759-48F6-B865-76ADFAA0604F}" srcOrd="0" destOrd="0" presId="urn:microsoft.com/office/officeart/2005/8/layout/lProcess2"/>
    <dgm:cxn modelId="{23FA5327-F575-4CD0-8C61-867E9C6F5A88}" type="presOf" srcId="{13AE3B96-1EE8-4F73-876D-04279CA02463}" destId="{42028F19-DFA4-4AAD-8F50-E1D7540F0FBF}" srcOrd="0" destOrd="0" presId="urn:microsoft.com/office/officeart/2005/8/layout/lProcess2"/>
    <dgm:cxn modelId="{BA33282F-EADB-40B9-9BD1-467FDC9EDA29}" type="presOf" srcId="{36A40916-00E7-4278-8CF3-B3CA6B5C5506}" destId="{023907BA-EAE9-4AC3-AA90-8BE2B975B66B}" srcOrd="0" destOrd="0" presId="urn:microsoft.com/office/officeart/2005/8/layout/lProcess2"/>
    <dgm:cxn modelId="{8106B032-352B-4816-B59B-820547869A51}" srcId="{048A8715-084C-49AA-B464-71351CE18951}" destId="{D33AF84F-08F2-4F26-9EB9-1C5869AB996C}" srcOrd="3" destOrd="0" parTransId="{FD680111-27B4-4A0D-9515-833593A6D2FA}" sibTransId="{C0241F04-75E3-4AC1-9A65-7E4BAA018445}"/>
    <dgm:cxn modelId="{28F24933-A308-4134-9575-0CEF1923D38A}" type="presOf" srcId="{D70B2C5D-56A1-4E3B-8382-7381CE516E62}" destId="{5D76C18A-F01A-4551-86CB-77D882407250}" srcOrd="0" destOrd="0" presId="urn:microsoft.com/office/officeart/2005/8/layout/lProcess2"/>
    <dgm:cxn modelId="{36145640-F0C7-408A-AE2E-B7C0573C3D4F}" srcId="{048A8715-084C-49AA-B464-71351CE18951}" destId="{94C1792A-4109-4246-B266-6B8C61F8FB0B}" srcOrd="2" destOrd="0" parTransId="{068767EA-1EF8-401E-8BCA-41CC7FB432ED}" sibTransId="{20DA71B7-BAD6-43F4-93CA-2806513B142C}"/>
    <dgm:cxn modelId="{79BBE240-312D-4F0F-A26E-0132E91BB595}" srcId="{691A5E6B-8D2F-4602-B45D-A83E1AA43578}" destId="{5D0E037A-EFFB-4A4E-9D62-BFF1D9B38FB2}" srcOrd="2" destOrd="0" parTransId="{E0754918-CEA0-4DD2-B48E-D37FF98A09F5}" sibTransId="{B2C5CAAF-0F8C-42CE-A763-5352A0C2D905}"/>
    <dgm:cxn modelId="{9D92A85D-C4F3-4FA7-92A6-95AA81BB09A2}" srcId="{3D69F0EC-337B-4EFF-BE73-8EA312AF25D4}" destId="{048A8715-084C-49AA-B464-71351CE18951}" srcOrd="1" destOrd="0" parTransId="{0A8F9674-4BDF-4083-9AD3-62677CA78704}" sibTransId="{AF7626DC-79BB-4A43-B44F-4E1C235229F4}"/>
    <dgm:cxn modelId="{A0D76C42-6BE4-4B8C-9F52-8001EB4BAA6D}" type="presOf" srcId="{DA76FC1E-B78C-4CA4-8133-08E7A1F96E60}" destId="{FF0BE9BA-187F-475C-826B-F7E6E36F4A63}" srcOrd="0" destOrd="0" presId="urn:microsoft.com/office/officeart/2005/8/layout/lProcess2"/>
    <dgm:cxn modelId="{AA4FF564-31C3-49F6-8DCA-BCA8DEA9F752}" type="presOf" srcId="{DA76FC1E-B78C-4CA4-8133-08E7A1F96E60}" destId="{EEB44976-6D5D-4BE0-BB25-67B9919D4AC6}" srcOrd="1" destOrd="0" presId="urn:microsoft.com/office/officeart/2005/8/layout/lProcess2"/>
    <dgm:cxn modelId="{12637446-5CDA-47FE-84CF-EFAE650DDDC7}" srcId="{3D69F0EC-337B-4EFF-BE73-8EA312AF25D4}" destId="{DA76FC1E-B78C-4CA4-8133-08E7A1F96E60}" srcOrd="0" destOrd="0" parTransId="{AC7E5A0A-12D2-4F84-B26B-B567A914F1E7}" sibTransId="{25046868-B1B9-4937-BE99-7F671D5EBEB1}"/>
    <dgm:cxn modelId="{AD89446D-EFFA-455B-BF77-BD532715D0BA}" srcId="{DA76FC1E-B78C-4CA4-8133-08E7A1F96E60}" destId="{978F3081-603D-45EA-91D9-C82D97B42467}" srcOrd="1" destOrd="0" parTransId="{8E43CEC1-0D2B-44B0-86FD-16D024F5ADBD}" sibTransId="{0B6BDA3D-5874-43FD-AE05-EF261D241CE5}"/>
    <dgm:cxn modelId="{F88C4C4E-9EF6-477A-AB6D-5D4DB6E29D0D}" srcId="{691A5E6B-8D2F-4602-B45D-A83E1AA43578}" destId="{DC1F95F6-F58E-46CB-9403-4A7D51002C1E}" srcOrd="1" destOrd="0" parTransId="{86C10B4E-6DE5-42A1-BD6C-79547A1B6DE7}" sibTransId="{58A8E60A-341B-408E-A413-A8FAE49046D6}"/>
    <dgm:cxn modelId="{0EECC44F-A059-4A45-8E8C-21376D802D0F}" srcId="{DA76FC1E-B78C-4CA4-8133-08E7A1F96E60}" destId="{9F2B72B3-1E7D-41DC-AEDD-4664E6383C6D}" srcOrd="0" destOrd="0" parTransId="{F9125487-2FCF-42D2-A1CD-18208573ECBC}" sibTransId="{C96EB747-265A-4574-825F-0E6A68D97938}"/>
    <dgm:cxn modelId="{E7560E74-EB88-4AB5-AB3B-DDBCD2127091}" type="presOf" srcId="{5D0E037A-EFFB-4A4E-9D62-BFF1D9B38FB2}" destId="{48937407-45E1-4DE0-ACC5-D681E60F0BBD}" srcOrd="0" destOrd="0" presId="urn:microsoft.com/office/officeart/2005/8/layout/lProcess2"/>
    <dgm:cxn modelId="{FBC3F65A-D6A2-42DA-B7E5-B821DDE7EFC4}" srcId="{691A5E6B-8D2F-4602-B45D-A83E1AA43578}" destId="{B0AEC6A6-0096-42D3-B36A-4700DC61D0D6}" srcOrd="3" destOrd="0" parTransId="{B96C5705-66D6-443D-976F-EF813372B14F}" sibTransId="{B3404DD5-4972-4861-B4A4-D62B72BE9B18}"/>
    <dgm:cxn modelId="{AC049D81-9976-4B83-A250-87F579907070}" srcId="{3D69F0EC-337B-4EFF-BE73-8EA312AF25D4}" destId="{691A5E6B-8D2F-4602-B45D-A83E1AA43578}" srcOrd="2" destOrd="0" parTransId="{D93A13DD-E710-47F7-A648-D673CC7FAD12}" sibTransId="{EBD91639-AC65-4105-AFFD-D78DCCD89063}"/>
    <dgm:cxn modelId="{CEF47A87-C15F-4733-91A1-69708FFE85C1}" srcId="{048A8715-084C-49AA-B464-71351CE18951}" destId="{36A40916-00E7-4278-8CF3-B3CA6B5C5506}" srcOrd="1" destOrd="0" parTransId="{C849A632-3A2A-4BDD-8066-8060A642978C}" sibTransId="{67B8EBF4-E70A-4C36-B807-4A67D36DBD24}"/>
    <dgm:cxn modelId="{0B3B3088-4835-4979-83CF-088D182041C0}" type="presOf" srcId="{978F3081-603D-45EA-91D9-C82D97B42467}" destId="{AA7EFF1D-4141-4CD6-9B8B-83569781F0C5}" srcOrd="0" destOrd="0" presId="urn:microsoft.com/office/officeart/2005/8/layout/lProcess2"/>
    <dgm:cxn modelId="{B3B1188B-ED59-47C2-94A8-A6DEC6540CC8}" type="presOf" srcId="{048A8715-084C-49AA-B464-71351CE18951}" destId="{20473AD7-6FFC-4883-87A3-25FB5E4A65A7}" srcOrd="1" destOrd="0" presId="urn:microsoft.com/office/officeart/2005/8/layout/lProcess2"/>
    <dgm:cxn modelId="{03924D8D-0425-4A4A-81D9-74DD1EE66B78}" srcId="{691A5E6B-8D2F-4602-B45D-A83E1AA43578}" destId="{1E248A9D-7A5E-4A13-B33B-B2ACCE492CB8}" srcOrd="4" destOrd="0" parTransId="{6D1BA90D-6105-4DB3-B697-D5D54EB6F432}" sibTransId="{4541195D-7020-438A-85BE-54201602AA0E}"/>
    <dgm:cxn modelId="{7A510D92-DA00-4E40-BEC5-D20098B279DD}" type="presOf" srcId="{9F2B72B3-1E7D-41DC-AEDD-4664E6383C6D}" destId="{9A094AFD-02DB-46C6-9EE3-7451F1BA1158}" srcOrd="0" destOrd="0" presId="urn:microsoft.com/office/officeart/2005/8/layout/lProcess2"/>
    <dgm:cxn modelId="{3A443A96-46D9-4889-9E7F-617DEED7FD3C}" type="presOf" srcId="{1DF9B5DC-85F9-4C6F-B35F-80077192888C}" destId="{0E084248-7F80-4F2F-81A0-F769EE6D5CB7}" srcOrd="0" destOrd="0" presId="urn:microsoft.com/office/officeart/2005/8/layout/lProcess2"/>
    <dgm:cxn modelId="{DE1C75A2-3C2B-4982-A7F9-E7A90FFD06E4}" type="presOf" srcId="{691A5E6B-8D2F-4602-B45D-A83E1AA43578}" destId="{5A876917-4C52-4C6A-B0C9-C2CAF7B4E526}" srcOrd="1" destOrd="0" presId="urn:microsoft.com/office/officeart/2005/8/layout/lProcess2"/>
    <dgm:cxn modelId="{9B9CFFA5-7108-4A22-8198-3BC24C6488A2}" srcId="{DA76FC1E-B78C-4CA4-8133-08E7A1F96E60}" destId="{8EC2A943-6FDD-4A2C-B0D4-D8A383F3B7F4}" srcOrd="2" destOrd="0" parTransId="{88BA2DCA-10F3-4DDB-AC65-A491CD709B44}" sibTransId="{F55392E9-CC19-4811-B004-24B3F2373548}"/>
    <dgm:cxn modelId="{454469A9-D808-49A9-AFDD-972984C81780}" srcId="{DA76FC1E-B78C-4CA4-8133-08E7A1F96E60}" destId="{5B223889-7D84-4C3E-BD4D-0137BD9D05C1}" srcOrd="4" destOrd="0" parTransId="{E2D34031-FB3B-415C-84D4-CA122B23DD01}" sibTransId="{8FF23177-E583-4237-AB13-84C4AD3F8B85}"/>
    <dgm:cxn modelId="{3FE543AD-8FA0-48FF-AFD9-079FD6BB83F7}" type="presOf" srcId="{3D69F0EC-337B-4EFF-BE73-8EA312AF25D4}" destId="{CCEAA399-1D36-4067-A3CB-534DC8901370}" srcOrd="0" destOrd="0" presId="urn:microsoft.com/office/officeart/2005/8/layout/lProcess2"/>
    <dgm:cxn modelId="{CCC58FB6-76F4-4FA9-BE7F-CB8EFB05BBA5}" type="presOf" srcId="{94C1792A-4109-4246-B266-6B8C61F8FB0B}" destId="{EB986721-69A7-482F-9732-20564A048CEF}" srcOrd="0" destOrd="0" presId="urn:microsoft.com/office/officeart/2005/8/layout/lProcess2"/>
    <dgm:cxn modelId="{0B8D91C7-8E41-4B0D-8F7C-EE92022ED914}" srcId="{048A8715-084C-49AA-B464-71351CE18951}" destId="{13AE3B96-1EE8-4F73-876D-04279CA02463}" srcOrd="0" destOrd="0" parTransId="{B17FBD55-9172-4B82-8CA9-2010CBBAD7CE}" sibTransId="{4C1600F5-EA31-44A7-B378-86CF38781D55}"/>
    <dgm:cxn modelId="{12E6A0DD-B420-49F4-BCE0-6EDD2DFD79F8}" type="presOf" srcId="{691A5E6B-8D2F-4602-B45D-A83E1AA43578}" destId="{569B01F7-F71F-4D6C-9699-947FFD1881D1}" srcOrd="0" destOrd="0" presId="urn:microsoft.com/office/officeart/2005/8/layout/lProcess2"/>
    <dgm:cxn modelId="{910D8BE3-D086-4BC3-855F-1B5A60E2D749}" type="presOf" srcId="{8EC2A943-6FDD-4A2C-B0D4-D8A383F3B7F4}" destId="{1FC8C746-E44C-4F2D-9BD4-3B0770BD9D06}" srcOrd="0" destOrd="0" presId="urn:microsoft.com/office/officeart/2005/8/layout/lProcess2"/>
    <dgm:cxn modelId="{53A7FDF2-0D23-4676-A881-41F9789B60A7}" type="presOf" srcId="{048A8715-084C-49AA-B464-71351CE18951}" destId="{11E7D011-88C6-4E89-99FE-1138E1BC8C34}" srcOrd="0" destOrd="0" presId="urn:microsoft.com/office/officeart/2005/8/layout/lProcess2"/>
    <dgm:cxn modelId="{8A81B0FA-ED0C-45BA-A5AF-4A99523909AC}" type="presOf" srcId="{5B223889-7D84-4C3E-BD4D-0137BD9D05C1}" destId="{4E14A25E-106F-4E6A-BAFA-B912D79D301A}" srcOrd="0" destOrd="0" presId="urn:microsoft.com/office/officeart/2005/8/layout/lProcess2"/>
    <dgm:cxn modelId="{2A3EE7D1-6515-4CC6-9193-C88DE8E62D48}" type="presParOf" srcId="{CCEAA399-1D36-4067-A3CB-534DC8901370}" destId="{C5E20F3A-C63B-448B-8639-CEB58913C2C5}" srcOrd="0" destOrd="0" presId="urn:microsoft.com/office/officeart/2005/8/layout/lProcess2"/>
    <dgm:cxn modelId="{9BB84B1A-8EC4-4300-B6F5-96CE90AABB99}" type="presParOf" srcId="{C5E20F3A-C63B-448B-8639-CEB58913C2C5}" destId="{FF0BE9BA-187F-475C-826B-F7E6E36F4A63}" srcOrd="0" destOrd="0" presId="urn:microsoft.com/office/officeart/2005/8/layout/lProcess2"/>
    <dgm:cxn modelId="{3249F74B-B705-49DF-9106-9006DD660E36}" type="presParOf" srcId="{C5E20F3A-C63B-448B-8639-CEB58913C2C5}" destId="{EEB44976-6D5D-4BE0-BB25-67B9919D4AC6}" srcOrd="1" destOrd="0" presId="urn:microsoft.com/office/officeart/2005/8/layout/lProcess2"/>
    <dgm:cxn modelId="{F466053B-07FB-4F42-90FE-17CA6294AD56}" type="presParOf" srcId="{C5E20F3A-C63B-448B-8639-CEB58913C2C5}" destId="{40F55619-EDAC-4DAA-86F9-B5868BD0E98C}" srcOrd="2" destOrd="0" presId="urn:microsoft.com/office/officeart/2005/8/layout/lProcess2"/>
    <dgm:cxn modelId="{48F5FD5A-AD7B-4EDC-9452-13A0334C8BDD}" type="presParOf" srcId="{40F55619-EDAC-4DAA-86F9-B5868BD0E98C}" destId="{24849419-2707-4A6B-ABD5-A6B1B564A740}" srcOrd="0" destOrd="0" presId="urn:microsoft.com/office/officeart/2005/8/layout/lProcess2"/>
    <dgm:cxn modelId="{E34BAA3C-9E39-40E8-8234-07F20A5926B4}" type="presParOf" srcId="{24849419-2707-4A6B-ABD5-A6B1B564A740}" destId="{9A094AFD-02DB-46C6-9EE3-7451F1BA1158}" srcOrd="0" destOrd="0" presId="urn:microsoft.com/office/officeart/2005/8/layout/lProcess2"/>
    <dgm:cxn modelId="{09908089-087E-4C51-8DA2-35F73FE2B9DA}" type="presParOf" srcId="{24849419-2707-4A6B-ABD5-A6B1B564A740}" destId="{CE6D56FA-7E77-4785-AB46-2D23BC2BE79F}" srcOrd="1" destOrd="0" presId="urn:microsoft.com/office/officeart/2005/8/layout/lProcess2"/>
    <dgm:cxn modelId="{32815482-426B-4FB4-BF47-B4A3E20AC80E}" type="presParOf" srcId="{24849419-2707-4A6B-ABD5-A6B1B564A740}" destId="{AA7EFF1D-4141-4CD6-9B8B-83569781F0C5}" srcOrd="2" destOrd="0" presId="urn:microsoft.com/office/officeart/2005/8/layout/lProcess2"/>
    <dgm:cxn modelId="{97F0E09E-A414-4C73-9911-796DF014E038}" type="presParOf" srcId="{24849419-2707-4A6B-ABD5-A6B1B564A740}" destId="{D9080E50-4A45-4A63-A24D-0E69025BE615}" srcOrd="3" destOrd="0" presId="urn:microsoft.com/office/officeart/2005/8/layout/lProcess2"/>
    <dgm:cxn modelId="{40BACC57-D823-4A8C-A2FE-17E6E3897394}" type="presParOf" srcId="{24849419-2707-4A6B-ABD5-A6B1B564A740}" destId="{1FC8C746-E44C-4F2D-9BD4-3B0770BD9D06}" srcOrd="4" destOrd="0" presId="urn:microsoft.com/office/officeart/2005/8/layout/lProcess2"/>
    <dgm:cxn modelId="{497D578A-B305-4E3A-950E-080DDC13A6A2}" type="presParOf" srcId="{24849419-2707-4A6B-ABD5-A6B1B564A740}" destId="{1735487D-E5D7-4E8A-8879-ADF3479417C2}" srcOrd="5" destOrd="0" presId="urn:microsoft.com/office/officeart/2005/8/layout/lProcess2"/>
    <dgm:cxn modelId="{04C043AE-4439-480F-BAB9-84FE53F99DE5}" type="presParOf" srcId="{24849419-2707-4A6B-ABD5-A6B1B564A740}" destId="{0E084248-7F80-4F2F-81A0-F769EE6D5CB7}" srcOrd="6" destOrd="0" presId="urn:microsoft.com/office/officeart/2005/8/layout/lProcess2"/>
    <dgm:cxn modelId="{4B20C5DB-FDE0-4E31-BD9F-0C17B0A41FC9}" type="presParOf" srcId="{24849419-2707-4A6B-ABD5-A6B1B564A740}" destId="{94BF8CDE-AAB7-4B9A-9716-7C715CD2D2C1}" srcOrd="7" destOrd="0" presId="urn:microsoft.com/office/officeart/2005/8/layout/lProcess2"/>
    <dgm:cxn modelId="{2C9E0527-55A0-489B-8AF9-C66C5E579795}" type="presParOf" srcId="{24849419-2707-4A6B-ABD5-A6B1B564A740}" destId="{4E14A25E-106F-4E6A-BAFA-B912D79D301A}" srcOrd="8" destOrd="0" presId="urn:microsoft.com/office/officeart/2005/8/layout/lProcess2"/>
    <dgm:cxn modelId="{276DDDE0-B9F8-46D7-AF01-CD20D301EEFD}" type="presParOf" srcId="{CCEAA399-1D36-4067-A3CB-534DC8901370}" destId="{58429D36-D5D6-48FD-981B-5AEE95C776B9}" srcOrd="1" destOrd="0" presId="urn:microsoft.com/office/officeart/2005/8/layout/lProcess2"/>
    <dgm:cxn modelId="{F393486B-7EE4-44C6-9D00-E4A13EC03C55}" type="presParOf" srcId="{CCEAA399-1D36-4067-A3CB-534DC8901370}" destId="{25565202-C0D8-4A60-9E19-091C2460A641}" srcOrd="2" destOrd="0" presId="urn:microsoft.com/office/officeart/2005/8/layout/lProcess2"/>
    <dgm:cxn modelId="{15894DC6-3256-4FA9-841D-3D3123AE0729}" type="presParOf" srcId="{25565202-C0D8-4A60-9E19-091C2460A641}" destId="{11E7D011-88C6-4E89-99FE-1138E1BC8C34}" srcOrd="0" destOrd="0" presId="urn:microsoft.com/office/officeart/2005/8/layout/lProcess2"/>
    <dgm:cxn modelId="{D17AF955-0ED2-41F0-B774-947AAAAECA49}" type="presParOf" srcId="{25565202-C0D8-4A60-9E19-091C2460A641}" destId="{20473AD7-6FFC-4883-87A3-25FB5E4A65A7}" srcOrd="1" destOrd="0" presId="urn:microsoft.com/office/officeart/2005/8/layout/lProcess2"/>
    <dgm:cxn modelId="{87C66475-30F3-4686-9DD1-8FB754A8B0BE}" type="presParOf" srcId="{25565202-C0D8-4A60-9E19-091C2460A641}" destId="{3A7FECD4-BF27-4615-A511-5A464943392F}" srcOrd="2" destOrd="0" presId="urn:microsoft.com/office/officeart/2005/8/layout/lProcess2"/>
    <dgm:cxn modelId="{F289E787-5E73-44F0-80EE-CCC472060167}" type="presParOf" srcId="{3A7FECD4-BF27-4615-A511-5A464943392F}" destId="{950184D3-AAAE-4CA1-B94E-F81AA7B8F40A}" srcOrd="0" destOrd="0" presId="urn:microsoft.com/office/officeart/2005/8/layout/lProcess2"/>
    <dgm:cxn modelId="{12CD47FA-ED6F-46E9-943E-B75F81B2A3FE}" type="presParOf" srcId="{950184D3-AAAE-4CA1-B94E-F81AA7B8F40A}" destId="{42028F19-DFA4-4AAD-8F50-E1D7540F0FBF}" srcOrd="0" destOrd="0" presId="urn:microsoft.com/office/officeart/2005/8/layout/lProcess2"/>
    <dgm:cxn modelId="{3F3BDD87-7554-4521-95C3-B60DD589DE8B}" type="presParOf" srcId="{950184D3-AAAE-4CA1-B94E-F81AA7B8F40A}" destId="{D1747E16-E2C1-445E-A9BA-B00C694D7E97}" srcOrd="1" destOrd="0" presId="urn:microsoft.com/office/officeart/2005/8/layout/lProcess2"/>
    <dgm:cxn modelId="{9CF37C64-EBA2-4947-9819-54E7E6F69A1F}" type="presParOf" srcId="{950184D3-AAAE-4CA1-B94E-F81AA7B8F40A}" destId="{023907BA-EAE9-4AC3-AA90-8BE2B975B66B}" srcOrd="2" destOrd="0" presId="urn:microsoft.com/office/officeart/2005/8/layout/lProcess2"/>
    <dgm:cxn modelId="{39F7EDD6-042C-4EA3-A379-E607A99CCB98}" type="presParOf" srcId="{950184D3-AAAE-4CA1-B94E-F81AA7B8F40A}" destId="{C2AADE6B-26EB-4D8F-9FED-232AA50A90BD}" srcOrd="3" destOrd="0" presId="urn:microsoft.com/office/officeart/2005/8/layout/lProcess2"/>
    <dgm:cxn modelId="{B1CCAD92-862D-4C4A-AA17-96C9E441D3CB}" type="presParOf" srcId="{950184D3-AAAE-4CA1-B94E-F81AA7B8F40A}" destId="{EB986721-69A7-482F-9732-20564A048CEF}" srcOrd="4" destOrd="0" presId="urn:microsoft.com/office/officeart/2005/8/layout/lProcess2"/>
    <dgm:cxn modelId="{F9140335-E4A2-49F0-86C9-19A85A18CE8B}" type="presParOf" srcId="{950184D3-AAAE-4CA1-B94E-F81AA7B8F40A}" destId="{C68FA271-A206-4A1A-AF55-2595B8F8ECA5}" srcOrd="5" destOrd="0" presId="urn:microsoft.com/office/officeart/2005/8/layout/lProcess2"/>
    <dgm:cxn modelId="{44E586B5-7F23-488E-9709-EFF1392F2CD7}" type="presParOf" srcId="{950184D3-AAAE-4CA1-B94E-F81AA7B8F40A}" destId="{D9C7A618-ED41-408F-AECE-268667A0F004}" srcOrd="6" destOrd="0" presId="urn:microsoft.com/office/officeart/2005/8/layout/lProcess2"/>
    <dgm:cxn modelId="{DDB7FF78-4F6A-4879-9C66-901ECA79148C}" type="presParOf" srcId="{950184D3-AAAE-4CA1-B94E-F81AA7B8F40A}" destId="{14BC1C6C-F480-4FD5-A811-FC691AE2339D}" srcOrd="7" destOrd="0" presId="urn:microsoft.com/office/officeart/2005/8/layout/lProcess2"/>
    <dgm:cxn modelId="{4D8062E4-7206-4538-B18B-A6913503B203}" type="presParOf" srcId="{950184D3-AAAE-4CA1-B94E-F81AA7B8F40A}" destId="{5D76C18A-F01A-4551-86CB-77D882407250}" srcOrd="8" destOrd="0" presId="urn:microsoft.com/office/officeart/2005/8/layout/lProcess2"/>
    <dgm:cxn modelId="{CE6AFC98-2294-4A8F-AC23-7D936CD89BB7}" type="presParOf" srcId="{CCEAA399-1D36-4067-A3CB-534DC8901370}" destId="{653BDA0E-20B8-486B-BA27-453A0F6A5030}" srcOrd="3" destOrd="0" presId="urn:microsoft.com/office/officeart/2005/8/layout/lProcess2"/>
    <dgm:cxn modelId="{3586FBC9-1EDA-4CB1-8646-CF09C8B10B31}" type="presParOf" srcId="{CCEAA399-1D36-4067-A3CB-534DC8901370}" destId="{ABDDB8F7-3D0E-4704-BECF-08476797C785}" srcOrd="4" destOrd="0" presId="urn:microsoft.com/office/officeart/2005/8/layout/lProcess2"/>
    <dgm:cxn modelId="{9289FB49-6417-44E9-AE5F-855472EF6B2B}" type="presParOf" srcId="{ABDDB8F7-3D0E-4704-BECF-08476797C785}" destId="{569B01F7-F71F-4D6C-9699-947FFD1881D1}" srcOrd="0" destOrd="0" presId="urn:microsoft.com/office/officeart/2005/8/layout/lProcess2"/>
    <dgm:cxn modelId="{6D0435CA-5967-4801-A0FA-9FAC8705145E}" type="presParOf" srcId="{ABDDB8F7-3D0E-4704-BECF-08476797C785}" destId="{5A876917-4C52-4C6A-B0C9-C2CAF7B4E526}" srcOrd="1" destOrd="0" presId="urn:microsoft.com/office/officeart/2005/8/layout/lProcess2"/>
    <dgm:cxn modelId="{9913FF15-C8F5-4792-A832-98D759E22AE5}" type="presParOf" srcId="{ABDDB8F7-3D0E-4704-BECF-08476797C785}" destId="{103EFC57-5539-4979-8747-1A166917288E}" srcOrd="2" destOrd="0" presId="urn:microsoft.com/office/officeart/2005/8/layout/lProcess2"/>
    <dgm:cxn modelId="{406DC0AD-DACF-4740-B853-E9D7CD51CC28}" type="presParOf" srcId="{103EFC57-5539-4979-8747-1A166917288E}" destId="{3F89802A-CA66-42AE-8C7E-FE2E7A25098A}" srcOrd="0" destOrd="0" presId="urn:microsoft.com/office/officeart/2005/8/layout/lProcess2"/>
    <dgm:cxn modelId="{4B7D5CFF-57E3-4D64-8550-4C1EF4611714}" type="presParOf" srcId="{3F89802A-CA66-42AE-8C7E-FE2E7A25098A}" destId="{CFE42088-5D02-4442-A723-A383E84EAC96}" srcOrd="0" destOrd="0" presId="urn:microsoft.com/office/officeart/2005/8/layout/lProcess2"/>
    <dgm:cxn modelId="{9BEA7D94-AFBE-46C7-923B-E99179907D0C}" type="presParOf" srcId="{3F89802A-CA66-42AE-8C7E-FE2E7A25098A}" destId="{1EBDFF14-DE3A-4917-9C45-D2E8D210CAEA}" srcOrd="1" destOrd="0" presId="urn:microsoft.com/office/officeart/2005/8/layout/lProcess2"/>
    <dgm:cxn modelId="{AD0C02F3-16DF-4264-BDF5-780B23E78806}" type="presParOf" srcId="{3F89802A-CA66-42AE-8C7E-FE2E7A25098A}" destId="{FF5FD654-7759-48F6-B865-76ADFAA0604F}" srcOrd="2" destOrd="0" presId="urn:microsoft.com/office/officeart/2005/8/layout/lProcess2"/>
    <dgm:cxn modelId="{A4B7FE02-DFC9-49D8-AC4F-B09017D4707F}" type="presParOf" srcId="{3F89802A-CA66-42AE-8C7E-FE2E7A25098A}" destId="{A567933F-FC29-4DD2-A9C9-9DE11B37C440}" srcOrd="3" destOrd="0" presId="urn:microsoft.com/office/officeart/2005/8/layout/lProcess2"/>
    <dgm:cxn modelId="{14E13065-9E5E-43DD-8461-BC737C8A3721}" type="presParOf" srcId="{3F89802A-CA66-42AE-8C7E-FE2E7A25098A}" destId="{48937407-45E1-4DE0-ACC5-D681E60F0BBD}" srcOrd="4" destOrd="0" presId="urn:microsoft.com/office/officeart/2005/8/layout/lProcess2"/>
    <dgm:cxn modelId="{7E46F9F8-F0A0-40E1-A93E-1C1844664EDB}" type="presParOf" srcId="{3F89802A-CA66-42AE-8C7E-FE2E7A25098A}" destId="{8C443C78-3D0D-46C5-A466-E1E9D62E9A95}" srcOrd="5" destOrd="0" presId="urn:microsoft.com/office/officeart/2005/8/layout/lProcess2"/>
    <dgm:cxn modelId="{1D67E9F1-5BB3-430F-B554-6EF44179E9AD}" type="presParOf" srcId="{3F89802A-CA66-42AE-8C7E-FE2E7A25098A}" destId="{F26F6173-B0F8-466C-9325-A849DD1FE508}" srcOrd="6" destOrd="0" presId="urn:microsoft.com/office/officeart/2005/8/layout/lProcess2"/>
    <dgm:cxn modelId="{86552F75-F73B-48EA-B8DC-0B4D99D2F962}" type="presParOf" srcId="{3F89802A-CA66-42AE-8C7E-FE2E7A25098A}" destId="{812AFEBD-900C-4951-8A08-F6D96BC44F08}" srcOrd="7" destOrd="0" presId="urn:microsoft.com/office/officeart/2005/8/layout/lProcess2"/>
    <dgm:cxn modelId="{0F61D803-5DC3-4B2A-AE5B-CF0BCAE6B061}" type="presParOf" srcId="{3F89802A-CA66-42AE-8C7E-FE2E7A25098A}" destId="{2F8C6D33-2B3C-4437-85EB-5F3C44F67FF2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32D577-C01C-49A8-8CFF-FC346EC856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33465-F333-4830-943B-CA19CB7C74CC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gm:t>
    </dgm:pt>
    <dgm:pt modelId="{52003479-7117-44EB-B55A-01EFB0307C89}" type="parTrans" cxnId="{50643BAF-FB3D-44DD-A70F-0C0B4D7B335B}">
      <dgm:prSet/>
      <dgm:spPr/>
      <dgm:t>
        <a:bodyPr/>
        <a:lstStyle/>
        <a:p>
          <a:endParaRPr lang="en-US"/>
        </a:p>
      </dgm:t>
    </dgm:pt>
    <dgm:pt modelId="{F5F1F01C-F928-4462-B210-22164D01714F}" type="sibTrans" cxnId="{50643BAF-FB3D-44DD-A70F-0C0B4D7B335B}">
      <dgm:prSet/>
      <dgm:spPr/>
      <dgm:t>
        <a:bodyPr/>
        <a:lstStyle/>
        <a:p>
          <a:endParaRPr lang="en-US"/>
        </a:p>
      </dgm:t>
    </dgm:pt>
    <dgm:pt modelId="{9752865E-DA87-4CE7-B577-BD15BD681238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gm:t>
    </dgm:pt>
    <dgm:pt modelId="{102262E9-62F1-48A1-B118-E5C5D83EEC6F}" type="parTrans" cxnId="{94CAC814-0B37-421E-8634-3CD26D6793FE}">
      <dgm:prSet/>
      <dgm:spPr/>
      <dgm:t>
        <a:bodyPr/>
        <a:lstStyle/>
        <a:p>
          <a:endParaRPr lang="en-US"/>
        </a:p>
      </dgm:t>
    </dgm:pt>
    <dgm:pt modelId="{E7DF549B-808C-4830-8545-FECB8F1A6C86}" type="sibTrans" cxnId="{94CAC814-0B37-421E-8634-3CD26D6793FE}">
      <dgm:prSet/>
      <dgm:spPr/>
      <dgm:t>
        <a:bodyPr/>
        <a:lstStyle/>
        <a:p>
          <a:endParaRPr lang="en-US"/>
        </a:p>
      </dgm:t>
    </dgm:pt>
    <dgm:pt modelId="{03FE1EF2-6A54-4AE5-A428-D4914355E1A0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gm:t>
    </dgm:pt>
    <dgm:pt modelId="{962F8429-7B02-416F-A1AE-B10EAD0C6D0C}" type="parTrans" cxnId="{703C4CA9-4922-49C0-903E-1DBDA8E4062A}">
      <dgm:prSet/>
      <dgm:spPr/>
      <dgm:t>
        <a:bodyPr/>
        <a:lstStyle/>
        <a:p>
          <a:endParaRPr lang="en-US"/>
        </a:p>
      </dgm:t>
    </dgm:pt>
    <dgm:pt modelId="{5A32A27A-4A20-4177-82E5-43B8CD346DD9}" type="sibTrans" cxnId="{703C4CA9-4922-49C0-903E-1DBDA8E4062A}">
      <dgm:prSet/>
      <dgm:spPr/>
      <dgm:t>
        <a:bodyPr/>
        <a:lstStyle/>
        <a:p>
          <a:endParaRPr lang="en-US"/>
        </a:p>
      </dgm:t>
    </dgm:pt>
    <dgm:pt modelId="{F037054F-8C00-47E2-B6DB-643C9A5AC961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gm:t>
    </dgm:pt>
    <dgm:pt modelId="{6DD12FAA-0C45-41A9-97FF-49DAA22A72A3}" type="parTrans" cxnId="{A472805A-7795-4724-8738-2E8737176C40}">
      <dgm:prSet/>
      <dgm:spPr/>
      <dgm:t>
        <a:bodyPr/>
        <a:lstStyle/>
        <a:p>
          <a:endParaRPr lang="en-US"/>
        </a:p>
      </dgm:t>
    </dgm:pt>
    <dgm:pt modelId="{2961B3D1-51A4-490F-8CA3-E15FA7DFFFAA}" type="sibTrans" cxnId="{A472805A-7795-4724-8738-2E8737176C40}">
      <dgm:prSet/>
      <dgm:spPr/>
      <dgm:t>
        <a:bodyPr/>
        <a:lstStyle/>
        <a:p>
          <a:endParaRPr lang="en-US"/>
        </a:p>
      </dgm:t>
    </dgm:pt>
    <dgm:pt modelId="{38A08805-47E5-46DD-BDBB-318AABDE814E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gm:t>
    </dgm:pt>
    <dgm:pt modelId="{826DEE8A-7180-49E2-9E3A-1DF59A00CE6C}" type="parTrans" cxnId="{3A35708C-0A9E-45D6-BC2F-FBBF27447727}">
      <dgm:prSet/>
      <dgm:spPr/>
      <dgm:t>
        <a:bodyPr/>
        <a:lstStyle/>
        <a:p>
          <a:endParaRPr lang="en-US"/>
        </a:p>
      </dgm:t>
    </dgm:pt>
    <dgm:pt modelId="{B00D5B89-A077-40EE-A955-D312440CE46A}" type="sibTrans" cxnId="{3A35708C-0A9E-45D6-BC2F-FBBF27447727}">
      <dgm:prSet/>
      <dgm:spPr/>
      <dgm:t>
        <a:bodyPr/>
        <a:lstStyle/>
        <a:p>
          <a:endParaRPr lang="en-US"/>
        </a:p>
      </dgm:t>
    </dgm:pt>
    <dgm:pt modelId="{800460B9-4119-4671-8E51-7979BFDFED25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Extensible to 30+ strip types across human and animal health.</a:t>
          </a:r>
        </a:p>
      </dgm:t>
    </dgm:pt>
    <dgm:pt modelId="{B8BE5206-F306-4181-97D5-81AD569876B3}" type="parTrans" cxnId="{685A19D4-DF89-4A61-83B3-20C244467B7A}">
      <dgm:prSet/>
      <dgm:spPr/>
      <dgm:t>
        <a:bodyPr/>
        <a:lstStyle/>
        <a:p>
          <a:endParaRPr lang="en-US"/>
        </a:p>
      </dgm:t>
    </dgm:pt>
    <dgm:pt modelId="{228AD07E-0150-4BED-B12E-2F90CED5802F}" type="sibTrans" cxnId="{685A19D4-DF89-4A61-83B3-20C244467B7A}">
      <dgm:prSet/>
      <dgm:spPr/>
      <dgm:t>
        <a:bodyPr/>
        <a:lstStyle/>
        <a:p>
          <a:endParaRPr lang="en-US"/>
        </a:p>
      </dgm:t>
    </dgm:pt>
    <dgm:pt modelId="{685A7A7D-AA46-4EE8-93CA-FECED8D00B14}" type="pres">
      <dgm:prSet presAssocID="{9432D577-C01C-49A8-8CFF-FC346EC85683}" presName="linear" presStyleCnt="0">
        <dgm:presLayoutVars>
          <dgm:animLvl val="lvl"/>
          <dgm:resizeHandles val="exact"/>
        </dgm:presLayoutVars>
      </dgm:prSet>
      <dgm:spPr/>
    </dgm:pt>
    <dgm:pt modelId="{DAF3D4FB-A1BB-4095-8D36-71DDCD034F8A}" type="pres">
      <dgm:prSet presAssocID="{F6233465-F333-4830-943B-CA19CB7C74C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4F80A17-8799-4B94-BB81-DE07B5D0B877}" type="pres">
      <dgm:prSet presAssocID="{F5F1F01C-F928-4462-B210-22164D01714F}" presName="spacer" presStyleCnt="0"/>
      <dgm:spPr/>
    </dgm:pt>
    <dgm:pt modelId="{24B45B36-5FBB-487A-BABB-587EC36845B7}" type="pres">
      <dgm:prSet presAssocID="{9752865E-DA87-4CE7-B577-BD15BD68123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E4B3A16-5E3C-4148-96A5-7C0B556A1AF1}" type="pres">
      <dgm:prSet presAssocID="{E7DF549B-808C-4830-8545-FECB8F1A6C86}" presName="spacer" presStyleCnt="0"/>
      <dgm:spPr/>
    </dgm:pt>
    <dgm:pt modelId="{E0BF5500-497C-4909-90E0-A771F99C711F}" type="pres">
      <dgm:prSet presAssocID="{03FE1EF2-6A54-4AE5-A428-D4914355E1A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E78A01E-EF38-4917-8636-5D53BDC6B874}" type="pres">
      <dgm:prSet presAssocID="{5A32A27A-4A20-4177-82E5-43B8CD346DD9}" presName="spacer" presStyleCnt="0"/>
      <dgm:spPr/>
    </dgm:pt>
    <dgm:pt modelId="{438C0FC8-5A47-4A67-AED0-1920D58120A2}" type="pres">
      <dgm:prSet presAssocID="{F037054F-8C00-47E2-B6DB-643C9A5AC96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1978850-BE66-4A3F-A00E-2855465160DA}" type="pres">
      <dgm:prSet presAssocID="{2961B3D1-51A4-490F-8CA3-E15FA7DFFFAA}" presName="spacer" presStyleCnt="0"/>
      <dgm:spPr/>
    </dgm:pt>
    <dgm:pt modelId="{D7473D68-EE5C-4927-941B-BDDAF9AC275F}" type="pres">
      <dgm:prSet presAssocID="{38A08805-47E5-46DD-BDBB-318AABDE814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3150AE8-DF47-47F0-B4EF-662C0AEEAA03}" type="pres">
      <dgm:prSet presAssocID="{B00D5B89-A077-40EE-A955-D312440CE46A}" presName="spacer" presStyleCnt="0"/>
      <dgm:spPr/>
    </dgm:pt>
    <dgm:pt modelId="{D948EDCD-243F-45EA-A59B-B1CC8AB7C7C2}" type="pres">
      <dgm:prSet presAssocID="{800460B9-4119-4671-8E51-7979BFDFED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4CAC814-0B37-421E-8634-3CD26D6793FE}" srcId="{9432D577-C01C-49A8-8CFF-FC346EC85683}" destId="{9752865E-DA87-4CE7-B577-BD15BD681238}" srcOrd="1" destOrd="0" parTransId="{102262E9-62F1-48A1-B118-E5C5D83EEC6F}" sibTransId="{E7DF549B-808C-4830-8545-FECB8F1A6C86}"/>
    <dgm:cxn modelId="{B626C019-A5CB-48EE-9F73-FAAE31202C12}" type="presOf" srcId="{F037054F-8C00-47E2-B6DB-643C9A5AC961}" destId="{438C0FC8-5A47-4A67-AED0-1920D58120A2}" srcOrd="0" destOrd="0" presId="urn:microsoft.com/office/officeart/2005/8/layout/vList2"/>
    <dgm:cxn modelId="{7716471B-576C-476F-98E4-D21FDB4AC766}" type="presOf" srcId="{03FE1EF2-6A54-4AE5-A428-D4914355E1A0}" destId="{E0BF5500-497C-4909-90E0-A771F99C711F}" srcOrd="0" destOrd="0" presId="urn:microsoft.com/office/officeart/2005/8/layout/vList2"/>
    <dgm:cxn modelId="{6B921740-A879-4D29-ACD6-2FAE7E7E74B6}" type="presOf" srcId="{38A08805-47E5-46DD-BDBB-318AABDE814E}" destId="{D7473D68-EE5C-4927-941B-BDDAF9AC275F}" srcOrd="0" destOrd="0" presId="urn:microsoft.com/office/officeart/2005/8/layout/vList2"/>
    <dgm:cxn modelId="{6C21B65E-C724-4D73-BBDF-5E367140881B}" type="presOf" srcId="{9752865E-DA87-4CE7-B577-BD15BD681238}" destId="{24B45B36-5FBB-487A-BABB-587EC36845B7}" srcOrd="0" destOrd="0" presId="urn:microsoft.com/office/officeart/2005/8/layout/vList2"/>
    <dgm:cxn modelId="{21E01460-61F7-4B8A-940B-55F219222744}" type="presOf" srcId="{F6233465-F333-4830-943B-CA19CB7C74CC}" destId="{DAF3D4FB-A1BB-4095-8D36-71DDCD034F8A}" srcOrd="0" destOrd="0" presId="urn:microsoft.com/office/officeart/2005/8/layout/vList2"/>
    <dgm:cxn modelId="{E341A54D-D9AF-4F18-9CEA-99FFD867BF39}" type="presOf" srcId="{800460B9-4119-4671-8E51-7979BFDFED25}" destId="{D948EDCD-243F-45EA-A59B-B1CC8AB7C7C2}" srcOrd="0" destOrd="0" presId="urn:microsoft.com/office/officeart/2005/8/layout/vList2"/>
    <dgm:cxn modelId="{A472805A-7795-4724-8738-2E8737176C40}" srcId="{9432D577-C01C-49A8-8CFF-FC346EC85683}" destId="{F037054F-8C00-47E2-B6DB-643C9A5AC961}" srcOrd="3" destOrd="0" parTransId="{6DD12FAA-0C45-41A9-97FF-49DAA22A72A3}" sibTransId="{2961B3D1-51A4-490F-8CA3-E15FA7DFFFAA}"/>
    <dgm:cxn modelId="{3A35708C-0A9E-45D6-BC2F-FBBF27447727}" srcId="{9432D577-C01C-49A8-8CFF-FC346EC85683}" destId="{38A08805-47E5-46DD-BDBB-318AABDE814E}" srcOrd="4" destOrd="0" parTransId="{826DEE8A-7180-49E2-9E3A-1DF59A00CE6C}" sibTransId="{B00D5B89-A077-40EE-A955-D312440CE46A}"/>
    <dgm:cxn modelId="{703C4CA9-4922-49C0-903E-1DBDA8E4062A}" srcId="{9432D577-C01C-49A8-8CFF-FC346EC85683}" destId="{03FE1EF2-6A54-4AE5-A428-D4914355E1A0}" srcOrd="2" destOrd="0" parTransId="{962F8429-7B02-416F-A1AE-B10EAD0C6D0C}" sibTransId="{5A32A27A-4A20-4177-82E5-43B8CD346DD9}"/>
    <dgm:cxn modelId="{50643BAF-FB3D-44DD-A70F-0C0B4D7B335B}" srcId="{9432D577-C01C-49A8-8CFF-FC346EC85683}" destId="{F6233465-F333-4830-943B-CA19CB7C74CC}" srcOrd="0" destOrd="0" parTransId="{52003479-7117-44EB-B55A-01EFB0307C89}" sibTransId="{F5F1F01C-F928-4462-B210-22164D01714F}"/>
    <dgm:cxn modelId="{84FE58BB-7424-442F-8B70-51B82DDF6AB9}" type="presOf" srcId="{9432D577-C01C-49A8-8CFF-FC346EC85683}" destId="{685A7A7D-AA46-4EE8-93CA-FECED8D00B14}" srcOrd="0" destOrd="0" presId="urn:microsoft.com/office/officeart/2005/8/layout/vList2"/>
    <dgm:cxn modelId="{685A19D4-DF89-4A61-83B3-20C244467B7A}" srcId="{9432D577-C01C-49A8-8CFF-FC346EC85683}" destId="{800460B9-4119-4671-8E51-7979BFDFED25}" srcOrd="5" destOrd="0" parTransId="{B8BE5206-F306-4181-97D5-81AD569876B3}" sibTransId="{228AD07E-0150-4BED-B12E-2F90CED5802F}"/>
    <dgm:cxn modelId="{09922CCD-1CBA-4D7A-A717-5D9A92707AAD}" type="presParOf" srcId="{685A7A7D-AA46-4EE8-93CA-FECED8D00B14}" destId="{DAF3D4FB-A1BB-4095-8D36-71DDCD034F8A}" srcOrd="0" destOrd="0" presId="urn:microsoft.com/office/officeart/2005/8/layout/vList2"/>
    <dgm:cxn modelId="{F7EF9CF4-CD0C-405F-9CA8-32EF0486CA62}" type="presParOf" srcId="{685A7A7D-AA46-4EE8-93CA-FECED8D00B14}" destId="{14F80A17-8799-4B94-BB81-DE07B5D0B877}" srcOrd="1" destOrd="0" presId="urn:microsoft.com/office/officeart/2005/8/layout/vList2"/>
    <dgm:cxn modelId="{ECB430F9-BBBA-406A-B1B4-4B1264207392}" type="presParOf" srcId="{685A7A7D-AA46-4EE8-93CA-FECED8D00B14}" destId="{24B45B36-5FBB-487A-BABB-587EC36845B7}" srcOrd="2" destOrd="0" presId="urn:microsoft.com/office/officeart/2005/8/layout/vList2"/>
    <dgm:cxn modelId="{AB4D64FF-1BCF-48AB-9735-02DC343E3F7C}" type="presParOf" srcId="{685A7A7D-AA46-4EE8-93CA-FECED8D00B14}" destId="{8E4B3A16-5E3C-4148-96A5-7C0B556A1AF1}" srcOrd="3" destOrd="0" presId="urn:microsoft.com/office/officeart/2005/8/layout/vList2"/>
    <dgm:cxn modelId="{5491BEC6-ABC8-4FCF-9941-BF75974B8A02}" type="presParOf" srcId="{685A7A7D-AA46-4EE8-93CA-FECED8D00B14}" destId="{E0BF5500-497C-4909-90E0-A771F99C711F}" srcOrd="4" destOrd="0" presId="urn:microsoft.com/office/officeart/2005/8/layout/vList2"/>
    <dgm:cxn modelId="{662AFB04-2E7F-4D40-A973-85259D02DE4B}" type="presParOf" srcId="{685A7A7D-AA46-4EE8-93CA-FECED8D00B14}" destId="{2E78A01E-EF38-4917-8636-5D53BDC6B874}" srcOrd="5" destOrd="0" presId="urn:microsoft.com/office/officeart/2005/8/layout/vList2"/>
    <dgm:cxn modelId="{43205832-E262-42B0-AEC3-A2C67C2A1641}" type="presParOf" srcId="{685A7A7D-AA46-4EE8-93CA-FECED8D00B14}" destId="{438C0FC8-5A47-4A67-AED0-1920D58120A2}" srcOrd="6" destOrd="0" presId="urn:microsoft.com/office/officeart/2005/8/layout/vList2"/>
    <dgm:cxn modelId="{3265E90E-21B4-4BB2-BFE4-C3A0843ACA3B}" type="presParOf" srcId="{685A7A7D-AA46-4EE8-93CA-FECED8D00B14}" destId="{E1978850-BE66-4A3F-A00E-2855465160DA}" srcOrd="7" destOrd="0" presId="urn:microsoft.com/office/officeart/2005/8/layout/vList2"/>
    <dgm:cxn modelId="{6AD4D369-C1B0-4637-9ACB-0723016B3F73}" type="presParOf" srcId="{685A7A7D-AA46-4EE8-93CA-FECED8D00B14}" destId="{D7473D68-EE5C-4927-941B-BDDAF9AC275F}" srcOrd="8" destOrd="0" presId="urn:microsoft.com/office/officeart/2005/8/layout/vList2"/>
    <dgm:cxn modelId="{3927DB47-ADD8-40F1-9C04-0F6F9CA838C8}" type="presParOf" srcId="{685A7A7D-AA46-4EE8-93CA-FECED8D00B14}" destId="{B3150AE8-DF47-47F0-B4EF-662C0AEEAA03}" srcOrd="9" destOrd="0" presId="urn:microsoft.com/office/officeart/2005/8/layout/vList2"/>
    <dgm:cxn modelId="{7A7D6D23-860B-4F8B-BC92-DCE96F599110}" type="presParOf" srcId="{685A7A7D-AA46-4EE8-93CA-FECED8D00B14}" destId="{D948EDCD-243F-45EA-A59B-B1CC8AB7C7C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BE9BA-187F-475C-826B-F7E6E36F4A63}">
      <dsp:nvSpPr>
        <dsp:cNvPr id="0" name=""/>
        <dsp:cNvSpPr/>
      </dsp:nvSpPr>
      <dsp:spPr>
        <a:xfrm>
          <a:off x="0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baseline="0" dirty="0"/>
            <a:t>1 vs. Imported </a:t>
          </a:r>
          <a:r>
            <a:rPr lang="en-IN" sz="1800" b="1" i="0" kern="1200" baseline="0" dirty="0" err="1"/>
            <a:t>Analyzers</a:t>
          </a:r>
          <a:endParaRPr lang="en-US" sz="1800" kern="1200" dirty="0"/>
        </a:p>
      </dsp:txBody>
      <dsp:txXfrm>
        <a:off x="0" y="0"/>
        <a:ext cx="3117810" cy="1221946"/>
      </dsp:txXfrm>
    </dsp:sp>
    <dsp:sp modelId="{9A094AFD-02DB-46C6-9EE3-7451F1BA1158}">
      <dsp:nvSpPr>
        <dsp:cNvPr id="0" name=""/>
        <dsp:cNvSpPr/>
      </dsp:nvSpPr>
      <dsp:spPr>
        <a:xfrm>
          <a:off x="312980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90% lower cost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1236518"/>
        <a:ext cx="2466646" cy="443605"/>
      </dsp:txXfrm>
    </dsp:sp>
    <dsp:sp modelId="{AA7EFF1D-4141-4CD6-9B8B-83569781F0C5}">
      <dsp:nvSpPr>
        <dsp:cNvPr id="0" name=""/>
        <dsp:cNvSpPr/>
      </dsp:nvSpPr>
      <dsp:spPr>
        <a:xfrm>
          <a:off x="312980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Universal strip compatibility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1780219"/>
        <a:ext cx="2466646" cy="443605"/>
      </dsp:txXfrm>
    </dsp:sp>
    <dsp:sp modelId="{1FC8C746-E44C-4F2D-9BD4-3B0770BD9D06}">
      <dsp:nvSpPr>
        <dsp:cNvPr id="0" name=""/>
        <dsp:cNvSpPr/>
      </dsp:nvSpPr>
      <dsp:spPr>
        <a:xfrm>
          <a:off x="312980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Portable &amp; field-deployable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2323919"/>
        <a:ext cx="2466646" cy="443605"/>
      </dsp:txXfrm>
    </dsp:sp>
    <dsp:sp modelId="{0E084248-7F80-4F2F-81A0-F769EE6D5CB7}">
      <dsp:nvSpPr>
        <dsp:cNvPr id="0" name=""/>
        <dsp:cNvSpPr/>
      </dsp:nvSpPr>
      <dsp:spPr>
        <a:xfrm>
          <a:off x="312980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electricity requirement 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2867620"/>
        <a:ext cx="2466646" cy="443605"/>
      </dsp:txXfrm>
    </dsp:sp>
    <dsp:sp modelId="{4E14A25E-106F-4E6A-BAFA-B912D79D301A}">
      <dsp:nvSpPr>
        <dsp:cNvPr id="0" name=""/>
        <dsp:cNvSpPr/>
      </dsp:nvSpPr>
      <dsp:spPr>
        <a:xfrm>
          <a:off x="312980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Indigenous manufacturing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26781" y="3411321"/>
        <a:ext cx="2466646" cy="443605"/>
      </dsp:txXfrm>
    </dsp:sp>
    <dsp:sp modelId="{11E7D011-88C6-4E89-99FE-1138E1BC8C34}">
      <dsp:nvSpPr>
        <dsp:cNvPr id="0" name=""/>
        <dsp:cNvSpPr/>
      </dsp:nvSpPr>
      <dsp:spPr>
        <a:xfrm>
          <a:off x="3352844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baseline="0" dirty="0"/>
            <a:t>2 vs. Manual Reading</a:t>
          </a:r>
          <a:endParaRPr lang="en-US" sz="1800" kern="1200" dirty="0"/>
        </a:p>
      </dsp:txBody>
      <dsp:txXfrm>
        <a:off x="3352844" y="0"/>
        <a:ext cx="3117810" cy="1221946"/>
      </dsp:txXfrm>
    </dsp:sp>
    <dsp:sp modelId="{42028F19-DFA4-4AAD-8F50-E1D7540F0FBF}">
      <dsp:nvSpPr>
        <dsp:cNvPr id="0" name=""/>
        <dsp:cNvSpPr/>
      </dsp:nvSpPr>
      <dsp:spPr>
        <a:xfrm>
          <a:off x="3664625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human error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1236518"/>
        <a:ext cx="2466646" cy="443605"/>
      </dsp:txXfrm>
    </dsp:sp>
    <dsp:sp modelId="{023907BA-EAE9-4AC3-AA90-8BE2B975B66B}">
      <dsp:nvSpPr>
        <dsp:cNvPr id="0" name=""/>
        <dsp:cNvSpPr/>
      </dsp:nvSpPr>
      <dsp:spPr>
        <a:xfrm>
          <a:off x="3664625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Standardized results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1780219"/>
        <a:ext cx="2466646" cy="443605"/>
      </dsp:txXfrm>
    </dsp:sp>
    <dsp:sp modelId="{EB986721-69A7-482F-9732-20564A048CEF}">
      <dsp:nvSpPr>
        <dsp:cNvPr id="0" name=""/>
        <dsp:cNvSpPr/>
      </dsp:nvSpPr>
      <dsp:spPr>
        <a:xfrm>
          <a:off x="3664625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Digital records &amp; traceability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2323919"/>
        <a:ext cx="2466646" cy="443605"/>
      </dsp:txXfrm>
    </dsp:sp>
    <dsp:sp modelId="{D9C7A618-ED41-408F-AECE-268667A0F004}">
      <dsp:nvSpPr>
        <dsp:cNvPr id="0" name=""/>
        <dsp:cNvSpPr/>
      </dsp:nvSpPr>
      <dsp:spPr>
        <a:xfrm>
          <a:off x="3664625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expertise required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2867620"/>
        <a:ext cx="2466646" cy="443605"/>
      </dsp:txXfrm>
    </dsp:sp>
    <dsp:sp modelId="{5D76C18A-F01A-4551-86CB-77D882407250}">
      <dsp:nvSpPr>
        <dsp:cNvPr id="0" name=""/>
        <dsp:cNvSpPr/>
      </dsp:nvSpPr>
      <dsp:spPr>
        <a:xfrm>
          <a:off x="3664625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Faster turnaround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8426" y="3411321"/>
        <a:ext cx="2466646" cy="443605"/>
      </dsp:txXfrm>
    </dsp:sp>
    <dsp:sp modelId="{569B01F7-F71F-4D6C-9699-947FFD1881D1}">
      <dsp:nvSpPr>
        <dsp:cNvPr id="0" name=""/>
        <dsp:cNvSpPr/>
      </dsp:nvSpPr>
      <dsp:spPr>
        <a:xfrm>
          <a:off x="6704490" y="0"/>
          <a:ext cx="3117810" cy="4073156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baseline="0"/>
            <a:t>3 vs. Lab-Based Testing</a:t>
          </a:r>
          <a:endParaRPr lang="en-US" sz="1800" kern="1200" dirty="0"/>
        </a:p>
      </dsp:txBody>
      <dsp:txXfrm>
        <a:off x="6704490" y="0"/>
        <a:ext cx="3117810" cy="1221946"/>
      </dsp:txXfrm>
    </dsp:sp>
    <dsp:sp modelId="{CFE42088-5D02-4442-A723-A383E84EAC96}">
      <dsp:nvSpPr>
        <dsp:cNvPr id="0" name=""/>
        <dsp:cNvSpPr/>
      </dsp:nvSpPr>
      <dsp:spPr>
        <a:xfrm>
          <a:off x="7016271" y="1222717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Point-of-care results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1236518"/>
        <a:ext cx="2466646" cy="443605"/>
      </dsp:txXfrm>
    </dsp:sp>
    <dsp:sp modelId="{FF5FD654-7759-48F6-B865-76ADFAA0604F}">
      <dsp:nvSpPr>
        <dsp:cNvPr id="0" name=""/>
        <dsp:cNvSpPr/>
      </dsp:nvSpPr>
      <dsp:spPr>
        <a:xfrm>
          <a:off x="7016271" y="17664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10x lower cost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1780219"/>
        <a:ext cx="2466646" cy="443605"/>
      </dsp:txXfrm>
    </dsp:sp>
    <dsp:sp modelId="{48937407-45E1-4DE0-ACC5-D681E60F0BBD}">
      <dsp:nvSpPr>
        <dsp:cNvPr id="0" name=""/>
        <dsp:cNvSpPr/>
      </dsp:nvSpPr>
      <dsp:spPr>
        <a:xfrm>
          <a:off x="7016271" y="2310118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No sample transport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2323919"/>
        <a:ext cx="2466646" cy="443605"/>
      </dsp:txXfrm>
    </dsp:sp>
    <dsp:sp modelId="{F26F6173-B0F8-466C-9325-A849DD1FE508}">
      <dsp:nvSpPr>
        <dsp:cNvPr id="0" name=""/>
        <dsp:cNvSpPr/>
      </dsp:nvSpPr>
      <dsp:spPr>
        <a:xfrm>
          <a:off x="7016271" y="2853819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Immediate clinical decision support 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2867620"/>
        <a:ext cx="2466646" cy="443605"/>
      </dsp:txXfrm>
    </dsp:sp>
    <dsp:sp modelId="{2F8C6D33-2B3C-4437-85EB-5F3C44F67FF2}">
      <dsp:nvSpPr>
        <dsp:cNvPr id="0" name=""/>
        <dsp:cNvSpPr/>
      </dsp:nvSpPr>
      <dsp:spPr>
        <a:xfrm>
          <a:off x="7016271" y="3397520"/>
          <a:ext cx="2494248" cy="47120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Higher compliance &amp; follow-up</a:t>
          </a:r>
          <a:endParaRPr lang="en-US" sz="16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030072" y="3411321"/>
        <a:ext cx="2466646" cy="4436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3D4FB-A1BB-4095-8D36-71DDCD034F8A}">
      <dsp:nvSpPr>
        <dsp:cNvPr id="0" name=""/>
        <dsp:cNvSpPr/>
      </dsp:nvSpPr>
      <dsp:spPr>
        <a:xfrm>
          <a:off x="0" y="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Blood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Hemoglobin, cholesterol, malaria, and rapid test kits.</a:t>
          </a:r>
        </a:p>
      </dsp:txBody>
      <dsp:txXfrm>
        <a:off x="22846" y="23895"/>
        <a:ext cx="10528856" cy="422308"/>
      </dsp:txXfrm>
    </dsp:sp>
    <dsp:sp modelId="{24B45B36-5FBB-487A-BABB-587EC36845B7}">
      <dsp:nvSpPr>
        <dsp:cNvPr id="0" name=""/>
        <dsp:cNvSpPr/>
      </dsp:nvSpPr>
      <dsp:spPr>
        <a:xfrm>
          <a:off x="0" y="54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Glucose Monitoring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Affordable, at-home diabetes management.</a:t>
          </a:r>
        </a:p>
      </dsp:txBody>
      <dsp:txXfrm>
        <a:off x="22846" y="563895"/>
        <a:ext cx="10528856" cy="422308"/>
      </dsp:txXfrm>
    </dsp:sp>
    <dsp:sp modelId="{E0BF5500-497C-4909-90E0-A771F99C711F}">
      <dsp:nvSpPr>
        <dsp:cNvPr id="0" name=""/>
        <dsp:cNvSpPr/>
      </dsp:nvSpPr>
      <dsp:spPr>
        <a:xfrm>
          <a:off x="0" y="108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Pregnancy &amp; Fertility Tests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</a:t>
          </a:r>
          <a:r>
            <a:rPr lang="en-US" sz="1800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hCG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ovulation strips.</a:t>
          </a:r>
        </a:p>
      </dsp:txBody>
      <dsp:txXfrm>
        <a:off x="22846" y="1103895"/>
        <a:ext cx="10528856" cy="422308"/>
      </dsp:txXfrm>
    </dsp:sp>
    <dsp:sp modelId="{438C0FC8-5A47-4A67-AED0-1920D58120A2}">
      <dsp:nvSpPr>
        <dsp:cNvPr id="0" name=""/>
        <dsp:cNvSpPr/>
      </dsp:nvSpPr>
      <dsp:spPr>
        <a:xfrm>
          <a:off x="0" y="162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Infectious Disease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Malaria, dengue, COVID-19 antigen/antibody kits.</a:t>
          </a:r>
        </a:p>
      </dsp:txBody>
      <dsp:txXfrm>
        <a:off x="22846" y="1643895"/>
        <a:ext cx="10528856" cy="422308"/>
      </dsp:txXfrm>
    </dsp:sp>
    <dsp:sp modelId="{D7473D68-EE5C-4927-941B-BDDAF9AC275F}">
      <dsp:nvSpPr>
        <dsp:cNvPr id="0" name=""/>
        <dsp:cNvSpPr/>
      </dsp:nvSpPr>
      <dsp:spPr>
        <a:xfrm>
          <a:off x="0" y="216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Veterinary Diagnostics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Affordable tests for livestock and pets.</a:t>
          </a:r>
        </a:p>
      </dsp:txBody>
      <dsp:txXfrm>
        <a:off x="22846" y="2183895"/>
        <a:ext cx="10528856" cy="422308"/>
      </dsp:txXfrm>
    </dsp:sp>
    <dsp:sp modelId="{D948EDCD-243F-45EA-A59B-B1CC8AB7C7C2}">
      <dsp:nvSpPr>
        <dsp:cNvPr id="0" name=""/>
        <dsp:cNvSpPr/>
      </dsp:nvSpPr>
      <dsp:spPr>
        <a:xfrm>
          <a:off x="0" y="2701049"/>
          <a:ext cx="10574548" cy="468000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Other Colorimetric Strips</a:t>
          </a:r>
          <a:r>
            <a:rPr lang="en-US" sz="18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→ Extensible to 30+ strip types across human and animal health.</a:t>
          </a:r>
        </a:p>
      </dsp:txBody>
      <dsp:txXfrm>
        <a:off x="22846" y="2723895"/>
        <a:ext cx="10528856" cy="422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CFFB8-57B1-4EFD-90F1-8C43F97246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14128-E272-4383-8CC0-DA1952CE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071C-303A-8B7D-540A-6D3835110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5BFFB-E4C1-0A9F-EE4E-16347E151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72EE9-E5BA-D420-3B40-2758AAA6F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36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FCA1-933B-95D8-1847-6080FFCD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16125-FBB7-F350-CDB7-CD33A85D7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278C8-6BF3-98CB-38B7-5A64DD915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17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14128-E272-4383-8CC0-DA1952CE85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27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15BF-B715-DDE9-9FAD-E78C0938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D0E24-FA74-FCA8-BEA8-60EDB7165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D16A5-88C4-932A-2B62-CD6B5BEBB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5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BE55-4E33-4CC0-B3FD-E95DBC70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DD8EE-3FFD-1400-B722-BD665A75B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8B5F9-1F87-0D8B-FB07-7F72537D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040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0D7B-D3A0-0972-802E-092F5580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01A81-6B22-6C9A-B8C6-6072F1FFB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5BB53-C973-D734-FDDF-92E9ABB10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690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949C7-8CEC-25CE-C728-11B23B57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7D2B-64DE-A53C-FC1B-4095764E5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25FE8-27EA-DEF2-B6DA-63BC12DC4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88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98C7-53A1-61D3-46A5-50A051BF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4C4D3-987C-1D96-33C4-21A317927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82E3E-9AD7-D045-3335-E4B8D0542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488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1BC4-B7DF-67D2-17FC-A3946507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ADED4-6FB6-EE53-2706-D2E5D29FA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42DE9-F98C-76DC-9302-8B9D5FD96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48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FD1C-FAF2-3E23-9C49-21EEDDE00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498F5-EC89-2588-CB11-6EF82AE6C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A6D92-D904-DBBC-7F6C-4047DE935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A45D2-2479-898A-90E1-24FC4967B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214128-E272-4383-8CC0-DA1952CE85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54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2567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21071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39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0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1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9575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46758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153367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805260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439752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32339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669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  <p:sldLayoutId id="2147483669" r:id="rId6"/>
    <p:sldLayoutId id="2147483670" r:id="rId7"/>
    <p:sldLayoutId id="2147483671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blipFill rotWithShape="1">
            <a:blip r:embed="rId10"/>
            <a:srcRect/>
            <a:stretch>
              <a:fillRect/>
            </a:stretch>
          </a:blip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"/>
          <p:cNvGrpSpPr/>
          <p:nvPr/>
        </p:nvGrpSpPr>
        <p:grpSpPr>
          <a:xfrm>
            <a:off x="1587436" y="6195982"/>
            <a:ext cx="9017128" cy="203201"/>
            <a:chOff x="0" y="0"/>
            <a:chExt cx="9017127" cy="2032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905000" cy="2032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Off val="2411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7" name="Rectangle"/>
            <p:cNvSpPr/>
            <p:nvPr/>
          </p:nvSpPr>
          <p:spPr>
            <a:xfrm>
              <a:off x="1504472" y="0"/>
              <a:ext cx="1905001" cy="203200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Rectangle"/>
            <p:cNvSpPr/>
            <p:nvPr/>
          </p:nvSpPr>
          <p:spPr>
            <a:xfrm>
              <a:off x="3397113" y="0"/>
              <a:ext cx="1905001" cy="203200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Rectangle"/>
            <p:cNvSpPr/>
            <p:nvPr/>
          </p:nvSpPr>
          <p:spPr>
            <a:xfrm>
              <a:off x="5302113" y="0"/>
              <a:ext cx="1905001" cy="203200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Rounded Rectangle"/>
            <p:cNvSpPr/>
            <p:nvPr/>
          </p:nvSpPr>
          <p:spPr>
            <a:xfrm>
              <a:off x="7112127" y="0"/>
              <a:ext cx="1905001" cy="203200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Rectangle"/>
            <p:cNvSpPr/>
            <p:nvPr/>
          </p:nvSpPr>
          <p:spPr>
            <a:xfrm>
              <a:off x="6374435" y="0"/>
              <a:ext cx="1905001" cy="203200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roup"/>
          <p:cNvGrpSpPr/>
          <p:nvPr/>
        </p:nvGrpSpPr>
        <p:grpSpPr>
          <a:xfrm>
            <a:off x="2878106" y="2372222"/>
            <a:ext cx="6036266" cy="1559336"/>
            <a:chOff x="-14633" y="-15577"/>
            <a:chExt cx="6036264" cy="1559335"/>
          </a:xfrm>
        </p:grpSpPr>
        <p:sp>
          <p:nvSpPr>
            <p:cNvPr id="123" name="BillionTests"/>
            <p:cNvSpPr txBox="1"/>
            <p:nvPr/>
          </p:nvSpPr>
          <p:spPr>
            <a:xfrm>
              <a:off x="-14633" y="-15577"/>
              <a:ext cx="6036264" cy="110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6600">
                  <a:solidFill>
                    <a:srgbClr val="FFFFFF"/>
                  </a:solidFill>
                  <a:latin typeface="Cascadia Code Regular Bold"/>
                  <a:ea typeface="Cascadia Code Regular Bold"/>
                  <a:cs typeface="Cascadia Code Regular Bold"/>
                  <a:sym typeface="Cascadia Code Regular Bold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6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  <a:sym typeface="Cascadia Code Regular Bold"/>
                </a:rPr>
                <a:t>BillionTests</a:t>
              </a:r>
            </a:p>
          </p:txBody>
        </p:sp>
        <p:sp>
          <p:nvSpPr>
            <p:cNvPr id="124" name="Rectangle"/>
            <p:cNvSpPr/>
            <p:nvPr/>
          </p:nvSpPr>
          <p:spPr>
            <a:xfrm>
              <a:off x="71930" y="958985"/>
              <a:ext cx="5819141" cy="574041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Self diagnosis made easy"/>
            <p:cNvSpPr txBox="1"/>
            <p:nvPr/>
          </p:nvSpPr>
          <p:spPr>
            <a:xfrm>
              <a:off x="71930" y="958985"/>
              <a:ext cx="5863139" cy="584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sz="3200">
                  <a:solidFill>
                    <a:srgbClr val="535353"/>
                  </a:solidFill>
                  <a:latin typeface="Cascadia Code Regular Regular"/>
                  <a:ea typeface="Cascadia Code Regular Regular"/>
                  <a:cs typeface="Cascadia Code Regular Regular"/>
                  <a:sym typeface="Cascadia Code Regular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scadia Code SemiLight" panose="020B0609020000020004" pitchFamily="49" charset="0"/>
                  <a:ea typeface="Cascadia Code SemiLight" panose="020B0609020000020004" pitchFamily="49" charset="0"/>
                  <a:cs typeface="Cascadia Code SemiLight" panose="020B0609020000020004" pitchFamily="49" charset="0"/>
                  <a:sym typeface="Cascadia Code Regular Regular"/>
                </a:rPr>
                <a:t>Self diagnosis made easy</a:t>
              </a:r>
            </a:p>
          </p:txBody>
        </p:sp>
      </p:grpSp>
      <p:sp>
        <p:nvSpPr>
          <p:cNvPr id="2" name="Self diagnosis made easy">
            <a:extLst>
              <a:ext uri="{FF2B5EF4-FFF2-40B4-BE49-F238E27FC236}">
                <a16:creationId xmlns:a16="http://schemas.microsoft.com/office/drawing/2014/main" id="{F92D2985-39E3-0582-D08C-D916513BE38B}"/>
              </a:ext>
            </a:extLst>
          </p:cNvPr>
          <p:cNvSpPr txBox="1"/>
          <p:nvPr/>
        </p:nvSpPr>
        <p:spPr>
          <a:xfrm>
            <a:off x="2141979" y="5600477"/>
            <a:ext cx="77386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3200">
                <a:solidFill>
                  <a:srgbClr val="535353"/>
                </a:solidFill>
                <a:latin typeface="Cascadia Code Regular Regular"/>
                <a:ea typeface="Cascadia Code Regular Regular"/>
                <a:cs typeface="Cascadia Code Regular Regular"/>
                <a:sym typeface="Cascadia Code Regular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scadia Code Regular Regular"/>
              </a:rPr>
              <a:t>AI Platform. Developed in India. Built for India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scadia Code Regular Regula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25D64-0FE0-CAD2-9789-D178E0722A22}"/>
              </a:ext>
            </a:extLst>
          </p:cNvPr>
          <p:cNvSpPr txBox="1"/>
          <p:nvPr/>
        </p:nvSpPr>
        <p:spPr>
          <a:xfrm>
            <a:off x="2539936" y="4625615"/>
            <a:ext cx="7203671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>
                    <a:lumMod val="65000"/>
                  </a:schemeClr>
                </a:solidFill>
              </a:rPr>
              <a:t>Vision - To make India healthier by enabling early, affordable, and accessible diagnostics for </a:t>
            </a:r>
            <a:r>
              <a:rPr lang="en-IN" b="1">
                <a:solidFill>
                  <a:schemeClr val="bg1">
                    <a:lumMod val="65000"/>
                  </a:schemeClr>
                </a:solidFill>
              </a:rPr>
              <a:t>every citizen and </a:t>
            </a:r>
            <a:r>
              <a:rPr lang="en-IN" b="1" dirty="0">
                <a:solidFill>
                  <a:schemeClr val="bg1">
                    <a:lumMod val="65000"/>
                  </a:schemeClr>
                </a:solidFill>
              </a:rPr>
              <a:t>every village.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"/>
          <p:cNvSpPr/>
          <p:nvPr/>
        </p:nvSpPr>
        <p:spPr>
          <a:xfrm>
            <a:off x="-8781" y="1395497"/>
            <a:ext cx="12209561" cy="547978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7" name="Google Shape;133;p18"/>
          <p:cNvSpPr txBox="1">
            <a:spLocks noGrp="1"/>
          </p:cNvSpPr>
          <p:nvPr>
            <p:ph type="body" sz="quarter" idx="1"/>
          </p:nvPr>
        </p:nvSpPr>
        <p:spPr>
          <a:xfrm>
            <a:off x="1101016" y="1504666"/>
            <a:ext cx="9989965" cy="7148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IN" sz="18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year in India, preventable diseases claim hundreds of thousands of lives simply because screening happens too late—or not at all!</a:t>
            </a:r>
          </a:p>
        </p:txBody>
      </p:sp>
      <p:sp>
        <p:nvSpPr>
          <p:cNvPr id="192" name="Our vision"/>
          <p:cNvSpPr txBox="1"/>
          <p:nvPr/>
        </p:nvSpPr>
        <p:spPr>
          <a:xfrm>
            <a:off x="499299" y="365125"/>
            <a:ext cx="7715311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hangingPunct="0">
              <a:defRPr/>
            </a:pPr>
            <a:r>
              <a:rPr lang="en-IN" sz="2800" b="1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Healthcare Crisis</a:t>
            </a:r>
            <a:endParaRPr lang="en-IN" sz="28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3" name="Line"/>
          <p:cNvSpPr/>
          <p:nvPr/>
        </p:nvSpPr>
        <p:spPr>
          <a:xfrm flipV="1">
            <a:off x="499298" y="957943"/>
            <a:ext cx="7904473" cy="21100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0C0C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172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A116E2CF-8354-AD69-1568-5D758E2FDCEA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AAD7A-63D2-0C56-C2CE-2285EEBAF37D}"/>
              </a:ext>
            </a:extLst>
          </p:cNvPr>
          <p:cNvSpPr txBox="1"/>
          <p:nvPr/>
        </p:nvSpPr>
        <p:spPr>
          <a:xfrm>
            <a:off x="1101016" y="5774714"/>
            <a:ext cx="10071442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DALYs (Disability-Adjusted Life Years) Lost: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10-20 million annual loss DALYs due to late detection of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screenable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diseases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5D73F8-9C7F-6E5B-EDFC-E6FDA347A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557598"/>
              </p:ext>
            </p:extLst>
          </p:nvPr>
        </p:nvGraphicFramePr>
        <p:xfrm>
          <a:off x="1182493" y="2278551"/>
          <a:ext cx="9989965" cy="342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29038">
                  <a:extLst>
                    <a:ext uri="{9D8B030D-6E8A-4147-A177-3AD203B41FA5}">
                      <a16:colId xmlns:a16="http://schemas.microsoft.com/office/drawing/2014/main" val="1986556049"/>
                    </a:ext>
                  </a:extLst>
                </a:gridCol>
                <a:gridCol w="2029038">
                  <a:extLst>
                    <a:ext uri="{9D8B030D-6E8A-4147-A177-3AD203B41FA5}">
                      <a16:colId xmlns:a16="http://schemas.microsoft.com/office/drawing/2014/main" val="1149241393"/>
                    </a:ext>
                  </a:extLst>
                </a:gridCol>
                <a:gridCol w="1779614">
                  <a:extLst>
                    <a:ext uri="{9D8B030D-6E8A-4147-A177-3AD203B41FA5}">
                      <a16:colId xmlns:a16="http://schemas.microsoft.com/office/drawing/2014/main" val="1080232825"/>
                    </a:ext>
                  </a:extLst>
                </a:gridCol>
                <a:gridCol w="1978701">
                  <a:extLst>
                    <a:ext uri="{9D8B030D-6E8A-4147-A177-3AD203B41FA5}">
                      <a16:colId xmlns:a16="http://schemas.microsoft.com/office/drawing/2014/main" val="1153381686"/>
                    </a:ext>
                  </a:extLst>
                </a:gridCol>
                <a:gridCol w="2173574">
                  <a:extLst>
                    <a:ext uri="{9D8B030D-6E8A-4147-A177-3AD203B41FA5}">
                      <a16:colId xmlns:a16="http://schemas.microsoft.com/office/drawing/2014/main" val="1132455670"/>
                    </a:ext>
                  </a:extLst>
                </a:gridCol>
              </a:tblGrid>
              <a:tr h="7249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5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IN" sz="15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of Indian Population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Testing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Deaths in India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Avoidable with Early Screening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9414313"/>
                  </a:ext>
                </a:extLst>
              </a:tr>
              <a:tr h="5246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500" b="1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Diabetes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~8-8.3% adults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20-25%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~1,000,000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400,000-600,000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470295"/>
                  </a:ext>
                </a:extLst>
              </a:tr>
              <a:tr h="5296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Kidney Disease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~11-16% adults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~175,000+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150,000-250,000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4736802"/>
                  </a:ext>
                </a:extLst>
              </a:tr>
              <a:tr h="5946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UTI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~24% (adult women)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precisely recorded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100,000-150,000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3123720"/>
                  </a:ext>
                </a:extLst>
              </a:tr>
              <a:tr h="6268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Liver Disease with bilirubinuria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NAFLD 9-32% (serious disease much lower)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&lt;5%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~268,000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10,000-30,000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3086041"/>
                  </a:ext>
                </a:extLst>
              </a:tr>
              <a:tr h="420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&gt;1.4 million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500" b="1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670,000-1,080,000</a:t>
                      </a:r>
                      <a:endParaRPr lang="en-IN" sz="1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458189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7E72E-F172-D7D4-3DA2-3AFA33D8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5244AF5E-0D6C-E058-D5B9-C912DD89FBE4}"/>
              </a:ext>
            </a:extLst>
          </p:cNvPr>
          <p:cNvSpPr/>
          <p:nvPr/>
        </p:nvSpPr>
        <p:spPr>
          <a:xfrm>
            <a:off x="-1" y="1314459"/>
            <a:ext cx="12192001" cy="554354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C7201F7E-2F84-D9C2-DB55-4ECB43ED7AA7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Strip based analysis</a:t>
            </a: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98F8E7B9-8F88-22AB-FA43-5BB2C871D51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9788F7BE-2654-E237-28A4-A55B50D1EBA2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20316C-E6AF-E7AE-98D8-0180DA81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16" y="1487515"/>
            <a:ext cx="114907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Strip-based analysis is one of the simplest, fastest, and most cost-effective ways to get a preliminary diagnosis of critical health parameters—for ₹10 per test. Yet, despite its potential for scale, current approaches are riddled with challenges that prevent widespread adoption and reliable use,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whether for humans, livestock, or pets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000000">
                  <a:lumMod val="85000"/>
                  <a:lumOff val="1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C0C0C0"/>
                </a:highlight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with Current Approaches: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8C1667-8D4F-6962-1B77-7D41702A3A73}"/>
              </a:ext>
            </a:extLst>
          </p:cNvPr>
          <p:cNvSpPr txBox="1"/>
          <p:nvPr/>
        </p:nvSpPr>
        <p:spPr>
          <a:xfrm>
            <a:off x="520668" y="2858872"/>
            <a:ext cx="10969216" cy="27940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numCol="3" spcCol="45720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1: Manual Reading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Error-prone (depends on lighting,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perception, human judgment)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 (requires reading strips carefully at precise intervals)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trained personnel (not scalable for home/field use)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scalable for mass screening programs</a:t>
            </a:r>
          </a:p>
          <a:p>
            <a:pPr lvl="0"/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Imported Machines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Expensive (₹1-2 lakh per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Dominated by foreign brands (Siemens, Roche, Abbott, Menarini)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single-purpose (proprietary strip dependency)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Lab-bound (require electricity, stable environment)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3: Lab-Based Testing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Infrastructure-dependent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24-48 hour delays for 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Centralized data (no real-time health visibility)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costs for patients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B3F7DF-E12C-722A-EF31-D9C3C27E97C3}"/>
              </a:ext>
            </a:extLst>
          </p:cNvPr>
          <p:cNvSpPr/>
          <p:nvPr/>
        </p:nvSpPr>
        <p:spPr>
          <a:xfrm>
            <a:off x="520668" y="5583783"/>
            <a:ext cx="10923854" cy="8309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49E6B-097D-76CF-AE71-8C129F07B899}"/>
              </a:ext>
            </a:extLst>
          </p:cNvPr>
          <p:cNvSpPr txBox="1"/>
          <p:nvPr/>
        </p:nvSpPr>
        <p:spPr>
          <a:xfrm>
            <a:off x="747475" y="5563715"/>
            <a:ext cx="10697047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Patients, farmers, and pet owners end up paying more, waiting longer, and health systems lose the chance for real-time, scalable diagnostics.</a:t>
            </a:r>
          </a:p>
        </p:txBody>
      </p:sp>
    </p:spTree>
    <p:extLst>
      <p:ext uri="{BB962C8B-B14F-4D97-AF65-F5344CB8AC3E}">
        <p14:creationId xmlns:p14="http://schemas.microsoft.com/office/powerpoint/2010/main" val="1109286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"/>
          <p:cNvSpPr/>
          <p:nvPr/>
        </p:nvSpPr>
        <p:spPr>
          <a:xfrm>
            <a:off x="-8781" y="3732551"/>
            <a:ext cx="12209561" cy="314273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Our vision"/>
          <p:cNvSpPr txBox="1"/>
          <p:nvPr/>
        </p:nvSpPr>
        <p:spPr>
          <a:xfrm>
            <a:off x="499300" y="365125"/>
            <a:ext cx="4072700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85000" lnSpcReduction="10000"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BillionTests: Introduction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Line"/>
          <p:cNvSpPr/>
          <p:nvPr/>
        </p:nvSpPr>
        <p:spPr>
          <a:xfrm>
            <a:off x="581876" y="979043"/>
            <a:ext cx="5674700" cy="1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A116E2CF-8354-AD69-1568-5D758E2FDCEA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3" name="Google Shape;132;p18" descr="Google Shape;132;p18"/>
          <p:cNvPicPr>
            <a:picLocks noChangeAspect="1"/>
          </p:cNvPicPr>
          <p:nvPr/>
        </p:nvPicPr>
        <p:blipFill>
          <a:blip r:embed="rId2"/>
          <a:srcRect l="12947" t="13947" r="9119" b="16439"/>
          <a:stretch>
            <a:fillRect/>
          </a:stretch>
        </p:blipFill>
        <p:spPr>
          <a:xfrm>
            <a:off x="7528316" y="3769457"/>
            <a:ext cx="2256642" cy="2083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Google Shape;137;p18" descr="Google Shape;137;p18"/>
          <p:cNvPicPr>
            <a:picLocks noChangeAspect="1"/>
          </p:cNvPicPr>
          <p:nvPr/>
        </p:nvPicPr>
        <p:blipFill>
          <a:blip r:embed="rId3"/>
          <a:srcRect b="9118"/>
          <a:stretch>
            <a:fillRect/>
          </a:stretch>
        </p:blipFill>
        <p:spPr>
          <a:xfrm>
            <a:off x="2174769" y="3863904"/>
            <a:ext cx="2488914" cy="198893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Google Shape;139;p18"/>
          <p:cNvSpPr txBox="1"/>
          <p:nvPr/>
        </p:nvSpPr>
        <p:spPr>
          <a:xfrm>
            <a:off x="2174768" y="5925331"/>
            <a:ext cx="2488914" cy="64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Manual and error-prone 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40;p18"/>
          <p:cNvSpPr txBox="1"/>
          <p:nvPr/>
        </p:nvSpPr>
        <p:spPr>
          <a:xfrm>
            <a:off x="7528316" y="5925331"/>
            <a:ext cx="2256642" cy="64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Automated and accurate Assessment </a:t>
            </a:r>
          </a:p>
        </p:txBody>
      </p:sp>
      <p:sp>
        <p:nvSpPr>
          <p:cNvPr id="8" name="Google Shape;141;p18"/>
          <p:cNvSpPr txBox="1"/>
          <p:nvPr/>
        </p:nvSpPr>
        <p:spPr>
          <a:xfrm>
            <a:off x="6169786" y="5925331"/>
            <a:ext cx="520438" cy="36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to</a:t>
            </a:r>
          </a:p>
        </p:txBody>
      </p:sp>
      <p:pic>
        <p:nvPicPr>
          <p:cNvPr id="9" name="Screenshot 2024-09-30 at 12.33.50 PM.png" descr="Screenshot 2024-09-30 at 12.33.50 PM.png"/>
          <p:cNvPicPr>
            <a:picLocks noChangeAspect="1"/>
          </p:cNvPicPr>
          <p:nvPr/>
        </p:nvPicPr>
        <p:blipFill>
          <a:blip r:embed="rId4">
            <a:alphaModFix amt="51628"/>
          </a:blip>
          <a:stretch>
            <a:fillRect/>
          </a:stretch>
        </p:blipFill>
        <p:spPr>
          <a:xfrm>
            <a:off x="6035039" y="4810498"/>
            <a:ext cx="861497" cy="41795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DC86C7-7418-EED6-A7D1-49E7D0A97D2C}"/>
              </a:ext>
            </a:extLst>
          </p:cNvPr>
          <p:cNvSpPr txBox="1"/>
          <p:nvPr/>
        </p:nvSpPr>
        <p:spPr>
          <a:xfrm>
            <a:off x="4828723" y="3966812"/>
            <a:ext cx="3202565" cy="64633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Transformation of strip based testing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F78C2A-0B57-0653-7502-584C68643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23" y="1242422"/>
            <a:ext cx="10983212" cy="202751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BillionTests is India's first </a:t>
            </a:r>
            <a:r>
              <a:rPr lang="en-IN" sz="1600" b="1" dirty="0">
                <a:solidFill>
                  <a:schemeClr val="bg1"/>
                </a:solidFill>
              </a:rPr>
              <a:t>universal, AI-powered automated test-strip reading platform</a:t>
            </a:r>
            <a:r>
              <a:rPr lang="en-IN" sz="1600" dirty="0">
                <a:solidFill>
                  <a:schemeClr val="bg1"/>
                </a:solidFill>
              </a:rPr>
              <a:t> that combines: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Computer Vision AI + </a:t>
            </a:r>
            <a:r>
              <a:rPr lang="en-US" altLang="en-US" sz="1600" b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classical image processing</a:t>
            </a:r>
            <a:r>
              <a:rPr lang="en-IN" sz="1600" dirty="0">
                <a:solidFill>
                  <a:schemeClr val="bg1"/>
                </a:solidFill>
              </a:rPr>
              <a:t> – Trained on 100,000+ images for 98%+ accuracy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IoT Connectivity</a:t>
            </a:r>
            <a:r>
              <a:rPr lang="en-IN" sz="1600" dirty="0">
                <a:solidFill>
                  <a:schemeClr val="bg1"/>
                </a:solidFill>
              </a:rPr>
              <a:t> – Real-time data sync with health systems</a:t>
            </a:r>
          </a:p>
          <a:p>
            <a:pPr>
              <a:buClr>
                <a:schemeClr val="bg1"/>
              </a:buClr>
            </a:pPr>
            <a:r>
              <a:rPr lang="en-IN" sz="1600" b="1" dirty="0">
                <a:solidFill>
                  <a:schemeClr val="bg1"/>
                </a:solidFill>
              </a:rPr>
              <a:t>Blockchain Security</a:t>
            </a:r>
            <a:r>
              <a:rPr lang="en-IN" sz="1600" dirty="0">
                <a:solidFill>
                  <a:schemeClr val="bg1"/>
                </a:solidFill>
              </a:rPr>
              <a:t> – Tamper-proof, verifiable test records</a:t>
            </a:r>
          </a:p>
        </p:txBody>
      </p:sp>
    </p:spTree>
    <p:extLst>
      <p:ext uri="{BB962C8B-B14F-4D97-AF65-F5344CB8AC3E}">
        <p14:creationId xmlns:p14="http://schemas.microsoft.com/office/powerpoint/2010/main" val="3694550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5AA8C-C0FF-5F2F-03BC-FD0BDFC8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B3CA48-E5ED-D1ED-691C-F792D19C879B}"/>
              </a:ext>
            </a:extLst>
          </p:cNvPr>
          <p:cNvSpPr/>
          <p:nvPr/>
        </p:nvSpPr>
        <p:spPr>
          <a:xfrm>
            <a:off x="729260" y="5521386"/>
            <a:ext cx="5466078" cy="355844"/>
          </a:xfrm>
          <a:prstGeom prst="roundRect">
            <a:avLst/>
          </a:prstGeom>
          <a:solidFill>
            <a:srgbClr val="4B2269"/>
          </a:solidFill>
          <a:ln w="25400" cap="flat">
            <a:solidFill>
              <a:schemeClr val="bg1">
                <a:lumMod val="50000"/>
              </a:schemeClr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72" name="Rectangle">
            <a:extLst>
              <a:ext uri="{FF2B5EF4-FFF2-40B4-BE49-F238E27FC236}">
                <a16:creationId xmlns:a16="http://schemas.microsoft.com/office/drawing/2014/main" id="{8CA16AE3-A7D5-888C-EA97-4EF042BF9104}"/>
              </a:ext>
            </a:extLst>
          </p:cNvPr>
          <p:cNvSpPr/>
          <p:nvPr/>
        </p:nvSpPr>
        <p:spPr>
          <a:xfrm>
            <a:off x="7062762" y="-1"/>
            <a:ext cx="5120272" cy="6858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4" name="Solution Overview">
            <a:extLst>
              <a:ext uri="{FF2B5EF4-FFF2-40B4-BE49-F238E27FC236}">
                <a16:creationId xmlns:a16="http://schemas.microsoft.com/office/drawing/2014/main" id="{08B28878-09A6-C2BE-49F0-15D04EB2FCA2}"/>
              </a:ext>
            </a:extLst>
          </p:cNvPr>
          <p:cNvSpPr txBox="1"/>
          <p:nvPr/>
        </p:nvSpPr>
        <p:spPr>
          <a:xfrm>
            <a:off x="506423" y="420673"/>
            <a:ext cx="4622816" cy="55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 hangingPunct="0">
              <a:defRPr/>
            </a:pPr>
            <a:r>
              <a:rPr lang="en-IN" sz="3200" b="1" dirty="0"/>
              <a:t>BillionTests: Introduction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Line">
            <a:extLst>
              <a:ext uri="{FF2B5EF4-FFF2-40B4-BE49-F238E27FC236}">
                <a16:creationId xmlns:a16="http://schemas.microsoft.com/office/drawing/2014/main" id="{DE1EA1FA-374C-EAD7-3F60-6519D19A81BB}"/>
              </a:ext>
            </a:extLst>
          </p:cNvPr>
          <p:cNvSpPr/>
          <p:nvPr/>
        </p:nvSpPr>
        <p:spPr>
          <a:xfrm>
            <a:off x="527587" y="980770"/>
            <a:ext cx="4329001" cy="1"/>
          </a:xfrm>
          <a:prstGeom prst="line">
            <a:avLst/>
          </a:prstGeom>
          <a:ln w="25400">
            <a:solidFill>
              <a:schemeClr val="bg2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8" name="Slide Number">
            <a:extLst>
              <a:ext uri="{FF2B5EF4-FFF2-40B4-BE49-F238E27FC236}">
                <a16:creationId xmlns:a16="http://schemas.microsoft.com/office/drawing/2014/main" id="{FA484B66-3006-9D85-6C1B-90FF4046005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Use our intuitive mobile app to guide users in performing the test correctly.">
            <a:extLst>
              <a:ext uri="{FF2B5EF4-FFF2-40B4-BE49-F238E27FC236}">
                <a16:creationId xmlns:a16="http://schemas.microsoft.com/office/drawing/2014/main" id="{5EF90571-F187-44FC-F463-4B4FF6293785}"/>
              </a:ext>
            </a:extLst>
          </p:cNvPr>
          <p:cNvSpPr txBox="1"/>
          <p:nvPr/>
        </p:nvSpPr>
        <p:spPr>
          <a:xfrm>
            <a:off x="729260" y="2576821"/>
            <a:ext cx="403888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91DFBC8F-BC05-717C-0DAD-924FFADCF671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062089-5322-DB73-062B-91AEAE986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423" y="1242422"/>
            <a:ext cx="5863464" cy="5003717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The platform delivers lab-grade accuracy at field-level affordability, addressing critical gaps in India's preventive healthcare infrastructure.</a:t>
            </a:r>
          </a:p>
          <a:p>
            <a:pPr marL="11430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17AB9-C1B4-BF03-35EB-D68ABA9AB074}"/>
              </a:ext>
            </a:extLst>
          </p:cNvPr>
          <p:cNvSpPr txBox="1"/>
          <p:nvPr/>
        </p:nvSpPr>
        <p:spPr>
          <a:xfrm>
            <a:off x="7230829" y="1051236"/>
            <a:ext cx="4784138" cy="53860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Differentiators: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with 30+ types of diagnostic strips (human, cattle, pet)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 through AI-powered image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 (mobile app) or ₹1,999 portable device (vs  ₹40k–₹2L imported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analyzers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Completely Made in India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Portable, offline-capable, electricity-free operation, field ready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Blockchain-secured, tamper-proof results for data trust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Compatible with all govt.- approved strips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5F2FD0D6-A3EA-429E-BDC4-1BC289418D04}"/>
              </a:ext>
            </a:extLst>
          </p:cNvPr>
          <p:cNvSpPr/>
          <p:nvPr/>
        </p:nvSpPr>
        <p:spPr>
          <a:xfrm>
            <a:off x="729260" y="2631251"/>
            <a:ext cx="5486482" cy="247415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Urine-Based Screening Is Powerful in India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cost, non-invasive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lab dependency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in 1–2 minutes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rural areas, elderly care, mass screening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pSp>
        <p:nvGrpSpPr>
          <p:cNvPr id="151" name="Group"/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Rectangle"/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Rectangle"/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Rectangle"/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Rounded Rectangle"/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Rectangle"/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52" name="Slide Number"/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5</a:t>
            </a:fld>
            <a:endParaRPr lang="en-IN" ker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07853-439A-ED7E-3789-25C11EA532BC}"/>
              </a:ext>
            </a:extLst>
          </p:cNvPr>
          <p:cNvSpPr txBox="1"/>
          <p:nvPr/>
        </p:nvSpPr>
        <p:spPr>
          <a:xfrm>
            <a:off x="1038304" y="5521386"/>
            <a:ext cx="505769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education needed – single click operation </a:t>
            </a:r>
          </a:p>
        </p:txBody>
      </p:sp>
    </p:spTree>
    <p:extLst>
      <p:ext uri="{BB962C8B-B14F-4D97-AF65-F5344CB8AC3E}">
        <p14:creationId xmlns:p14="http://schemas.microsoft.com/office/powerpoint/2010/main" val="7495638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FF770-F64F-0772-7E0E-6AFB2779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F6F58995-0B19-C924-3A58-227D8F743E7C}"/>
              </a:ext>
            </a:extLst>
          </p:cNvPr>
          <p:cNvSpPr/>
          <p:nvPr/>
        </p:nvSpPr>
        <p:spPr>
          <a:xfrm>
            <a:off x="-1" y="1329247"/>
            <a:ext cx="12192001" cy="554960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1F279596-400B-5F9A-32B6-61F3F9DAA05F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88F736E4-B52E-07DD-201D-6A121A6536A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0F229D99-CC3D-B2AA-7308-2FCDAA8E0F50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A47AB-33B5-8182-5D48-C8334519F2E3}"/>
              </a:ext>
            </a:extLst>
          </p:cNvPr>
          <p:cNvSpPr txBox="1"/>
          <p:nvPr/>
        </p:nvSpPr>
        <p:spPr>
          <a:xfrm>
            <a:off x="520668" y="450933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hangingPunct="0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 &amp; Data Privacy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A0889B-1669-4B69-31AD-B5E412DF32F8}"/>
              </a:ext>
            </a:extLst>
          </p:cNvPr>
          <p:cNvSpPr/>
          <p:nvPr/>
        </p:nvSpPr>
        <p:spPr>
          <a:xfrm>
            <a:off x="655765" y="1499775"/>
            <a:ext cx="10212104" cy="998853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11430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Tamper-Proof Results</a:t>
            </a:r>
          </a:p>
          <a:p>
            <a:pPr marL="11430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tabLst/>
              <a:defRPr/>
            </a:pPr>
            <a:r>
              <a:rPr lang="en-US" sz="2000" kern="0" noProof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     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Each test result is securely linked to time, device ID, and strip type, ensuring full traceability.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C219CE-EC98-8FB6-A74C-DE5C62F56BA1}"/>
              </a:ext>
            </a:extLst>
          </p:cNvPr>
          <p:cNvSpPr/>
          <p:nvPr/>
        </p:nvSpPr>
        <p:spPr>
          <a:xfrm>
            <a:off x="655766" y="4430313"/>
            <a:ext cx="10212104" cy="2079432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114300" lvl="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defRPr/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Immutable Blockchain Ledger</a:t>
            </a:r>
            <a:b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Test records are permanently stored on the blockchain, making them fraud-proof and verifiable for: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Insurance claims (no fake reports)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CSR/NGO programs (impact validation)</a:t>
            </a:r>
          </a:p>
          <a:p>
            <a:pPr marL="857250" lvl="1" indent="-28575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Regulatory compliance (auditable history)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D6E7F3-F1AD-B6C9-87F6-107D7E502AD5}"/>
              </a:ext>
            </a:extLst>
          </p:cNvPr>
          <p:cNvSpPr/>
          <p:nvPr/>
        </p:nvSpPr>
        <p:spPr>
          <a:xfrm>
            <a:off x="655766" y="2730937"/>
            <a:ext cx="10212104" cy="1396125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User-Centric Data Privacy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retain ownership of their health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are encrypted &amp; stored privately.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Sharing is consent-based → only doctors, labs, or insurers chosen by the user can access.</a:t>
            </a:r>
          </a:p>
        </p:txBody>
      </p:sp>
    </p:spTree>
    <p:extLst>
      <p:ext uri="{BB962C8B-B14F-4D97-AF65-F5344CB8AC3E}">
        <p14:creationId xmlns:p14="http://schemas.microsoft.com/office/powerpoint/2010/main" val="17372073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Innovation Highlights"/>
          <p:cNvSpPr txBox="1"/>
          <p:nvPr/>
        </p:nvSpPr>
        <p:spPr>
          <a:xfrm>
            <a:off x="482066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Innovation</a:t>
            </a:r>
            <a:r>
              <a:rPr kumimoji="0" lang="en-I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and novelty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Line"/>
          <p:cNvSpPr/>
          <p:nvPr/>
        </p:nvSpPr>
        <p:spPr>
          <a:xfrm flipV="1">
            <a:off x="5548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095216" y="6375024"/>
            <a:ext cx="258585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01D4AB28-9EA3-46A0-9EBB-67301B7BA12E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08507C-314C-DCAD-5D9F-515A5CF8CE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011" y="1141061"/>
            <a:ext cx="10606156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Radically Affordable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₹1,999 device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₹1-2 lakh imports (99% cost reduction)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₹10 per scan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₹50-200 lab tests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Truly universal - works with ALL govt-approved strips—no vendor lock-in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Leverages mature supply chains instead of reinventing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AI-Powered Accuracy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validated on 200+ samples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on 100,000+ diverse images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Eliminates human reading errors and subjective interpretation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learning from real-world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Zero-Friction Testing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Single-click smartphone app (Android/iOS)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 Cards handle lighting/environmental variations automatically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medical training required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anywhere—home, clinic, or remote village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Lean-by-design architecture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Uses existing strips, smartphones, and mature supply chains instead of reinventing hardware, enabling massive cost reduction and rapid scale.</a:t>
            </a:r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id="{A8FC0DD9-FD6B-F78F-7D5F-01D63FEFAC90}"/>
              </a:ext>
            </a:extLst>
          </p:cNvPr>
          <p:cNvGrpSpPr/>
          <p:nvPr/>
        </p:nvGrpSpPr>
        <p:grpSpPr>
          <a:xfrm>
            <a:off x="593011" y="5921822"/>
            <a:ext cx="10528720" cy="535931"/>
            <a:chOff x="4554" y="727898"/>
            <a:chExt cx="1795190" cy="2718186"/>
          </a:xfrm>
        </p:grpSpPr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id="{0C6BBE38-CD75-A998-4903-82C0C2B9BA1E}"/>
                </a:ext>
              </a:extLst>
            </p:cNvPr>
            <p:cNvSpPr/>
            <p:nvPr/>
          </p:nvSpPr>
          <p:spPr>
            <a:xfrm>
              <a:off x="4554" y="727898"/>
              <a:ext cx="1795190" cy="2718186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371;p32">
              <a:extLst>
                <a:ext uri="{FF2B5EF4-FFF2-40B4-BE49-F238E27FC236}">
                  <a16:creationId xmlns:a16="http://schemas.microsoft.com/office/drawing/2014/main" id="{CD4E57C4-B2C6-1635-44CF-87C99E720761}"/>
                </a:ext>
              </a:extLst>
            </p:cNvPr>
            <p:cNvSpPr/>
            <p:nvPr/>
          </p:nvSpPr>
          <p:spPr>
            <a:xfrm>
              <a:off x="20134" y="1321042"/>
              <a:ext cx="1775056" cy="14956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r>
                <a:rPr lang="en-US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The Bottom Line:</a:t>
              </a:r>
              <a:r>
                <a:rPr lang="en-US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</a:rPr>
                <a:t> Lab-grade diagnostics at 1% of the cost, accessible to anyone with a smartphone</a:t>
              </a:r>
            </a:p>
          </p:txBody>
        </p:sp>
      </p:grpSp>
      <p:grpSp>
        <p:nvGrpSpPr>
          <p:cNvPr id="15" name="Group">
            <a:extLst>
              <a:ext uri="{FF2B5EF4-FFF2-40B4-BE49-F238E27FC236}">
                <a16:creationId xmlns:a16="http://schemas.microsoft.com/office/drawing/2014/main" id="{FFD63042-1CCF-F6CE-F501-0F9C5CF476C0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16" name="Rounded Rectangle">
              <a:extLst>
                <a:ext uri="{FF2B5EF4-FFF2-40B4-BE49-F238E27FC236}">
                  <a16:creationId xmlns:a16="http://schemas.microsoft.com/office/drawing/2014/main" id="{F044AB42-DB5A-A81C-5CE2-8C8C15FC313D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Rectangle">
              <a:extLst>
                <a:ext uri="{FF2B5EF4-FFF2-40B4-BE49-F238E27FC236}">
                  <a16:creationId xmlns:a16="http://schemas.microsoft.com/office/drawing/2014/main" id="{BA2D2BD2-6A76-2D69-53AC-3DE69D65D12A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Rectangle">
              <a:extLst>
                <a:ext uri="{FF2B5EF4-FFF2-40B4-BE49-F238E27FC236}">
                  <a16:creationId xmlns:a16="http://schemas.microsoft.com/office/drawing/2014/main" id="{933D6A8D-FA1B-71FD-F7D0-743075DE9C6F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Rectangle">
              <a:extLst>
                <a:ext uri="{FF2B5EF4-FFF2-40B4-BE49-F238E27FC236}">
                  <a16:creationId xmlns:a16="http://schemas.microsoft.com/office/drawing/2014/main" id="{E6E5DE48-6DFF-CD79-8A9A-7A7B210B7DAA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Rounded Rectangle">
              <a:extLst>
                <a:ext uri="{FF2B5EF4-FFF2-40B4-BE49-F238E27FC236}">
                  <a16:creationId xmlns:a16="http://schemas.microsoft.com/office/drawing/2014/main" id="{2BCBA26F-BDCD-60E1-A3C6-73CACC327FE6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19046073-7BC4-1BAE-7162-D3BE5E9809F1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2" name="Slide Number">
            <a:extLst>
              <a:ext uri="{FF2B5EF4-FFF2-40B4-BE49-F238E27FC236}">
                <a16:creationId xmlns:a16="http://schemas.microsoft.com/office/drawing/2014/main" id="{784FEA82-79D5-A03B-24A4-D0E9CFBBADF1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7</a:t>
            </a:fld>
            <a:endParaRPr lang="en-IN" kern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52517-A282-E165-9182-F8C6820E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D07C2774-E781-42CA-E946-F9609B08FE51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id="{0613903F-D5B5-212A-FBE3-151D87E93C83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5455F627-921D-4264-0BD7-FE696D529966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Quick Health Clues from Urine Test Parameters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29C598FD-9EDB-0BCA-D256-88BB2BF11E0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6951432B-B473-AF8F-9875-40FF9AD75CB3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BAC653-EC55-B409-C7BC-C0588C6BF204}"/>
              </a:ext>
            </a:extLst>
          </p:cNvPr>
          <p:cNvGraphicFramePr>
            <a:graphicFrameLocks noGrp="1"/>
          </p:cNvGraphicFramePr>
          <p:nvPr/>
        </p:nvGraphicFramePr>
        <p:xfrm>
          <a:off x="567538" y="1389929"/>
          <a:ext cx="10786264" cy="502449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828921">
                  <a:extLst>
                    <a:ext uri="{9D8B030D-6E8A-4147-A177-3AD203B41FA5}">
                      <a16:colId xmlns:a16="http://schemas.microsoft.com/office/drawing/2014/main" val="2577793351"/>
                    </a:ext>
                  </a:extLst>
                </a:gridCol>
                <a:gridCol w="5957343">
                  <a:extLst>
                    <a:ext uri="{9D8B030D-6E8A-4147-A177-3AD203B41FA5}">
                      <a16:colId xmlns:a16="http://schemas.microsoft.com/office/drawing/2014/main" val="2821527188"/>
                    </a:ext>
                  </a:extLst>
                </a:gridCol>
              </a:tblGrid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Parameter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Indicates Possible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599227"/>
                  </a:ext>
                </a:extLst>
              </a:tr>
              <a:tr h="678762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Protein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Kidney disease, dehydration,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261331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Leukocytes (WBC)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Infection, UTI,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781844"/>
                  </a:ext>
                </a:extLst>
              </a:tr>
              <a:tr h="596365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Ketones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Low-carb diet, diabetes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1673565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Glucose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Diabetes (if &gt;180 mg/dL)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1635155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Nitrites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Bacterial infection (E. coli, Gonorrhea)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0619596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Blood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UTI, intense exercise, kidney stones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45158"/>
                  </a:ext>
                </a:extLst>
              </a:tr>
              <a:tr h="64646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Urobilinogen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Liver disease, cirrhosis, hepatitis, liver damage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239989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pH (6.7–7.5)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Uric acid stones, excess protein intake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275803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Specific Gravity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Dehydration, urine concentration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861118"/>
                  </a:ext>
                </a:extLst>
              </a:tr>
              <a:tr h="3878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Bilirubin</a:t>
                      </a:r>
                      <a:endParaRPr 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Early liver disease, blocked bile 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60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2879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"/>
          <p:cNvSpPr/>
          <p:nvPr/>
        </p:nvSpPr>
        <p:spPr>
          <a:xfrm>
            <a:off x="7062762" y="-1"/>
            <a:ext cx="5120272" cy="68580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3" name="Google Shape;208;p21"/>
          <p:cNvSpPr txBox="1">
            <a:spLocks noGrp="1"/>
          </p:cNvSpPr>
          <p:nvPr>
            <p:ph type="body" sz="quarter" idx="1"/>
          </p:nvPr>
        </p:nvSpPr>
        <p:spPr>
          <a:xfrm>
            <a:off x="728774" y="5084557"/>
            <a:ext cx="1292094" cy="39853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>
                <a:solidFill>
                  <a:srgbClr val="EBEBEB"/>
                </a:solidFill>
              </a:defRPr>
            </a:pPr>
            <a:r>
              <a:rPr b="1" dirty="0"/>
              <a:t>3. Action</a:t>
            </a:r>
            <a:r>
              <a:rPr dirty="0"/>
              <a:t>:</a:t>
            </a:r>
          </a:p>
        </p:txBody>
      </p:sp>
      <p:sp>
        <p:nvSpPr>
          <p:cNvPr id="274" name="Solution Overview"/>
          <p:cNvSpPr txBox="1"/>
          <p:nvPr/>
        </p:nvSpPr>
        <p:spPr>
          <a:xfrm>
            <a:off x="506423" y="420673"/>
            <a:ext cx="4622816" cy="555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sz="3200" b="1" kern="0" dirty="0"/>
              <a:t>- 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Mobile App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14;p21"/>
          <p:cNvSpPr txBox="1"/>
          <p:nvPr/>
        </p:nvSpPr>
        <p:spPr>
          <a:xfrm>
            <a:off x="8302069" y="5784948"/>
            <a:ext cx="3268899" cy="333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1800" i="1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Click above to play the animation</a:t>
            </a:r>
          </a:p>
        </p:txBody>
      </p:sp>
      <p:sp>
        <p:nvSpPr>
          <p:cNvPr id="276" name="Line"/>
          <p:cNvSpPr/>
          <p:nvPr/>
        </p:nvSpPr>
        <p:spPr>
          <a:xfrm>
            <a:off x="527587" y="980770"/>
            <a:ext cx="4329001" cy="1"/>
          </a:xfrm>
          <a:prstGeom prst="line">
            <a:avLst/>
          </a:prstGeom>
          <a:ln w="25400">
            <a:solidFill>
              <a:schemeClr val="bg2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Our cutting-edge AI technology simplifies the diagnostic process into three streamlined steps :"/>
          <p:cNvSpPr txBox="1"/>
          <p:nvPr/>
        </p:nvSpPr>
        <p:spPr>
          <a:xfrm>
            <a:off x="506423" y="1276830"/>
            <a:ext cx="5621239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Our cutting-edge AI technology simplifies the diagnostic process into three streamlined steps :</a:t>
            </a:r>
          </a:p>
        </p:txBody>
      </p:sp>
      <p:sp>
        <p:nvSpPr>
          <p:cNvPr id="27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Scan"/>
          <p:cNvSpPr txBox="1"/>
          <p:nvPr/>
        </p:nvSpPr>
        <p:spPr>
          <a:xfrm>
            <a:off x="729260" y="2180297"/>
            <a:ext cx="8877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marL="297076" indent="-297076">
              <a:lnSpc>
                <a:spcPct val="90000"/>
              </a:lnSpc>
              <a:spcBef>
                <a:spcPts val="1000"/>
              </a:spcBef>
              <a:buSzPct val="100000"/>
              <a:buAutoNum type="arabicPeriod"/>
              <a:defRPr sz="2000" b="1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297076" marR="0" lvl="0" indent="-297076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AutoNum type="arabicPeriod"/>
              <a:tabLst/>
              <a:defRPr b="0"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Scan</a:t>
            </a:r>
          </a:p>
        </p:txBody>
      </p:sp>
      <p:sp>
        <p:nvSpPr>
          <p:cNvPr id="280" name="Use our intuitive mobile app to guide users in performing the test correctly."/>
          <p:cNvSpPr txBox="1"/>
          <p:nvPr/>
        </p:nvSpPr>
        <p:spPr>
          <a:xfrm>
            <a:off x="729260" y="2576821"/>
            <a:ext cx="4038881" cy="620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 our intuitive mobile app to guide users in performing the test correctly.</a:t>
            </a:r>
          </a:p>
        </p:txBody>
      </p:sp>
      <p:sp>
        <p:nvSpPr>
          <p:cNvPr id="281" name="2. Analyze:"/>
          <p:cNvSpPr txBox="1"/>
          <p:nvPr/>
        </p:nvSpPr>
        <p:spPr>
          <a:xfrm>
            <a:off x="728774" y="3442739"/>
            <a:ext cx="1254509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2. Analyze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282" name="Our sophisticated AI software instantly generates accurate test results within 20 seconds."/>
          <p:cNvSpPr txBox="1"/>
          <p:nvPr/>
        </p:nvSpPr>
        <p:spPr>
          <a:xfrm>
            <a:off x="729260" y="3750028"/>
            <a:ext cx="4523466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Our sophisticated AI software instantly generates accurate test results within 20 seconds.</a:t>
            </a:r>
            <a:b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et easy to interpret results and contacts of medical experts for further action via digital platform."/>
          <p:cNvSpPr txBox="1"/>
          <p:nvPr/>
        </p:nvSpPr>
        <p:spPr>
          <a:xfrm>
            <a:off x="728774" y="5483085"/>
            <a:ext cx="4364461" cy="117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Get easy to interpret results and contacts of medical experts for further action via digital platform.</a:t>
            </a:r>
            <a:b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</a:b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EBEBEB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Rectangle"/>
          <p:cNvSpPr/>
          <p:nvPr/>
        </p:nvSpPr>
        <p:spPr>
          <a:xfrm>
            <a:off x="527587" y="2192997"/>
            <a:ext cx="18939" cy="991232"/>
          </a:xfrm>
          <a:prstGeom prst="rect">
            <a:avLst/>
          </a:prstGeom>
          <a:gradFill>
            <a:gsLst>
              <a:gs pos="0">
                <a:srgbClr val="6DBC38"/>
              </a:gs>
              <a:gs pos="100000">
                <a:srgbClr val="BAFD9D"/>
              </a:gs>
            </a:gsLst>
            <a:lin ang="16200000"/>
          </a:gra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5" name="Rectangle"/>
          <p:cNvSpPr/>
          <p:nvPr/>
        </p:nvSpPr>
        <p:spPr>
          <a:xfrm>
            <a:off x="527587" y="3492744"/>
            <a:ext cx="18939" cy="1195142"/>
          </a:xfrm>
          <a:prstGeom prst="rect">
            <a:avLst/>
          </a:prstGeom>
          <a:gradFill>
            <a:gsLst>
              <a:gs pos="0">
                <a:schemeClr val="accent4">
                  <a:hueOff val="-617933"/>
                  <a:lumOff val="36487"/>
                </a:schemeClr>
              </a:gs>
              <a:gs pos="35000">
                <a:srgbClr val="FFEACF"/>
              </a:gs>
              <a:gs pos="100000">
                <a:schemeClr val="accent4">
                  <a:hueOff val="-742744"/>
                  <a:lumOff val="46439"/>
                </a:schemeClr>
              </a:gs>
            </a:gsLst>
            <a:lin ang="16200000"/>
          </a:gradFill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6" name="Rectangle"/>
          <p:cNvSpPr/>
          <p:nvPr/>
        </p:nvSpPr>
        <p:spPr>
          <a:xfrm>
            <a:off x="532349" y="5089319"/>
            <a:ext cx="13691" cy="1226738"/>
          </a:xfrm>
          <a:prstGeom prst="rect">
            <a:avLst/>
          </a:prstGeom>
          <a:gradFill>
            <a:gsLst>
              <a:gs pos="0">
                <a:srgbClr val="499CE7"/>
              </a:gs>
              <a:gs pos="100000">
                <a:schemeClr val="accent5">
                  <a:hueOff val="329330"/>
                  <a:satOff val="40776"/>
                  <a:lumOff val="24655"/>
                </a:schemeClr>
              </a:gs>
            </a:gsLst>
            <a:lin ang="16200000"/>
          </a:gradFill>
          <a:ln>
            <a:solidFill>
              <a:srgbClr val="5698D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7" name="3 steps of using the tool kit .mp4" descr="3 steps of using the tool kit 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06484" y="1485378"/>
            <a:ext cx="4769158" cy="377296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BillionTests">
            <a:extLst>
              <a:ext uri="{FF2B5EF4-FFF2-40B4-BE49-F238E27FC236}">
                <a16:creationId xmlns:a16="http://schemas.microsoft.com/office/drawing/2014/main" id="{A44CF449-B858-1E7F-BF7F-915CBCF50B9C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98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87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EFFDF-1A3C-8EAC-5694-39EED5B1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">
            <a:extLst>
              <a:ext uri="{FF2B5EF4-FFF2-40B4-BE49-F238E27FC236}">
                <a16:creationId xmlns:a16="http://schemas.microsoft.com/office/drawing/2014/main" id="{45E41597-7241-0F28-620A-1F9DBF8DC24F}"/>
              </a:ext>
            </a:extLst>
          </p:cNvPr>
          <p:cNvSpPr/>
          <p:nvPr/>
        </p:nvSpPr>
        <p:spPr>
          <a:xfrm>
            <a:off x="0" y="1133504"/>
            <a:ext cx="12192001" cy="5723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9" name="Google Shape;324;p28">
            <a:extLst>
              <a:ext uri="{FF2B5EF4-FFF2-40B4-BE49-F238E27FC236}">
                <a16:creationId xmlns:a16="http://schemas.microsoft.com/office/drawing/2014/main" id="{B975467A-87EC-1787-238F-5E6291BBEE31}"/>
              </a:ext>
            </a:extLst>
          </p:cNvPr>
          <p:cNvSpPr txBox="1"/>
          <p:nvPr/>
        </p:nvSpPr>
        <p:spPr>
          <a:xfrm>
            <a:off x="518159" y="5626825"/>
            <a:ext cx="2801734" cy="625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1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Ready made and well established diagnostic strips </a:t>
            </a:r>
          </a:p>
        </p:txBody>
      </p:sp>
      <p:sp>
        <p:nvSpPr>
          <p:cNvPr id="430" name="Logistics Snap">
            <a:extLst>
              <a:ext uri="{FF2B5EF4-FFF2-40B4-BE49-F238E27FC236}">
                <a16:creationId xmlns:a16="http://schemas.microsoft.com/office/drawing/2014/main" id="{FF34A7F8-3539-1AAC-10E5-BD05299CDC21}"/>
              </a:ext>
            </a:extLst>
          </p:cNvPr>
          <p:cNvSpPr txBox="1"/>
          <p:nvPr/>
        </p:nvSpPr>
        <p:spPr>
          <a:xfrm>
            <a:off x="482600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Logistics Snap</a:t>
            </a:r>
          </a:p>
        </p:txBody>
      </p:sp>
      <p:grpSp>
        <p:nvGrpSpPr>
          <p:cNvPr id="437" name="Group">
            <a:extLst>
              <a:ext uri="{FF2B5EF4-FFF2-40B4-BE49-F238E27FC236}">
                <a16:creationId xmlns:a16="http://schemas.microsoft.com/office/drawing/2014/main" id="{FA1F533A-B16A-16CE-D842-44766C50D66E}"/>
              </a:ext>
            </a:extLst>
          </p:cNvPr>
          <p:cNvGrpSpPr/>
          <p:nvPr/>
        </p:nvGrpSpPr>
        <p:grpSpPr>
          <a:xfrm>
            <a:off x="543140" y="1518510"/>
            <a:ext cx="2801774" cy="3820980"/>
            <a:chOff x="0" y="0"/>
            <a:chExt cx="2801772" cy="3820978"/>
          </a:xfrm>
        </p:grpSpPr>
        <p:sp>
          <p:nvSpPr>
            <p:cNvPr id="431" name="Rectangle">
              <a:extLst>
                <a:ext uri="{FF2B5EF4-FFF2-40B4-BE49-F238E27FC236}">
                  <a16:creationId xmlns:a16="http://schemas.microsoft.com/office/drawing/2014/main" id="{24F46D66-4A77-BA89-5EFB-71B857AD492E}"/>
                </a:ext>
              </a:extLst>
            </p:cNvPr>
            <p:cNvSpPr/>
            <p:nvPr/>
          </p:nvSpPr>
          <p:spPr>
            <a:xfrm>
              <a:off x="0" y="0"/>
              <a:ext cx="2801773" cy="3820979"/>
            </a:xfrm>
            <a:prstGeom prst="rect">
              <a:avLst/>
            </a:prstGeom>
            <a:solidFill>
              <a:srgbClr val="DDDDDD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32" name="Google Shape;161;p19">
              <a:extLst>
                <a:ext uri="{FF2B5EF4-FFF2-40B4-BE49-F238E27FC236}">
                  <a16:creationId xmlns:a16="http://schemas.microsoft.com/office/drawing/2014/main" id="{C75E01A1-0E10-9519-2AE8-81EBBAC16F3F}"/>
                </a:ext>
              </a:extLst>
            </p:cNvPr>
            <p:cNvSpPr txBox="1"/>
            <p:nvPr/>
          </p:nvSpPr>
          <p:spPr>
            <a:xfrm>
              <a:off x="320040" y="3344956"/>
              <a:ext cx="2058702" cy="401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700">
                  <a:solidFill>
                    <a:schemeClr val="accent1">
                      <a:satOff val="-3547"/>
                      <a:lumOff val="-10352"/>
                    </a:schemeClr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700" b="0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Diagnostic test strips </a:t>
              </a:r>
            </a:p>
          </p:txBody>
        </p:sp>
        <p:grpSp>
          <p:nvGrpSpPr>
            <p:cNvPr id="436" name="Group">
              <a:extLst>
                <a:ext uri="{FF2B5EF4-FFF2-40B4-BE49-F238E27FC236}">
                  <a16:creationId xmlns:a16="http://schemas.microsoft.com/office/drawing/2014/main" id="{7CF5B44E-DDCC-4082-8095-2F02D8A30E80}"/>
                </a:ext>
              </a:extLst>
            </p:cNvPr>
            <p:cNvGrpSpPr/>
            <p:nvPr/>
          </p:nvGrpSpPr>
          <p:grpSpPr>
            <a:xfrm>
              <a:off x="177122" y="264706"/>
              <a:ext cx="2447488" cy="2925995"/>
              <a:chOff x="0" y="0"/>
              <a:chExt cx="2447487" cy="2925994"/>
            </a:xfrm>
          </p:grpSpPr>
          <p:pic>
            <p:nvPicPr>
              <p:cNvPr id="433" name="Google Shape;155;p19" descr="Google Shape;155;p19">
                <a:extLst>
                  <a:ext uri="{FF2B5EF4-FFF2-40B4-BE49-F238E27FC236}">
                    <a16:creationId xmlns:a16="http://schemas.microsoft.com/office/drawing/2014/main" id="{CA7B4EE7-7728-8B94-BF1A-DE6D607CC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868" r="36621"/>
              <a:stretch>
                <a:fillRect/>
              </a:stretch>
            </p:blipFill>
            <p:spPr>
              <a:xfrm>
                <a:off x="0" y="1993261"/>
                <a:ext cx="2447488" cy="9327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34" name="Google Shape;156;p19" descr="Google Shape;156;p19">
                <a:extLst>
                  <a:ext uri="{FF2B5EF4-FFF2-40B4-BE49-F238E27FC236}">
                    <a16:creationId xmlns:a16="http://schemas.microsoft.com/office/drawing/2014/main" id="{24BABFA6-8DFC-BD4D-BE29-F7E88BA11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47" t="760" r="26977" b="55557"/>
              <a:stretch>
                <a:fillRect/>
              </a:stretch>
            </p:blipFill>
            <p:spPr>
              <a:xfrm>
                <a:off x="0" y="1169249"/>
                <a:ext cx="2447420" cy="83226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435" name="Google Shape;157;p19" descr="Google Shape;157;p19">
                <a:extLst>
                  <a:ext uri="{FF2B5EF4-FFF2-40B4-BE49-F238E27FC236}">
                    <a16:creationId xmlns:a16="http://schemas.microsoft.com/office/drawing/2014/main" id="{BE2C190B-2D31-B9AC-8F03-B3B32E909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" t="56555" r="46792"/>
              <a:stretch>
                <a:fillRect/>
              </a:stretch>
            </p:blipFill>
            <p:spPr>
              <a:xfrm>
                <a:off x="0" y="0"/>
                <a:ext cx="2447383" cy="117710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sp>
        <p:nvSpPr>
          <p:cNvPr id="438" name="Google Shape;325;p28">
            <a:extLst>
              <a:ext uri="{FF2B5EF4-FFF2-40B4-BE49-F238E27FC236}">
                <a16:creationId xmlns:a16="http://schemas.microsoft.com/office/drawing/2014/main" id="{5C95F184-EAFA-67F0-0A7D-3BB14F480442}"/>
              </a:ext>
            </a:extLst>
          </p:cNvPr>
          <p:cNvSpPr txBox="1"/>
          <p:nvPr/>
        </p:nvSpPr>
        <p:spPr>
          <a:xfrm>
            <a:off x="5243274" y="5626825"/>
            <a:ext cx="1705453" cy="625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BillionTests 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Technology Layer</a:t>
            </a:r>
          </a:p>
        </p:txBody>
      </p:sp>
      <p:sp>
        <p:nvSpPr>
          <p:cNvPr id="439" name="Arrow">
            <a:extLst>
              <a:ext uri="{FF2B5EF4-FFF2-40B4-BE49-F238E27FC236}">
                <a16:creationId xmlns:a16="http://schemas.microsoft.com/office/drawing/2014/main" id="{439E621D-1AF6-7F5E-813D-29611C3D104B}"/>
              </a:ext>
            </a:extLst>
          </p:cNvPr>
          <p:cNvSpPr/>
          <p:nvPr/>
        </p:nvSpPr>
        <p:spPr>
          <a:xfrm>
            <a:off x="3463206" y="3464394"/>
            <a:ext cx="462981" cy="193958"/>
          </a:xfrm>
          <a:prstGeom prst="rightArrow">
            <a:avLst>
              <a:gd name="adj1" fmla="val 35800"/>
              <a:gd name="adj2" fmla="val 127301"/>
            </a:avLst>
          </a:prstGeom>
          <a:solidFill>
            <a:schemeClr val="accent5">
              <a:alpha val="3985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0" name="Arrow">
            <a:extLst>
              <a:ext uri="{FF2B5EF4-FFF2-40B4-BE49-F238E27FC236}">
                <a16:creationId xmlns:a16="http://schemas.microsoft.com/office/drawing/2014/main" id="{DC25EC2C-1181-63C9-C1E2-275A2949C8EC}"/>
              </a:ext>
            </a:extLst>
          </p:cNvPr>
          <p:cNvSpPr/>
          <p:nvPr/>
        </p:nvSpPr>
        <p:spPr>
          <a:xfrm>
            <a:off x="8063838" y="3326648"/>
            <a:ext cx="462981" cy="193958"/>
          </a:xfrm>
          <a:prstGeom prst="rightArrow">
            <a:avLst>
              <a:gd name="adj1" fmla="val 35800"/>
              <a:gd name="adj2" fmla="val 127301"/>
            </a:avLst>
          </a:prstGeom>
          <a:solidFill>
            <a:schemeClr val="accent5">
              <a:alpha val="3985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1" name="Google Shape;326;p28">
            <a:extLst>
              <a:ext uri="{FF2B5EF4-FFF2-40B4-BE49-F238E27FC236}">
                <a16:creationId xmlns:a16="http://schemas.microsoft.com/office/drawing/2014/main" id="{C3861018-E4FE-DF35-4928-B5C7FE4514B4}"/>
              </a:ext>
            </a:extLst>
          </p:cNvPr>
          <p:cNvSpPr txBox="1"/>
          <p:nvPr/>
        </p:nvSpPr>
        <p:spPr>
          <a:xfrm>
            <a:off x="8872107" y="5626825"/>
            <a:ext cx="2686619" cy="91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User does self assessment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at home and gets reports in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~20 seconds</a:t>
            </a:r>
          </a:p>
        </p:txBody>
      </p:sp>
      <p:grpSp>
        <p:nvGrpSpPr>
          <p:cNvPr id="455" name="Group">
            <a:extLst>
              <a:ext uri="{FF2B5EF4-FFF2-40B4-BE49-F238E27FC236}">
                <a16:creationId xmlns:a16="http://schemas.microsoft.com/office/drawing/2014/main" id="{69C049AB-ACD2-A7CE-4DD6-98279E6779C6}"/>
              </a:ext>
            </a:extLst>
          </p:cNvPr>
          <p:cNvGrpSpPr/>
          <p:nvPr/>
        </p:nvGrpSpPr>
        <p:grpSpPr>
          <a:xfrm>
            <a:off x="4031900" y="1480052"/>
            <a:ext cx="3851399" cy="3897896"/>
            <a:chOff x="0" y="0"/>
            <a:chExt cx="3851397" cy="3897894"/>
          </a:xfrm>
        </p:grpSpPr>
        <p:sp>
          <p:nvSpPr>
            <p:cNvPr id="442" name="Rectangle">
              <a:extLst>
                <a:ext uri="{FF2B5EF4-FFF2-40B4-BE49-F238E27FC236}">
                  <a16:creationId xmlns:a16="http://schemas.microsoft.com/office/drawing/2014/main" id="{CCD2C943-62DB-A071-EDF8-E1C8CD77A353}"/>
                </a:ext>
              </a:extLst>
            </p:cNvPr>
            <p:cNvSpPr/>
            <p:nvPr/>
          </p:nvSpPr>
          <p:spPr>
            <a:xfrm>
              <a:off x="0" y="0"/>
              <a:ext cx="3851398" cy="3897895"/>
            </a:xfrm>
            <a:prstGeom prst="rect">
              <a:avLst/>
            </a:prstGeom>
            <a:noFill/>
            <a:ln w="25400" cap="flat">
              <a:solidFill>
                <a:schemeClr val="accent1">
                  <a:lumOff val="24117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1165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47" name="Group">
              <a:extLst>
                <a:ext uri="{FF2B5EF4-FFF2-40B4-BE49-F238E27FC236}">
                  <a16:creationId xmlns:a16="http://schemas.microsoft.com/office/drawing/2014/main" id="{1B38C83E-F3F4-2063-600A-669AC42C71C9}"/>
                </a:ext>
              </a:extLst>
            </p:cNvPr>
            <p:cNvGrpSpPr/>
            <p:nvPr/>
          </p:nvGrpSpPr>
          <p:grpSpPr>
            <a:xfrm>
              <a:off x="2015222" y="67937"/>
              <a:ext cx="1466418" cy="1466418"/>
              <a:chOff x="0" y="0"/>
              <a:chExt cx="1466417" cy="1466417"/>
            </a:xfrm>
          </p:grpSpPr>
          <p:pic>
            <p:nvPicPr>
              <p:cNvPr id="443" name="flat-design-online-yoga-class-concept.png" descr="flat-design-online-yoga-class-concept.png">
                <a:extLst>
                  <a:ext uri="{FF2B5EF4-FFF2-40B4-BE49-F238E27FC236}">
                    <a16:creationId xmlns:a16="http://schemas.microsoft.com/office/drawing/2014/main" id="{089C0C36-BF62-146D-22AD-5357E7528B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466418" cy="146641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44" name="Rectangle">
                <a:extLst>
                  <a:ext uri="{FF2B5EF4-FFF2-40B4-BE49-F238E27FC236}">
                    <a16:creationId xmlns:a16="http://schemas.microsoft.com/office/drawing/2014/main" id="{D9ECF6EC-F02D-E4C4-F707-9803940D8CBC}"/>
                  </a:ext>
                </a:extLst>
              </p:cNvPr>
              <p:cNvSpPr/>
              <p:nvPr/>
            </p:nvSpPr>
            <p:spPr>
              <a:xfrm>
                <a:off x="544333" y="335321"/>
                <a:ext cx="344874" cy="76364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pic>
            <p:nvPicPr>
              <p:cNvPr id="445" name="Google Shape;247;p24" descr="Google Shape;247;p24">
                <a:extLst>
                  <a:ext uri="{FF2B5EF4-FFF2-40B4-BE49-F238E27FC236}">
                    <a16:creationId xmlns:a16="http://schemas.microsoft.com/office/drawing/2014/main" id="{C7CD4123-0C04-8E0C-A3CF-307561E7D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580854" y="607186"/>
                <a:ext cx="271794" cy="42102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>
                <a:outerShdw dist="23000" dir="5400000" rotWithShape="0">
                  <a:srgbClr val="000000">
                    <a:alpha val="9543"/>
                  </a:srgbClr>
                </a:outerShdw>
              </a:effectLst>
            </p:spPr>
          </p:pic>
          <p:pic>
            <p:nvPicPr>
              <p:cNvPr id="446" name="Google Shape;246;p24" descr="Google Shape;246;p24">
                <a:extLst>
                  <a:ext uri="{FF2B5EF4-FFF2-40B4-BE49-F238E27FC236}">
                    <a16:creationId xmlns:a16="http://schemas.microsoft.com/office/drawing/2014/main" id="{4BB52CC8-AC19-40D3-0003-C146299265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200000">
                <a:off x="682355" y="342319"/>
                <a:ext cx="68830" cy="344874"/>
              </a:xfrm>
              <a:prstGeom prst="rect">
                <a:avLst/>
              </a:prstGeom>
              <a:ln w="25400" cap="flat">
                <a:solidFill>
                  <a:srgbClr val="A7A7A7"/>
                </a:solidFill>
                <a:prstDash val="solid"/>
                <a:round/>
              </a:ln>
              <a:effectLst>
                <a:outerShdw dist="23000" dir="5400000" rotWithShape="0">
                  <a:srgbClr val="000000">
                    <a:alpha val="9543"/>
                  </a:srgbClr>
                </a:outerShdw>
              </a:effectLst>
            </p:spPr>
          </p:pic>
        </p:grpSp>
        <p:pic>
          <p:nvPicPr>
            <p:cNvPr id="448" name="Screenshot 2024-10-05 at 3.02.56 PM.png" descr="Screenshot 2024-10-05 at 3.02.56 PM.png">
              <a:extLst>
                <a:ext uri="{FF2B5EF4-FFF2-40B4-BE49-F238E27FC236}">
                  <a16:creationId xmlns:a16="http://schemas.microsoft.com/office/drawing/2014/main" id="{ECE04253-ABEB-DB8C-651F-8198AD720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42400" y="2214067"/>
              <a:ext cx="1212061" cy="11172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9" name="Google Shape;161;p19">
              <a:extLst>
                <a:ext uri="{FF2B5EF4-FFF2-40B4-BE49-F238E27FC236}">
                  <a16:creationId xmlns:a16="http://schemas.microsoft.com/office/drawing/2014/main" id="{0B2B46C1-2197-436E-ECFA-B125479428E2}"/>
                </a:ext>
              </a:extLst>
            </p:cNvPr>
            <p:cNvSpPr txBox="1"/>
            <p:nvPr/>
          </p:nvSpPr>
          <p:spPr>
            <a:xfrm>
              <a:off x="1949120" y="1494853"/>
              <a:ext cx="1598621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Mobile Scan App</a:t>
              </a:r>
            </a:p>
          </p:txBody>
        </p:sp>
        <p:sp>
          <p:nvSpPr>
            <p:cNvPr id="450" name="Google Shape;161;p19">
              <a:extLst>
                <a:ext uri="{FF2B5EF4-FFF2-40B4-BE49-F238E27FC236}">
                  <a16:creationId xmlns:a16="http://schemas.microsoft.com/office/drawing/2014/main" id="{AE039521-9549-D6B4-1836-0DF06716B522}"/>
                </a:ext>
              </a:extLst>
            </p:cNvPr>
            <p:cNvSpPr txBox="1"/>
            <p:nvPr/>
          </p:nvSpPr>
          <p:spPr>
            <a:xfrm>
              <a:off x="1794365" y="3437954"/>
              <a:ext cx="1908132" cy="392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Artificial Intelligence </a:t>
              </a:r>
            </a:p>
          </p:txBody>
        </p:sp>
        <p:pic>
          <p:nvPicPr>
            <p:cNvPr id="451" name="Google Shape;247;p24" descr="Google Shape;247;p24">
              <a:extLst>
                <a:ext uri="{FF2B5EF4-FFF2-40B4-BE49-F238E27FC236}">
                  <a16:creationId xmlns:a16="http://schemas.microsoft.com/office/drawing/2014/main" id="{DEEF7015-987A-D66A-9FB6-EF44A1226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592951" y="380286"/>
              <a:ext cx="721281" cy="1117303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dist="23000" dir="5400000" rotWithShape="0">
                <a:srgbClr val="000000">
                  <a:alpha val="9543"/>
                </a:srgbClr>
              </a:outerShdw>
            </a:effectLst>
          </p:spPr>
        </p:pic>
        <p:sp>
          <p:nvSpPr>
            <p:cNvPr id="452" name="Google Shape;161;p19">
              <a:extLst>
                <a:ext uri="{FF2B5EF4-FFF2-40B4-BE49-F238E27FC236}">
                  <a16:creationId xmlns:a16="http://schemas.microsoft.com/office/drawing/2014/main" id="{2C48A3EF-4E92-25F7-F3F2-9FBBE62E3209}"/>
                </a:ext>
              </a:extLst>
            </p:cNvPr>
            <p:cNvSpPr txBox="1"/>
            <p:nvPr/>
          </p:nvSpPr>
          <p:spPr>
            <a:xfrm>
              <a:off x="528127" y="1494853"/>
              <a:ext cx="850771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BT Card</a:t>
              </a:r>
            </a:p>
          </p:txBody>
        </p:sp>
        <p:sp>
          <p:nvSpPr>
            <p:cNvPr id="453" name="Cloud">
              <a:extLst>
                <a:ext uri="{FF2B5EF4-FFF2-40B4-BE49-F238E27FC236}">
                  <a16:creationId xmlns:a16="http://schemas.microsoft.com/office/drawing/2014/main" id="{8C20A4CB-F011-F69E-1795-B656AADE04F0}"/>
                </a:ext>
              </a:extLst>
            </p:cNvPr>
            <p:cNvSpPr/>
            <p:nvPr/>
          </p:nvSpPr>
          <p:spPr>
            <a:xfrm>
              <a:off x="305052" y="2489032"/>
              <a:ext cx="1296922" cy="7815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63500" cap="flat">
              <a:solidFill>
                <a:schemeClr val="accent1">
                  <a:lumOff val="12058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4" name="Google Shape;161;p19">
              <a:extLst>
                <a:ext uri="{FF2B5EF4-FFF2-40B4-BE49-F238E27FC236}">
                  <a16:creationId xmlns:a16="http://schemas.microsoft.com/office/drawing/2014/main" id="{2BD6B1BA-A9FD-D840-B5F5-7AFD14AF56BF}"/>
                </a:ext>
              </a:extLst>
            </p:cNvPr>
            <p:cNvSpPr txBox="1"/>
            <p:nvPr/>
          </p:nvSpPr>
          <p:spPr>
            <a:xfrm>
              <a:off x="592951" y="3437954"/>
              <a:ext cx="721123" cy="392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Cloud</a:t>
              </a:r>
            </a:p>
          </p:txBody>
        </p:sp>
      </p:grpSp>
      <p:grpSp>
        <p:nvGrpSpPr>
          <p:cNvPr id="461" name="Group">
            <a:extLst>
              <a:ext uri="{FF2B5EF4-FFF2-40B4-BE49-F238E27FC236}">
                <a16:creationId xmlns:a16="http://schemas.microsoft.com/office/drawing/2014/main" id="{F1439FD7-2AD7-2663-7311-75143590E348}"/>
              </a:ext>
            </a:extLst>
          </p:cNvPr>
          <p:cNvGrpSpPr/>
          <p:nvPr/>
        </p:nvGrpSpPr>
        <p:grpSpPr>
          <a:xfrm>
            <a:off x="8657852" y="1480052"/>
            <a:ext cx="3185095" cy="3897896"/>
            <a:chOff x="0" y="0"/>
            <a:chExt cx="3185093" cy="3897894"/>
          </a:xfrm>
        </p:grpSpPr>
        <p:sp>
          <p:nvSpPr>
            <p:cNvPr id="456" name="Rectangle">
              <a:extLst>
                <a:ext uri="{FF2B5EF4-FFF2-40B4-BE49-F238E27FC236}">
                  <a16:creationId xmlns:a16="http://schemas.microsoft.com/office/drawing/2014/main" id="{D71FCF17-E24C-58C8-26EB-A73DBF940F9C}"/>
                </a:ext>
              </a:extLst>
            </p:cNvPr>
            <p:cNvSpPr/>
            <p:nvPr/>
          </p:nvSpPr>
          <p:spPr>
            <a:xfrm>
              <a:off x="0" y="0"/>
              <a:ext cx="3185094" cy="3897895"/>
            </a:xfrm>
            <a:prstGeom prst="rect">
              <a:avLst/>
            </a:prstGeom>
            <a:noFill/>
            <a:ln w="25400" cap="flat">
              <a:solidFill>
                <a:schemeClr val="accent1">
                  <a:lumOff val="24117"/>
                </a:schemeClr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11658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57" name="Google Shape;161;p19">
              <a:extLst>
                <a:ext uri="{FF2B5EF4-FFF2-40B4-BE49-F238E27FC236}">
                  <a16:creationId xmlns:a16="http://schemas.microsoft.com/office/drawing/2014/main" id="{4472F4B7-695F-78BE-15B3-D6E7170B8766}"/>
                </a:ext>
              </a:extLst>
            </p:cNvPr>
            <p:cNvSpPr txBox="1"/>
            <p:nvPr/>
          </p:nvSpPr>
          <p:spPr>
            <a:xfrm>
              <a:off x="731918" y="1486561"/>
              <a:ext cx="1772058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Online Assessment</a:t>
              </a:r>
            </a:p>
          </p:txBody>
        </p:sp>
        <p:pic>
          <p:nvPicPr>
            <p:cNvPr id="458" name="Screenshot 2024-10-05 at 3.45.02 PM.png" descr="Screenshot 2024-10-05 at 3.45.02 PM.png">
              <a:extLst>
                <a:ext uri="{FF2B5EF4-FFF2-40B4-BE49-F238E27FC236}">
                  <a16:creationId xmlns:a16="http://schemas.microsoft.com/office/drawing/2014/main" id="{8BE050E8-4733-B7C0-D9BE-4C128D563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0604" y="167697"/>
              <a:ext cx="1466418" cy="12503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59" name="Screenshot 2024-10-05 at 3.47.15 PM.png" descr="Screenshot 2024-10-05 at 3.47.15 PM.png">
              <a:extLst>
                <a:ext uri="{FF2B5EF4-FFF2-40B4-BE49-F238E27FC236}">
                  <a16:creationId xmlns:a16="http://schemas.microsoft.com/office/drawing/2014/main" id="{6F778D8D-0E87-B766-84AF-3B0655959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0150" y="1834422"/>
              <a:ext cx="2084794" cy="16946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60" name="Google Shape;161;p19">
              <a:extLst>
                <a:ext uri="{FF2B5EF4-FFF2-40B4-BE49-F238E27FC236}">
                  <a16:creationId xmlns:a16="http://schemas.microsoft.com/office/drawing/2014/main" id="{EDA07755-BB5C-68F9-0C93-037C0B054A5A}"/>
                </a:ext>
              </a:extLst>
            </p:cNvPr>
            <p:cNvSpPr txBox="1"/>
            <p:nvPr/>
          </p:nvSpPr>
          <p:spPr>
            <a:xfrm>
              <a:off x="846218" y="3429661"/>
              <a:ext cx="1492658" cy="3920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6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Online Reports</a:t>
              </a:r>
            </a:p>
          </p:txBody>
        </p:sp>
      </p:grpSp>
      <p:sp>
        <p:nvSpPr>
          <p:cNvPr id="463" name="Slide Number">
            <a:extLst>
              <a:ext uri="{FF2B5EF4-FFF2-40B4-BE49-F238E27FC236}">
                <a16:creationId xmlns:a16="http://schemas.microsoft.com/office/drawing/2014/main" id="{9EE67585-0493-4539-57F8-1D94E37A522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C8512E47-CDEA-6C97-FB2F-821A5B810DFB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</p:spTree>
    <p:extLst>
      <p:ext uri="{BB962C8B-B14F-4D97-AF65-F5344CB8AC3E}">
        <p14:creationId xmlns:p14="http://schemas.microsoft.com/office/powerpoint/2010/main" val="9661143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olution Overview"/>
          <p:cNvSpPr txBox="1"/>
          <p:nvPr/>
        </p:nvSpPr>
        <p:spPr>
          <a:xfrm>
            <a:off x="506423" y="365125"/>
            <a:ext cx="5444672" cy="757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Solution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2</a:t>
            </a: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US" sz="3200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Edge Device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6" name="Line"/>
          <p:cNvSpPr/>
          <p:nvPr/>
        </p:nvSpPr>
        <p:spPr>
          <a:xfrm flipV="1">
            <a:off x="546040" y="1015718"/>
            <a:ext cx="4745713" cy="4001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7" name="Our cutting-edge AI technology simplifies the diagnostic process into three streamlined steps :"/>
          <p:cNvSpPr txBox="1"/>
          <p:nvPr/>
        </p:nvSpPr>
        <p:spPr>
          <a:xfrm>
            <a:off x="546040" y="1470858"/>
            <a:ext cx="11272441" cy="5576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buClr>
                <a:srgbClr val="000000"/>
              </a:buClr>
              <a:buFont typeface="Arial"/>
              <a:defRPr sz="2000">
                <a:solidFill>
                  <a:srgbClr val="EBEB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Edge Device is a smart, plug-and-play urinalysis scanner built for mass testing at scale.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delivers instant, AI-powered results across 10+ urine parameters and generates tamper-proof blockchain reports for trusted diagnostics.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It Works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strip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Place the urine test strip into the device.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scan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Built-in optics capture and calibrate under controlled lighting.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analysis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Device interprets 10+ parameters in under 20 seconds.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report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Results shown on connected mobile/desktop app.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Blockchain record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Secured for verification, sharing, and compliance.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Advantages</a:t>
            </a:r>
          </a:p>
          <a:p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Unlimited testing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One-time cost, no recurring scan charges.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Offline-first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Works without internet; syncs later when connected.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Multi-strip compatible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Not restricted to proprietary strips like Siemens/Roche.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Portable &amp; durable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Lightweight, reliable for field and community use.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A44CF449-B858-1E7F-BF7F-915CBCF50B9C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62C1B217-9072-0160-20CD-A72A60F1184A}"/>
              </a:ext>
            </a:extLst>
          </p:cNvPr>
          <p:cNvSpPr/>
          <p:nvPr/>
        </p:nvSpPr>
        <p:spPr>
          <a:xfrm flipH="1">
            <a:off x="629546" y="3223371"/>
            <a:ext cx="51365" cy="1355206"/>
          </a:xfrm>
          <a:prstGeom prst="rect">
            <a:avLst/>
          </a:prstGeom>
          <a:gradFill>
            <a:gsLst>
              <a:gs pos="0">
                <a:schemeClr val="accent4">
                  <a:hueOff val="-617933"/>
                  <a:lumOff val="36487"/>
                </a:schemeClr>
              </a:gs>
              <a:gs pos="35000">
                <a:srgbClr val="FFEACF"/>
              </a:gs>
              <a:gs pos="100000">
                <a:schemeClr val="accent4">
                  <a:hueOff val="-742744"/>
                  <a:lumOff val="46439"/>
                </a:schemeClr>
              </a:gs>
            </a:gsLst>
            <a:lin ang="16200000"/>
          </a:gradFill>
          <a:ln w="12700">
            <a:miter lim="400000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41A355F5-5497-CA5C-6249-B6CCEE757ED7}"/>
              </a:ext>
            </a:extLst>
          </p:cNvPr>
          <p:cNvSpPr/>
          <p:nvPr/>
        </p:nvSpPr>
        <p:spPr>
          <a:xfrm>
            <a:off x="606686" y="5416302"/>
            <a:ext cx="45719" cy="998478"/>
          </a:xfrm>
          <a:prstGeom prst="rect">
            <a:avLst/>
          </a:prstGeom>
          <a:gradFill>
            <a:gsLst>
              <a:gs pos="0">
                <a:srgbClr val="499CE7"/>
              </a:gs>
              <a:gs pos="100000">
                <a:schemeClr val="accent5">
                  <a:hueOff val="329330"/>
                  <a:satOff val="40776"/>
                  <a:lumOff val="24655"/>
                </a:schemeClr>
              </a:gs>
            </a:gsLst>
            <a:lin ang="16200000"/>
          </a:gradFill>
          <a:ln>
            <a:solidFill>
              <a:srgbClr val="5698D3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AB14EC54-CFB1-2261-0E8D-6F4699937C79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id="{11FC129D-0F0C-EA03-53D7-E6AB8D06EA3C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1F5056EA-0804-D8B2-51B9-4FC31D8159F1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6214E738-A736-E4A6-CAA0-07FBF4B6FE1F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8A9C03B9-9548-6ED1-955D-22F5B417FAA2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2C99B87F-EC8F-2A7E-6EA3-24BF48CF038F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CFE24A9F-5CCA-49DA-7507-01F9CCCCFC38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" name="Slide Number">
            <a:extLst>
              <a:ext uri="{FF2B5EF4-FFF2-40B4-BE49-F238E27FC236}">
                <a16:creationId xmlns:a16="http://schemas.microsoft.com/office/drawing/2014/main" id="{D34FB924-F478-9AD9-F8A8-2F9E622B3752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defRPr/>
            </a:pPr>
            <a:fld id="{86CB4B4D-7CA3-9044-876B-883B54F8677D}" type="slidenum">
              <a:rPr lang="en-IN" kern="0" smtClean="0"/>
              <a:pPr hangingPunct="0">
                <a:defRPr/>
              </a:pPr>
              <a:t>11</a:t>
            </a:fld>
            <a:endParaRPr lang="en-IN" kern="0"/>
          </a:p>
        </p:txBody>
      </p:sp>
    </p:spTree>
    <p:extLst>
      <p:ext uri="{BB962C8B-B14F-4D97-AF65-F5344CB8AC3E}">
        <p14:creationId xmlns:p14="http://schemas.microsoft.com/office/powerpoint/2010/main" val="328098142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B8FDF-72F4-241C-4880-D5802018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2C74C574-F9FF-3A6A-8026-27EDFD7113D2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id="{B13147D8-53FF-98E9-99F8-6C6AFB25CE5B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A17223AB-4B63-7B7A-8BB9-BC40FB4AC815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How it Works?</a:t>
            </a:r>
            <a:endParaRPr kumimoji="0" sz="3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2198BC01-3692-7B20-24AB-7A143B7FC8C4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C6CA526F-BB10-E0E5-8FA3-97110A2FA966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31547-175A-825D-8EA5-27EAC159D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486" y="1145903"/>
            <a:ext cx="6787138" cy="56942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0C420-510E-C524-7FFA-1CCAD7E71046}"/>
              </a:ext>
            </a:extLst>
          </p:cNvPr>
          <p:cNvSpPr txBox="1"/>
          <p:nvPr/>
        </p:nvSpPr>
        <p:spPr>
          <a:xfrm>
            <a:off x="520667" y="1398364"/>
            <a:ext cx="457598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inserts the test strip into the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device is connected to a smartphone or CPU machine via Wi-Fi/ Bluetooth/ USB.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selects the test to be performed.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device acquires the data from the strip.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edge processing is done on the device.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processed data is transferred to the cloud for further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processed results are displayed on the connected smartphone or CPU machine.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C2FAFC90-1608-B1E1-0160-09B3DAA78092}"/>
              </a:ext>
            </a:extLst>
          </p:cNvPr>
          <p:cNvSpPr/>
          <p:nvPr/>
        </p:nvSpPr>
        <p:spPr>
          <a:xfrm rot="16200000">
            <a:off x="-1664695" y="3484694"/>
            <a:ext cx="4533904" cy="149082"/>
          </a:xfrm>
          <a:prstGeom prst="rect">
            <a:avLst/>
          </a:prstGeom>
          <a:gradFill>
            <a:gsLst>
              <a:gs pos="0">
                <a:srgbClr val="6837FF"/>
              </a:gs>
              <a:gs pos="100000">
                <a:srgbClr val="CF34FF"/>
              </a:gs>
            </a:gsLst>
            <a:lin ang="21291626"/>
          </a:gradFill>
          <a:ln w="25400">
            <a:solidFill>
              <a:srgbClr val="FFFFFF"/>
            </a:solidFill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D99718D1-2175-32A6-3E05-3157A11768C1}"/>
              </a:ext>
            </a:extLst>
          </p:cNvPr>
          <p:cNvSpPr/>
          <p:nvPr/>
        </p:nvSpPr>
        <p:spPr>
          <a:xfrm>
            <a:off x="414189" y="1428006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7B03F320-937C-772B-06FC-631ECE0ADC51}"/>
              </a:ext>
            </a:extLst>
          </p:cNvPr>
          <p:cNvSpPr/>
          <p:nvPr/>
        </p:nvSpPr>
        <p:spPr>
          <a:xfrm>
            <a:off x="407211" y="2213192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554C4AD4-81B9-B378-64E3-70DAC5830596}"/>
              </a:ext>
            </a:extLst>
          </p:cNvPr>
          <p:cNvSpPr/>
          <p:nvPr/>
        </p:nvSpPr>
        <p:spPr>
          <a:xfrm>
            <a:off x="409125" y="2819484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7D6807A8-FC7F-D661-A6E0-57BD46C2503B}"/>
              </a:ext>
            </a:extLst>
          </p:cNvPr>
          <p:cNvSpPr/>
          <p:nvPr/>
        </p:nvSpPr>
        <p:spPr>
          <a:xfrm>
            <a:off x="417590" y="3386011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32AA3C97-E603-89D4-7B34-3083BD3649E4}"/>
              </a:ext>
            </a:extLst>
          </p:cNvPr>
          <p:cNvSpPr/>
          <p:nvPr/>
        </p:nvSpPr>
        <p:spPr>
          <a:xfrm>
            <a:off x="406050" y="3932661"/>
            <a:ext cx="402044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40665D34-7C06-3CD4-4C85-106E88AF5C49}"/>
              </a:ext>
            </a:extLst>
          </p:cNvPr>
          <p:cNvSpPr/>
          <p:nvPr/>
        </p:nvSpPr>
        <p:spPr>
          <a:xfrm>
            <a:off x="407211" y="4497991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F15A5C2C-1046-267D-DF5B-18469CBEC181}"/>
              </a:ext>
            </a:extLst>
          </p:cNvPr>
          <p:cNvSpPr txBox="1"/>
          <p:nvPr/>
        </p:nvSpPr>
        <p:spPr>
          <a:xfrm>
            <a:off x="513699" y="1484615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</a:p>
        </p:txBody>
      </p:sp>
      <p:sp>
        <p:nvSpPr>
          <p:cNvPr id="15" name="2">
            <a:extLst>
              <a:ext uri="{FF2B5EF4-FFF2-40B4-BE49-F238E27FC236}">
                <a16:creationId xmlns:a16="http://schemas.microsoft.com/office/drawing/2014/main" id="{BDF33CB0-F9E1-3827-97DB-19ACDB3AA437}"/>
              </a:ext>
            </a:extLst>
          </p:cNvPr>
          <p:cNvSpPr txBox="1"/>
          <p:nvPr/>
        </p:nvSpPr>
        <p:spPr>
          <a:xfrm>
            <a:off x="506720" y="2269801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</a:p>
        </p:txBody>
      </p:sp>
      <p:sp>
        <p:nvSpPr>
          <p:cNvPr id="16" name="3">
            <a:extLst>
              <a:ext uri="{FF2B5EF4-FFF2-40B4-BE49-F238E27FC236}">
                <a16:creationId xmlns:a16="http://schemas.microsoft.com/office/drawing/2014/main" id="{5E4E4D57-A8B8-1285-601F-2089EDDBB523}"/>
              </a:ext>
            </a:extLst>
          </p:cNvPr>
          <p:cNvSpPr txBox="1"/>
          <p:nvPr/>
        </p:nvSpPr>
        <p:spPr>
          <a:xfrm>
            <a:off x="508634" y="2876093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  <p:sp>
        <p:nvSpPr>
          <p:cNvPr id="17" name="4">
            <a:extLst>
              <a:ext uri="{FF2B5EF4-FFF2-40B4-BE49-F238E27FC236}">
                <a16:creationId xmlns:a16="http://schemas.microsoft.com/office/drawing/2014/main" id="{CA11E5BC-FD9D-15EB-3A95-78962C1EBCF7}"/>
              </a:ext>
            </a:extLst>
          </p:cNvPr>
          <p:cNvSpPr txBox="1"/>
          <p:nvPr/>
        </p:nvSpPr>
        <p:spPr>
          <a:xfrm>
            <a:off x="517099" y="344262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4</a:t>
            </a:r>
          </a:p>
        </p:txBody>
      </p:sp>
      <p:sp>
        <p:nvSpPr>
          <p:cNvPr id="18" name="5">
            <a:extLst>
              <a:ext uri="{FF2B5EF4-FFF2-40B4-BE49-F238E27FC236}">
                <a16:creationId xmlns:a16="http://schemas.microsoft.com/office/drawing/2014/main" id="{78B65C16-FEAD-129A-70BB-8BA6166E9D4C}"/>
              </a:ext>
            </a:extLst>
          </p:cNvPr>
          <p:cNvSpPr txBox="1"/>
          <p:nvPr/>
        </p:nvSpPr>
        <p:spPr>
          <a:xfrm>
            <a:off x="505560" y="398927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5</a:t>
            </a:r>
          </a:p>
        </p:txBody>
      </p:sp>
      <p:sp>
        <p:nvSpPr>
          <p:cNvPr id="19" name="6">
            <a:extLst>
              <a:ext uri="{FF2B5EF4-FFF2-40B4-BE49-F238E27FC236}">
                <a16:creationId xmlns:a16="http://schemas.microsoft.com/office/drawing/2014/main" id="{7FF71768-4DAB-A670-D3B1-844F51642524}"/>
              </a:ext>
            </a:extLst>
          </p:cNvPr>
          <p:cNvSpPr txBox="1"/>
          <p:nvPr/>
        </p:nvSpPr>
        <p:spPr>
          <a:xfrm>
            <a:off x="511693" y="4554600"/>
            <a:ext cx="2030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6</a:t>
            </a: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040BD14A-2F8F-8B60-0C83-717A597ED791}"/>
              </a:ext>
            </a:extLst>
          </p:cNvPr>
          <p:cNvSpPr/>
          <p:nvPr/>
        </p:nvSpPr>
        <p:spPr>
          <a:xfrm>
            <a:off x="422116" y="5077249"/>
            <a:ext cx="402043" cy="402043"/>
          </a:xfrm>
          <a:prstGeom prst="ellipse">
            <a:avLst/>
          </a:prstGeom>
          <a:gradFill>
            <a:gsLst>
              <a:gs pos="0">
                <a:srgbClr val="E677FF"/>
              </a:gs>
              <a:gs pos="100000">
                <a:srgbClr val="5C39FF"/>
              </a:gs>
            </a:gsLst>
            <a:lin ang="16200000"/>
          </a:gradFill>
          <a:ln w="101600">
            <a:solidFill>
              <a:srgbClr val="FFFFFF"/>
            </a:solidFill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6">
            <a:extLst>
              <a:ext uri="{FF2B5EF4-FFF2-40B4-BE49-F238E27FC236}">
                <a16:creationId xmlns:a16="http://schemas.microsoft.com/office/drawing/2014/main" id="{9894F320-DC9B-11E0-358C-19425122F8C0}"/>
              </a:ext>
            </a:extLst>
          </p:cNvPr>
          <p:cNvSpPr txBox="1"/>
          <p:nvPr/>
        </p:nvSpPr>
        <p:spPr>
          <a:xfrm>
            <a:off x="526598" y="5133858"/>
            <a:ext cx="1917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7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431307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BE7B6-FF52-21FE-A049-AA0B264C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C963B98B-FD22-6371-2489-5A5E969452C9}"/>
              </a:ext>
            </a:extLst>
          </p:cNvPr>
          <p:cNvSpPr/>
          <p:nvPr/>
        </p:nvSpPr>
        <p:spPr>
          <a:xfrm>
            <a:off x="0" y="1133504"/>
            <a:ext cx="12192001" cy="5706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7" name="Line">
            <a:extLst>
              <a:ext uri="{FF2B5EF4-FFF2-40B4-BE49-F238E27FC236}">
                <a16:creationId xmlns:a16="http://schemas.microsoft.com/office/drawing/2014/main" id="{1AC10767-1400-2FA0-EA81-1202DEB0CCF8}"/>
              </a:ext>
            </a:extLst>
          </p:cNvPr>
          <p:cNvSpPr/>
          <p:nvPr/>
        </p:nvSpPr>
        <p:spPr>
          <a:xfrm flipV="1">
            <a:off x="5675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D2272E0E-83C6-1536-0D40-55A68C0A0BEE}"/>
              </a:ext>
            </a:extLst>
          </p:cNvPr>
          <p:cNvSpPr txBox="1"/>
          <p:nvPr/>
        </p:nvSpPr>
        <p:spPr>
          <a:xfrm>
            <a:off x="520667" y="365125"/>
            <a:ext cx="8173627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buClr>
                <a:schemeClr val="lt1"/>
              </a:buClr>
              <a:buSzPts val="1800"/>
            </a:pPr>
            <a:r>
              <a:rPr lang="en-US" sz="3200" b="1" dirty="0">
                <a:solidFill>
                  <a:schemeClr val="lt1"/>
                </a:solidFill>
              </a:rPr>
              <a:t>Competition Scenario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chemeClr val="dk1"/>
              </a:buClr>
              <a:buSzPts val="900"/>
            </a:pP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9A8A63CA-78A9-5F4D-E4ED-0A1B8AC762AD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D828A6D7-9F48-9ECD-E736-4A37B5271B7E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B0FE9BD-5D7D-8DED-4E2C-5783EF8496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1" t="9595" r="8463" b="5998"/>
          <a:stretch>
            <a:fillRect/>
          </a:stretch>
        </p:blipFill>
        <p:spPr>
          <a:xfrm>
            <a:off x="4873228" y="2363516"/>
            <a:ext cx="2649316" cy="214972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7A4A77A-6A49-14FB-9CDC-44F3E7FE51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56" t="-1" r="14844" b="59419"/>
          <a:stretch>
            <a:fillRect/>
          </a:stretch>
        </p:blipFill>
        <p:spPr>
          <a:xfrm>
            <a:off x="113217" y="1266384"/>
            <a:ext cx="2147770" cy="173171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DE753D5-33D8-DD08-A608-215DE583D2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5" t="6030" r="9682" b="44863"/>
          <a:stretch>
            <a:fillRect/>
          </a:stretch>
        </p:blipFill>
        <p:spPr>
          <a:xfrm>
            <a:off x="7347005" y="1259047"/>
            <a:ext cx="2182330" cy="186858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5BFD2A1-F465-9852-6332-E8AF06B84D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7700"/>
          <a:stretch>
            <a:fillRect/>
          </a:stretch>
        </p:blipFill>
        <p:spPr>
          <a:xfrm>
            <a:off x="7378350" y="4208160"/>
            <a:ext cx="2258315" cy="180078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758B8CB-4C25-DAA4-C793-E5754D3859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6300"/>
          <a:stretch>
            <a:fillRect/>
          </a:stretch>
        </p:blipFill>
        <p:spPr>
          <a:xfrm>
            <a:off x="50213" y="4051270"/>
            <a:ext cx="1888323" cy="180078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9015647-F709-A651-0FAF-938970C751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973" r="8445"/>
          <a:stretch>
            <a:fillRect/>
          </a:stretch>
        </p:blipFill>
        <p:spPr>
          <a:xfrm>
            <a:off x="2386228" y="1418042"/>
            <a:ext cx="2539258" cy="123179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E27A907-AD93-0351-BAFC-8A0383C8822F}"/>
              </a:ext>
            </a:extLst>
          </p:cNvPr>
          <p:cNvSpPr txBox="1"/>
          <p:nvPr/>
        </p:nvSpPr>
        <p:spPr>
          <a:xfrm>
            <a:off x="2339865" y="2153582"/>
            <a:ext cx="1293823" cy="5069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4AA0A96-2520-2527-B521-C84BFB6568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1505" r="8210"/>
          <a:stretch>
            <a:fillRect/>
          </a:stretch>
        </p:blipFill>
        <p:spPr>
          <a:xfrm>
            <a:off x="2014855" y="4197438"/>
            <a:ext cx="2673555" cy="124252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78DAAA-EA02-E95F-FE09-8CCFD224E1B6}"/>
              </a:ext>
            </a:extLst>
          </p:cNvPr>
          <p:cNvSpPr txBox="1"/>
          <p:nvPr/>
        </p:nvSpPr>
        <p:spPr>
          <a:xfrm>
            <a:off x="2025345" y="5019398"/>
            <a:ext cx="1254884" cy="498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204A413-C98D-89D8-6C1F-670E58DC23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5" t="67558" r="-1724"/>
          <a:stretch>
            <a:fillRect/>
          </a:stretch>
        </p:blipFill>
        <p:spPr>
          <a:xfrm>
            <a:off x="9583363" y="1418043"/>
            <a:ext cx="2578425" cy="129421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EA3FCD5-D6C7-6BD4-7B50-B42E728E94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700"/>
          <a:stretch>
            <a:fillRect/>
          </a:stretch>
        </p:blipFill>
        <p:spPr>
          <a:xfrm>
            <a:off x="9848715" y="4119007"/>
            <a:ext cx="2258315" cy="180078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BB6954C-D756-DF5E-7FA5-5D8B6F5025DF}"/>
              </a:ext>
            </a:extLst>
          </p:cNvPr>
          <p:cNvSpPr txBox="1"/>
          <p:nvPr/>
        </p:nvSpPr>
        <p:spPr>
          <a:xfrm>
            <a:off x="9761906" y="5345074"/>
            <a:ext cx="1152837" cy="506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6E2F2B-9F41-B2E1-78B1-24D383C5A744}"/>
              </a:ext>
            </a:extLst>
          </p:cNvPr>
          <p:cNvSpPr txBox="1"/>
          <p:nvPr/>
        </p:nvSpPr>
        <p:spPr>
          <a:xfrm>
            <a:off x="9583363" y="2094794"/>
            <a:ext cx="1215966" cy="506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C688EA-8EE2-F6FF-D274-3E601C7086F0}"/>
              </a:ext>
            </a:extLst>
          </p:cNvPr>
          <p:cNvSpPr txBox="1"/>
          <p:nvPr/>
        </p:nvSpPr>
        <p:spPr>
          <a:xfrm>
            <a:off x="45199" y="4119007"/>
            <a:ext cx="4643211" cy="1889935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EB61D2-D378-CE52-5EDB-B1DF2A1C5661}"/>
              </a:ext>
            </a:extLst>
          </p:cNvPr>
          <p:cNvSpPr txBox="1"/>
          <p:nvPr/>
        </p:nvSpPr>
        <p:spPr>
          <a:xfrm>
            <a:off x="45199" y="1193526"/>
            <a:ext cx="4848943" cy="1990202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B98C7E-27BA-3662-18F5-D23700C899B5}"/>
              </a:ext>
            </a:extLst>
          </p:cNvPr>
          <p:cNvSpPr txBox="1"/>
          <p:nvPr/>
        </p:nvSpPr>
        <p:spPr>
          <a:xfrm>
            <a:off x="7431143" y="4018739"/>
            <a:ext cx="4710644" cy="1990203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0CC4E9A-8AC7-B38B-2F6C-028D6F2FBF05}"/>
              </a:ext>
            </a:extLst>
          </p:cNvPr>
          <p:cNvSpPr txBox="1"/>
          <p:nvPr/>
        </p:nvSpPr>
        <p:spPr>
          <a:xfrm>
            <a:off x="7378349" y="1253843"/>
            <a:ext cx="4782745" cy="1936321"/>
          </a:xfrm>
          <a:prstGeom prst="rect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C68D80-D56E-9D3F-A998-A276DE191E75}"/>
              </a:ext>
            </a:extLst>
          </p:cNvPr>
          <p:cNvSpPr txBox="1"/>
          <p:nvPr/>
        </p:nvSpPr>
        <p:spPr>
          <a:xfrm>
            <a:off x="5757129" y="5205985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₹</a:t>
            </a:r>
            <a:r>
              <a:rPr lang="en-US" sz="2000" b="1" dirty="0"/>
              <a:t>1999/-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1733F5E-2B3E-7DD5-DB3D-D1C8BED0DF3D}"/>
              </a:ext>
            </a:extLst>
          </p:cNvPr>
          <p:cNvSpPr txBox="1"/>
          <p:nvPr/>
        </p:nvSpPr>
        <p:spPr>
          <a:xfrm>
            <a:off x="5309542" y="4750166"/>
            <a:ext cx="1753042" cy="91163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640AE3-448E-B2D4-EBA8-7572B560BB2A}"/>
              </a:ext>
            </a:extLst>
          </p:cNvPr>
          <p:cNvSpPr txBox="1"/>
          <p:nvPr/>
        </p:nvSpPr>
        <p:spPr>
          <a:xfrm>
            <a:off x="5019650" y="4825790"/>
            <a:ext cx="1636987" cy="40011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lvl="1"/>
            <a:r>
              <a:rPr lang="en-US" sz="2000" b="1" dirty="0" err="1"/>
              <a:t>BillionTests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7589523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A0E51-32A0-3E83-75CC-FC597B97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EF2D40D9-867E-562B-6B73-CD9643197A35}"/>
              </a:ext>
            </a:extLst>
          </p:cNvPr>
          <p:cNvSpPr/>
          <p:nvPr/>
        </p:nvSpPr>
        <p:spPr>
          <a:xfrm>
            <a:off x="-1" y="1536159"/>
            <a:ext cx="12192001" cy="53426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46C413B6-FD13-023F-20F4-CC2CDD89CB93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E309766F-1CF3-5A3E-6E8F-C7E92A4BD67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859DB8A6-1F10-F780-B8F4-065659C93AA2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C42BC-4C78-4C0E-E2F4-6ABB407DA5C5}"/>
              </a:ext>
            </a:extLst>
          </p:cNvPr>
          <p:cNvSpPr txBox="1"/>
          <p:nvPr/>
        </p:nvSpPr>
        <p:spPr>
          <a:xfrm>
            <a:off x="413135" y="450933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hangingPunct="0">
              <a:defRPr/>
            </a:pPr>
            <a:r>
              <a:rPr lang="en-IN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COMPETITIVE ADVANTAGES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568A2F30-8C9A-1EE4-10EE-FF4FF342F9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787354"/>
              </p:ext>
            </p:extLst>
          </p:nvPr>
        </p:nvGraphicFramePr>
        <p:xfrm>
          <a:off x="1184249" y="1751602"/>
          <a:ext cx="9823500" cy="4073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ounded Rectangle">
            <a:extLst>
              <a:ext uri="{FF2B5EF4-FFF2-40B4-BE49-F238E27FC236}">
                <a16:creationId xmlns:a16="http://schemas.microsoft.com/office/drawing/2014/main" id="{F3B54ECA-EF4D-8346-000A-CEDA41BD2F07}"/>
              </a:ext>
            </a:extLst>
          </p:cNvPr>
          <p:cNvSpPr/>
          <p:nvPr/>
        </p:nvSpPr>
        <p:spPr>
          <a:xfrm>
            <a:off x="1184249" y="6040202"/>
            <a:ext cx="9823500" cy="374578"/>
          </a:xfrm>
          <a:prstGeom prst="roundRect">
            <a:avLst>
              <a:gd name="adj" fmla="val 6725"/>
            </a:avLst>
          </a:prstGeom>
          <a:gradFill>
            <a:gsLst>
              <a:gs pos="0">
                <a:srgbClr val="FFC2F2"/>
              </a:gs>
              <a:gs pos="100000">
                <a:srgbClr val="CBCDFF"/>
              </a:gs>
            </a:gsLst>
            <a:lin ang="12802050"/>
          </a:gradFill>
          <a:ln w="25400">
            <a:solidFill>
              <a:schemeClr val="accent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lvl="0" hangingPunct="0"/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D745D-1C12-19BB-F3F1-E8F9B8241F7B}"/>
              </a:ext>
            </a:extLst>
          </p:cNvPr>
          <p:cNvSpPr txBox="1"/>
          <p:nvPr/>
        </p:nvSpPr>
        <p:spPr>
          <a:xfrm>
            <a:off x="1271717" y="6045448"/>
            <a:ext cx="982349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Filed: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Core AI-based strip interpretation and calibration methodology under patent protection.</a:t>
            </a:r>
          </a:p>
        </p:txBody>
      </p:sp>
    </p:spTree>
    <p:extLst>
      <p:ext uri="{BB962C8B-B14F-4D97-AF65-F5344CB8AC3E}">
        <p14:creationId xmlns:p14="http://schemas.microsoft.com/office/powerpoint/2010/main" val="407141972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535D7-D310-6A10-EB9D-A95E5BE6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BD304C84-E5CA-8B6A-EF99-04CB5D1AC7D8}"/>
              </a:ext>
            </a:extLst>
          </p:cNvPr>
          <p:cNvSpPr/>
          <p:nvPr/>
        </p:nvSpPr>
        <p:spPr>
          <a:xfrm>
            <a:off x="-1" y="1422271"/>
            <a:ext cx="12192001" cy="545658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CEE7F941-7DA9-84F4-EAED-CB5579647352}"/>
              </a:ext>
            </a:extLst>
          </p:cNvPr>
          <p:cNvSpPr/>
          <p:nvPr/>
        </p:nvSpPr>
        <p:spPr>
          <a:xfrm>
            <a:off x="5416481" y="1422271"/>
            <a:ext cx="6775519" cy="5406350"/>
          </a:xfrm>
          <a:prstGeom prst="rect">
            <a:avLst/>
          </a:prstGeom>
          <a:solidFill>
            <a:srgbClr val="D9C9FE">
              <a:alpha val="5981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6537B439-BC8E-254D-1BDA-3B4A05944EB4}"/>
              </a:ext>
            </a:extLst>
          </p:cNvPr>
          <p:cNvSpPr/>
          <p:nvPr/>
        </p:nvSpPr>
        <p:spPr>
          <a:xfrm>
            <a:off x="0" y="1422271"/>
            <a:ext cx="5416482" cy="5483884"/>
          </a:xfrm>
          <a:prstGeom prst="rect">
            <a:avLst/>
          </a:prstGeom>
          <a:solidFill>
            <a:srgbClr val="D3E2FF">
              <a:alpha val="60273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8E0CB26D-C759-0C1B-2C80-2C00A2963BF6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5FE03A84-5E9B-167F-6742-863129D140C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AB69A9F8-3FD2-F2B7-BA22-2B7C3BF70339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152F9-87E7-C581-DCAE-BEDF75F0EB7B}"/>
              </a:ext>
            </a:extLst>
          </p:cNvPr>
          <p:cNvSpPr txBox="1"/>
          <p:nvPr/>
        </p:nvSpPr>
        <p:spPr>
          <a:xfrm>
            <a:off x="413135" y="450933"/>
            <a:ext cx="736415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&amp; PUBLIC HEALTH IMPACT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6D2E61E-D979-2B59-E751-A933B098C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36657" y="1536389"/>
            <a:ext cx="5617144" cy="5228348"/>
          </a:xfrm>
        </p:spPr>
        <p:txBody>
          <a:bodyPr numCol="1">
            <a:noAutofit/>
          </a:bodyPr>
          <a:lstStyle/>
          <a:p>
            <a:pPr marL="114300" indent="0" algn="just">
              <a:buNone/>
            </a:pPr>
            <a:r>
              <a:rPr lang="en-IN" sz="1600" b="1" dirty="0">
                <a:solidFill>
                  <a:schemeClr val="tx1"/>
                </a:solidFill>
              </a:rPr>
              <a:t>2. Alignment with National Goals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SDG 3:</a:t>
            </a:r>
            <a:r>
              <a:rPr lang="en-IN" sz="1600" dirty="0">
                <a:solidFill>
                  <a:schemeClr val="tx1"/>
                </a:solidFill>
              </a:rPr>
              <a:t> Good Health and Well-being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Ayushman Bharat:</a:t>
            </a:r>
            <a:r>
              <a:rPr lang="en-IN" sz="1600" dirty="0">
                <a:solidFill>
                  <a:schemeClr val="tx1"/>
                </a:solidFill>
              </a:rPr>
              <a:t> Preventive healthcare mission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National Health Mission:</a:t>
            </a:r>
            <a:r>
              <a:rPr lang="en-IN" sz="1600" dirty="0">
                <a:solidFill>
                  <a:schemeClr val="tx1"/>
                </a:solidFill>
              </a:rPr>
              <a:t> Universal health coverage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Digital India:</a:t>
            </a:r>
            <a:r>
              <a:rPr lang="en-IN" sz="1600" dirty="0">
                <a:solidFill>
                  <a:schemeClr val="tx1"/>
                </a:solidFill>
              </a:rPr>
              <a:t> Healthcare digitization 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b="1" dirty="0">
                <a:solidFill>
                  <a:schemeClr val="tx1"/>
                </a:solidFill>
              </a:rPr>
              <a:t>Skill India:</a:t>
            </a:r>
            <a:r>
              <a:rPr lang="en-IN" sz="1600" dirty="0">
                <a:solidFill>
                  <a:schemeClr val="tx1"/>
                </a:solidFill>
              </a:rPr>
              <a:t> Empowers workers with technology</a:t>
            </a:r>
          </a:p>
          <a:p>
            <a:pPr>
              <a:buClr>
                <a:schemeClr val="tx1"/>
              </a:buClr>
              <a:buSzPct val="100000"/>
            </a:pPr>
            <a:endParaRPr lang="en-IN" sz="16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600" b="1" dirty="0">
                <a:solidFill>
                  <a:schemeClr val="tx1"/>
                </a:solidFill>
              </a:rPr>
              <a:t>3. Global Impact Potential</a:t>
            </a:r>
            <a:endParaRPr lang="en-IN" sz="1600" dirty="0">
              <a:solidFill>
                <a:schemeClr val="tx1"/>
              </a:solidFill>
            </a:endParaRPr>
          </a:p>
          <a:p>
            <a:pPr marL="114300" indent="0">
              <a:buClr>
                <a:schemeClr val="bg1"/>
              </a:buClr>
              <a:buSzPct val="100000"/>
              <a:buNone/>
            </a:pPr>
            <a:r>
              <a:rPr lang="en-IN" sz="1600" b="1" dirty="0">
                <a:solidFill>
                  <a:schemeClr val="tx1"/>
                </a:solidFill>
              </a:rPr>
              <a:t>According to Lancet Commission:</a:t>
            </a:r>
            <a:endParaRPr lang="en-IN" sz="16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47% of global population lacks access to early diagnostics</a:t>
            </a:r>
          </a:p>
          <a:p>
            <a:pPr>
              <a:buClr>
                <a:schemeClr val="tx1"/>
              </a:buClr>
              <a:buSzPct val="100000"/>
            </a:pPr>
            <a:r>
              <a:rPr lang="en-IN" sz="1600" dirty="0" err="1">
                <a:solidFill>
                  <a:schemeClr val="tx1"/>
                </a:solidFill>
              </a:rPr>
              <a:t>BillionTests</a:t>
            </a:r>
            <a:r>
              <a:rPr lang="en-IN" sz="1600" dirty="0">
                <a:solidFill>
                  <a:schemeClr val="tx1"/>
                </a:solidFill>
              </a:rPr>
              <a:t> addresses this through: 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Ultra-low cost (&lt;$2 per test)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No infrastructure requirement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Simple operation (single click)</a:t>
            </a:r>
          </a:p>
          <a:p>
            <a:pPr lvl="1">
              <a:buClr>
                <a:schemeClr val="tx1"/>
              </a:buClr>
              <a:buSzPct val="100000"/>
            </a:pPr>
            <a:r>
              <a:rPr lang="en-IN" sz="1600" dirty="0">
                <a:solidFill>
                  <a:schemeClr val="tx1"/>
                </a:solidFill>
              </a:rPr>
              <a:t>Scalable deployment model</a:t>
            </a:r>
          </a:p>
          <a:p>
            <a:endParaRPr lang="en-IN" sz="1600" dirty="0">
              <a:solidFill>
                <a:schemeClr val="tx1"/>
              </a:solidFill>
            </a:endParaRPr>
          </a:p>
          <a:p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0B83-1267-1CC1-2BA9-CAB6364C2710}"/>
              </a:ext>
            </a:extLst>
          </p:cNvPr>
          <p:cNvSpPr txBox="1"/>
          <p:nvPr/>
        </p:nvSpPr>
        <p:spPr>
          <a:xfrm>
            <a:off x="520668" y="1581620"/>
            <a:ext cx="4831206" cy="53245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Benefits</a:t>
            </a:r>
          </a:p>
          <a:p>
            <a:pPr marL="5715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Disease Detection: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at-risk individuals before symptoms develop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timely intervention and treatment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progression to severe complications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Healthcare System Load: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Decreases tertiary hospital admissions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preventive care at primary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Optimizes resource allocation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Community Health Data: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population health monitoring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policy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Epidemic/outbreak early warning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9000"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Equity: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Brings diagnostics to underserved populations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Bridges urban-rural healthcare gap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Empowers community health workers</a:t>
            </a:r>
          </a:p>
        </p:txBody>
      </p:sp>
    </p:spTree>
    <p:extLst>
      <p:ext uri="{BB962C8B-B14F-4D97-AF65-F5344CB8AC3E}">
        <p14:creationId xmlns:p14="http://schemas.microsoft.com/office/powerpoint/2010/main" val="395410132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5D650-5D72-ACA2-4610-AD0265BFC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92019251-F8F3-0A94-90FA-B8C9A57919EB}"/>
              </a:ext>
            </a:extLst>
          </p:cNvPr>
          <p:cNvSpPr/>
          <p:nvPr/>
        </p:nvSpPr>
        <p:spPr>
          <a:xfrm>
            <a:off x="-1" y="1277260"/>
            <a:ext cx="12192001" cy="56015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A8668F5F-9F4C-3E15-7349-DA22C334D260}"/>
              </a:ext>
            </a:extLst>
          </p:cNvPr>
          <p:cNvSpPr txBox="1"/>
          <p:nvPr/>
        </p:nvSpPr>
        <p:spPr>
          <a:xfrm>
            <a:off x="413135" y="315156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Summary of technology validations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0B08B30C-0245-3BA7-2078-2DC317D4538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A22F7158-8B0E-E27D-F6DC-CEC4F51F7934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E3D53-FDEA-E566-4552-137AA0A79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260422"/>
              </p:ext>
            </p:extLst>
          </p:nvPr>
        </p:nvGraphicFramePr>
        <p:xfrm>
          <a:off x="0" y="1277258"/>
          <a:ext cx="12192000" cy="5580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3829">
                  <a:extLst>
                    <a:ext uri="{9D8B030D-6E8A-4147-A177-3AD203B41FA5}">
                      <a16:colId xmlns:a16="http://schemas.microsoft.com/office/drawing/2014/main" val="2057375820"/>
                    </a:ext>
                  </a:extLst>
                </a:gridCol>
                <a:gridCol w="2148114">
                  <a:extLst>
                    <a:ext uri="{9D8B030D-6E8A-4147-A177-3AD203B41FA5}">
                      <a16:colId xmlns:a16="http://schemas.microsoft.com/office/drawing/2014/main" val="1130504680"/>
                    </a:ext>
                  </a:extLst>
                </a:gridCol>
                <a:gridCol w="5999614">
                  <a:extLst>
                    <a:ext uri="{9D8B030D-6E8A-4147-A177-3AD203B41FA5}">
                      <a16:colId xmlns:a16="http://schemas.microsoft.com/office/drawing/2014/main" val="3347702730"/>
                    </a:ext>
                  </a:extLst>
                </a:gridCol>
                <a:gridCol w="1170443">
                  <a:extLst>
                    <a:ext uri="{9D8B030D-6E8A-4147-A177-3AD203B41FA5}">
                      <a16:colId xmlns:a16="http://schemas.microsoft.com/office/drawing/2014/main" val="60637783"/>
                    </a:ext>
                  </a:extLst>
                </a:gridCol>
              </a:tblGrid>
              <a:tr h="39898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 Area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Activities Performed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Outcome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43482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1 – Core Tech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Mobile Apps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Functional, UI/UX, stress testing across Android &amp; iOS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19338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Hardware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Optical calibration, durability, lighting variation tests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460398"/>
                  </a:ext>
                </a:extLst>
              </a:tr>
              <a:tr h="46234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Connectivity &amp; Location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Local, internet connectivity, GPS validation, secure data transfer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224075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2 – System Reliability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Blockchain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API integration, transaction stress test, audit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83168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 Infrastructure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 testing, auto-scaling, encryption &amp; compliance checks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893781"/>
                  </a:ext>
                </a:extLst>
              </a:tr>
              <a:tr h="46234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Technology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training on thousands of strip images, benchmarking vs. experts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719522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3 – Controlled Testing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Synthetic Urine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Controlled testing with chemical variations of pH, glucose, salt, etc.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82200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Reference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 card-based reading vs. AI reading comparison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504223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4 – Field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Lab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Multi-city validation in diagnostic labs with real strips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4332"/>
                  </a:ext>
                </a:extLst>
              </a:tr>
              <a:tr h="297501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User Feedback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Ease of use, speed, adoption study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00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Done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109951"/>
                  </a:ext>
                </a:extLst>
              </a:tr>
              <a:tr h="556432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Phase 5 – Clinical Validation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Institutional Trials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 started at A. City Imaging (Delhi) and B. GIMS (Greater Noida) 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Completed  at  A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95645"/>
                  </a:ext>
                </a:extLst>
              </a:tr>
              <a:tr h="54384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7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Regulatory Prep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collection for compliance standards from MedTech Mitra, GIMS (Greater Noida) &amp; COE-AI, IIT Kanpur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</a:t>
                      </a:r>
                    </a:p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 Progress</a:t>
                      </a:r>
                    </a:p>
                  </a:txBody>
                  <a:tcPr marL="25484" marR="25484" marT="8495" marB="8495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5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5088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677F6-DF3B-074A-B127-B6CF5AC8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>
            <a:extLst>
              <a:ext uri="{FF2B5EF4-FFF2-40B4-BE49-F238E27FC236}">
                <a16:creationId xmlns:a16="http://schemas.microsoft.com/office/drawing/2014/main" id="{9FA0A5FD-C138-1D7A-024A-DAEBCB36CCDB}"/>
              </a:ext>
            </a:extLst>
          </p:cNvPr>
          <p:cNvSpPr/>
          <p:nvPr/>
        </p:nvSpPr>
        <p:spPr>
          <a:xfrm>
            <a:off x="-1" y="1536159"/>
            <a:ext cx="12192001" cy="5342696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8" name="AI Model">
            <a:extLst>
              <a:ext uri="{FF2B5EF4-FFF2-40B4-BE49-F238E27FC236}">
                <a16:creationId xmlns:a16="http://schemas.microsoft.com/office/drawing/2014/main" id="{19F341C6-2BE2-F780-3412-710ADFE2D231}"/>
              </a:ext>
            </a:extLst>
          </p:cNvPr>
          <p:cNvSpPr txBox="1"/>
          <p:nvPr/>
        </p:nvSpPr>
        <p:spPr>
          <a:xfrm>
            <a:off x="520668" y="450933"/>
            <a:ext cx="7364158" cy="7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lide Number">
            <a:extLst>
              <a:ext uri="{FF2B5EF4-FFF2-40B4-BE49-F238E27FC236}">
                <a16:creationId xmlns:a16="http://schemas.microsoft.com/office/drawing/2014/main" id="{EEB1F8D8-9D95-E4E1-094F-16D73781FC1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2C5915F5-5D9B-EE6B-16F6-1BED4B6AFCDD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AECC0CC-44FA-D017-8E26-0BF7BA22684C}"/>
              </a:ext>
            </a:extLst>
          </p:cNvPr>
          <p:cNvGraphicFramePr/>
          <p:nvPr/>
        </p:nvGraphicFramePr>
        <p:xfrm>
          <a:off x="497492" y="2593972"/>
          <a:ext cx="10574548" cy="3170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186D0B-C6FB-9CE1-3DD8-16FE06ABDDDD}"/>
              </a:ext>
            </a:extLst>
          </p:cNvPr>
          <p:cNvSpPr txBox="1"/>
          <p:nvPr/>
        </p:nvSpPr>
        <p:spPr>
          <a:xfrm>
            <a:off x="413135" y="476384"/>
            <a:ext cx="60935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Expansion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140CEB-CE90-4EE3-E3D0-DF34E926ED7D}"/>
              </a:ext>
            </a:extLst>
          </p:cNvPr>
          <p:cNvSpPr/>
          <p:nvPr/>
        </p:nvSpPr>
        <p:spPr>
          <a:xfrm>
            <a:off x="520668" y="1751794"/>
            <a:ext cx="10528196" cy="71508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BillionTests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not limited to urinalysis — the same AI + IoT + Blockchain platform can power a universal diagnostic ecosystem: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C2C1F0-561F-19F1-4669-61A70537872C}"/>
              </a:ext>
            </a:extLst>
          </p:cNvPr>
          <p:cNvSpPr/>
          <p:nvPr/>
        </p:nvSpPr>
        <p:spPr>
          <a:xfrm>
            <a:off x="520668" y="5891162"/>
            <a:ext cx="10528196" cy="408620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Vision: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 urine-based gateway test to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comprehensive, low-cost diagnostic platform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serving billions.</a:t>
            </a:r>
          </a:p>
        </p:txBody>
      </p:sp>
    </p:spTree>
    <p:extLst>
      <p:ext uri="{BB962C8B-B14F-4D97-AF65-F5344CB8AC3E}">
        <p14:creationId xmlns:p14="http://schemas.microsoft.com/office/powerpoint/2010/main" val="6417450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Rectangle"/>
          <p:cNvSpPr/>
          <p:nvPr/>
        </p:nvSpPr>
        <p:spPr>
          <a:xfrm>
            <a:off x="0" y="3233394"/>
            <a:ext cx="12192001" cy="36362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6" name="Google Shape;364;p32"/>
          <p:cNvSpPr txBox="1">
            <a:spLocks noGrp="1"/>
          </p:cNvSpPr>
          <p:nvPr>
            <p:ph type="body" sz="quarter" idx="1"/>
          </p:nvPr>
        </p:nvSpPr>
        <p:spPr>
          <a:xfrm>
            <a:off x="505607" y="1128244"/>
            <a:ext cx="10929106" cy="208868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marR="0">
              <a:buNone/>
            </a:pP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The development team comes from </a:t>
            </a:r>
            <a:r>
              <a:rPr lang="en-IN" sz="180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Kanpur 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and </a:t>
            </a:r>
            <a:r>
              <a:rPr lang="en-IN" sz="180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Jodhpur</a:t>
            </a:r>
            <a:r>
              <a:rPr lang="en-IN" sz="180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, possesses over 10 years of deep expertise in AI and computer vision, with a proven track record of delivering more than 10 state-of-the-art AI products. Key innovations include:</a:t>
            </a:r>
          </a:p>
          <a:p>
            <a:pPr fontAlgn="ctr"/>
            <a:r>
              <a:rPr lang="en-IN" sz="1800" b="1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Checko.ai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(an </a:t>
            </a:r>
            <a:r>
              <a:rPr lang="en-IN" sz="1800" i="0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IIT Kanpur 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spin-off) – A highly accurate anti-counterfeiting solution with a 1-in-a-million failure rate. It operates seamlessly on any smartphone and under any lighting conditions, and is trusted by organizations such as Amazon, IOCL, Delhi Excise, and the Security Press.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ctr"/>
            <a:r>
              <a:rPr lang="en-IN" sz="1800" b="1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Upjao.ai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– An AI-powered grain quality assessment platform that detects a wide range of grain defects. It is actively used by prominent industry players like ITC FBD, Tata FDRVC, Adani Wilmar, and the Reliance Foundation.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  <a:p>
            <a:pPr fontAlgn="ctr"/>
            <a:r>
              <a:rPr lang="en-IN" sz="1800" b="1" i="0" dirty="0" err="1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Tracksure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 – A computer vision-based, end-to-end crate tracking system implemented in large-scale dairy networks including Amul and </a:t>
            </a:r>
            <a:r>
              <a:rPr lang="en-IN" sz="18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Hatsun</a:t>
            </a:r>
            <a:r>
              <a:rPr lang="en-IN" sz="1800" b="0" i="0" dirty="0"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</a:rPr>
              <a:t>.</a:t>
            </a:r>
            <a:endParaRPr lang="en-IN" sz="1800" b="1" i="0" dirty="0"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490" name="Group"/>
          <p:cNvGrpSpPr/>
          <p:nvPr/>
        </p:nvGrpSpPr>
        <p:grpSpPr>
          <a:xfrm>
            <a:off x="388950" y="3471814"/>
            <a:ext cx="1761291" cy="3111012"/>
            <a:chOff x="0" y="0"/>
            <a:chExt cx="1761289" cy="3111011"/>
          </a:xfrm>
        </p:grpSpPr>
        <p:sp>
          <p:nvSpPr>
            <p:cNvPr id="487" name="Rounded Rectangle"/>
            <p:cNvSpPr/>
            <p:nvPr/>
          </p:nvSpPr>
          <p:spPr>
            <a:xfrm>
              <a:off x="0" y="0"/>
              <a:ext cx="1761289" cy="3111011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488" name="Google Shape;369;p32" descr="Google Shape;369;p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783" y="197306"/>
              <a:ext cx="1295401" cy="1295401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489" name="Google Shape;371;p32"/>
            <p:cNvSpPr/>
            <p:nvPr/>
          </p:nvSpPr>
          <p:spPr>
            <a:xfrm>
              <a:off x="184393" y="1644434"/>
              <a:ext cx="1486181" cy="1384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Co-founder</a:t>
              </a: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Business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Pranav Asthana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M.Tech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., IIT K Founded </a:t>
              </a:r>
              <a:r>
                <a:rPr kumimoji="0" lang="en-I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earlier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–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checko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upjao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schozzle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roup"/>
          <p:cNvGrpSpPr/>
          <p:nvPr/>
        </p:nvGrpSpPr>
        <p:grpSpPr>
          <a:xfrm>
            <a:off x="2287675" y="3461222"/>
            <a:ext cx="1869558" cy="3109387"/>
            <a:chOff x="0" y="0"/>
            <a:chExt cx="1869557" cy="3109386"/>
          </a:xfrm>
        </p:grpSpPr>
        <p:sp>
          <p:nvSpPr>
            <p:cNvPr id="491" name="Rounded Rectangle"/>
            <p:cNvSpPr/>
            <p:nvPr/>
          </p:nvSpPr>
          <p:spPr>
            <a:xfrm>
              <a:off x="0" y="0"/>
              <a:ext cx="1869557" cy="3109386"/>
            </a:xfrm>
            <a:prstGeom prst="roundRect">
              <a:avLst>
                <a:gd name="adj" fmla="val 10190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pic>
          <p:nvPicPr>
            <p:cNvPr id="492" name="Google Shape;370;p32" descr="Google Shape;370;p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1211" y="179913"/>
              <a:ext cx="1295401" cy="1295401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493" name="Google Shape;372;p32"/>
            <p:cNvSpPr/>
            <p:nvPr/>
          </p:nvSpPr>
          <p:spPr>
            <a:xfrm>
              <a:off x="89010" y="1690759"/>
              <a:ext cx="1691536" cy="1169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Co-founder, Product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Ritu Mishra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Ex-Researcher, IIT K Built 5+ deep tech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products from scratch</a:t>
              </a:r>
            </a:p>
          </p:txBody>
        </p:sp>
      </p:grpSp>
      <p:sp>
        <p:nvSpPr>
          <p:cNvPr id="495" name="Rounded Rectangle"/>
          <p:cNvSpPr/>
          <p:nvPr/>
        </p:nvSpPr>
        <p:spPr>
          <a:xfrm>
            <a:off x="10126820" y="3472875"/>
            <a:ext cx="1761291" cy="3108399"/>
          </a:xfrm>
          <a:prstGeom prst="roundRect">
            <a:avLst>
              <a:gd name="adj" fmla="val 10816"/>
            </a:avLst>
          </a:prstGeom>
          <a:gradFill flip="none" rotWithShape="1">
            <a:gsLst>
              <a:gs pos="0">
                <a:srgbClr val="FFC2F2"/>
              </a:gs>
              <a:gs pos="100000">
                <a:srgbClr val="CBCDFF"/>
              </a:gs>
            </a:gsLst>
            <a:lin ang="12802050" scaled="0"/>
          </a:gradFill>
          <a:ln w="25400" cap="flat">
            <a:solidFill>
              <a:schemeClr val="accent1"/>
            </a:solidFill>
            <a:prstDash val="solid"/>
            <a:round/>
          </a:ln>
          <a:effectLst>
            <a:outerShdw blurRad="190500" dist="12700" dir="5400000" rotWithShape="0">
              <a:srgbClr val="000000">
                <a:alpha val="24264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02" name="Group"/>
          <p:cNvGrpSpPr/>
          <p:nvPr/>
        </p:nvGrpSpPr>
        <p:grpSpPr>
          <a:xfrm>
            <a:off x="4340651" y="3466005"/>
            <a:ext cx="1761291" cy="3117540"/>
            <a:chOff x="0" y="0"/>
            <a:chExt cx="1761289" cy="3117539"/>
          </a:xfrm>
        </p:grpSpPr>
        <p:sp>
          <p:nvSpPr>
            <p:cNvPr id="499" name="Rounded Rectangle"/>
            <p:cNvSpPr/>
            <p:nvPr/>
          </p:nvSpPr>
          <p:spPr>
            <a:xfrm>
              <a:off x="0" y="0"/>
              <a:ext cx="1761289" cy="3117539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1" name="Google Shape;375;p32"/>
            <p:cNvSpPr/>
            <p:nvPr/>
          </p:nvSpPr>
          <p:spPr>
            <a:xfrm>
              <a:off x="129279" y="1653948"/>
              <a:ext cx="1544946" cy="1169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lvl="0" hangingPunct="0"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200" kern="0" dirty="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rPr>
                <a:t>Co-founder, Tech</a:t>
              </a:r>
            </a:p>
            <a:p>
              <a:pPr lvl="0" hangingPunct="0">
                <a:defRPr sz="16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b="1" kern="0" dirty="0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rPr>
                <a:t>Mohini Behera</a:t>
              </a:r>
            </a:p>
            <a:p>
              <a:pPr lvl="0" hangingPunct="0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400" kern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B.Tech., NIT R </a:t>
              </a:r>
            </a:p>
            <a:p>
              <a:pPr lvl="0" hangingPunct="0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IN" sz="1400" kern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Built 10+ AI Products</a:t>
              </a:r>
            </a:p>
          </p:txBody>
        </p:sp>
      </p:grpSp>
      <p:grpSp>
        <p:nvGrpSpPr>
          <p:cNvPr id="506" name="Group"/>
          <p:cNvGrpSpPr/>
          <p:nvPr/>
        </p:nvGrpSpPr>
        <p:grpSpPr>
          <a:xfrm>
            <a:off x="8199123" y="3473367"/>
            <a:ext cx="1771922" cy="3107907"/>
            <a:chOff x="0" y="0"/>
            <a:chExt cx="1771920" cy="3107905"/>
          </a:xfrm>
        </p:grpSpPr>
        <p:sp>
          <p:nvSpPr>
            <p:cNvPr id="503" name="Rounded Rectangle"/>
            <p:cNvSpPr/>
            <p:nvPr/>
          </p:nvSpPr>
          <p:spPr>
            <a:xfrm>
              <a:off x="0" y="0"/>
              <a:ext cx="1761289" cy="3107905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4" name="Google Shape;377;p32"/>
            <p:cNvSpPr/>
            <p:nvPr/>
          </p:nvSpPr>
          <p:spPr>
            <a:xfrm>
              <a:off x="96760" y="1659759"/>
              <a:ext cx="1675160" cy="1200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Business </a:t>
              </a: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Manager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1">
                  <a:solidFill>
                    <a:srgbClr val="4472C4">
                      <a:satOff val="-3547"/>
                      <a:lumOff val="-10352"/>
                    </a:srgbClr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Sahil Reddy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B.Tech., VJTI Mumbai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Founded – </a:t>
              </a: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Ocenip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,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Vedicraft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5" name="Google Shape;378;p32" descr="Google Shape;378;p32"/>
            <p:cNvPicPr>
              <a:picLocks noChangeAspect="1"/>
            </p:cNvPicPr>
            <p:nvPr/>
          </p:nvPicPr>
          <p:blipFill>
            <a:blip r:embed="rId4"/>
            <a:srcRect l="19346" t="19112"/>
            <a:stretch>
              <a:fillRect/>
            </a:stretch>
          </p:blipFill>
          <p:spPr>
            <a:xfrm>
              <a:off x="170833" y="173451"/>
              <a:ext cx="1419722" cy="1384996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</p:grpSp>
      <p:sp>
        <p:nvSpPr>
          <p:cNvPr id="507" name="Team"/>
          <p:cNvSpPr txBox="1"/>
          <p:nvPr/>
        </p:nvSpPr>
        <p:spPr>
          <a:xfrm>
            <a:off x="505607" y="399951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Team</a:t>
            </a:r>
          </a:p>
        </p:txBody>
      </p:sp>
      <p:grpSp>
        <p:nvGrpSpPr>
          <p:cNvPr id="511" name="Group"/>
          <p:cNvGrpSpPr/>
          <p:nvPr/>
        </p:nvGrpSpPr>
        <p:grpSpPr>
          <a:xfrm>
            <a:off x="6296800" y="3484477"/>
            <a:ext cx="1761291" cy="3109726"/>
            <a:chOff x="0" y="0"/>
            <a:chExt cx="1761289" cy="3109724"/>
          </a:xfrm>
        </p:grpSpPr>
        <p:sp>
          <p:nvSpPr>
            <p:cNvPr id="508" name="Rounded Rectangle"/>
            <p:cNvSpPr/>
            <p:nvPr/>
          </p:nvSpPr>
          <p:spPr>
            <a:xfrm>
              <a:off x="0" y="0"/>
              <a:ext cx="1761289" cy="3109724"/>
            </a:xfrm>
            <a:prstGeom prst="roundRect">
              <a:avLst>
                <a:gd name="adj" fmla="val 10816"/>
              </a:avLst>
            </a:prstGeom>
            <a:gradFill flip="none" rotWithShape="1">
              <a:gsLst>
                <a:gs pos="0">
                  <a:srgbClr val="FFC2F2"/>
                </a:gs>
                <a:gs pos="100000">
                  <a:srgbClr val="CBCDFF"/>
                </a:gs>
              </a:gsLst>
              <a:lin ang="12802050" scaled="0"/>
            </a:gradFill>
            <a:ln w="25400" cap="flat">
              <a:solidFill>
                <a:schemeClr val="accent1"/>
              </a:solidFill>
              <a:prstDash val="solid"/>
              <a:miter lim="400000"/>
            </a:ln>
            <a:effectLst>
              <a:outerShdw blurRad="190500" dist="12700" dir="5400000" rotWithShape="0">
                <a:srgbClr val="000000">
                  <a:alpha val="24264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376;p32"/>
            <p:cNvSpPr/>
            <p:nvPr/>
          </p:nvSpPr>
          <p:spPr>
            <a:xfrm>
              <a:off x="157499" y="1692045"/>
              <a:ext cx="157841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>
                  <a:solidFill>
                    <a:srgbClr val="535353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35353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Product leader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>
                      <a:satOff val="-3547"/>
                      <a:lumOff val="-10352"/>
                    </a:srgbClr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Karan Rakesh</a:t>
              </a: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CBF0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Bahuguna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B.Tech., VIT Vellore </a:t>
              </a:r>
            </a:p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kumimoji="0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Building BillionTests</a:t>
              </a:r>
            </a:p>
          </p:txBody>
        </p:sp>
        <p:pic>
          <p:nvPicPr>
            <p:cNvPr id="510" name="Google Shape;380;p32" descr="Google Shape;380;p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219005" y="190348"/>
              <a:ext cx="1323278" cy="1325564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</p:grpSp>
      <p:grpSp>
        <p:nvGrpSpPr>
          <p:cNvPr id="518" name="Group"/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512" name="Rounded Rectangle"/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Off val="2411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Rectangle"/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Rectangle"/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Rectangle"/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Rounded Rectangle"/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Rectangle"/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9" name="Line"/>
          <p:cNvSpPr/>
          <p:nvPr/>
        </p:nvSpPr>
        <p:spPr>
          <a:xfrm>
            <a:off x="570310" y="986166"/>
            <a:ext cx="8083628" cy="1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0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9C0551B5-B746-BC0D-E100-A85D39140F5B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pic>
        <p:nvPicPr>
          <p:cNvPr id="3" name="Google Shape;373;p32" descr="Google Shape;373;p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444" y="3637342"/>
            <a:ext cx="1327180" cy="1327179"/>
          </a:xfrm>
          <a:prstGeom prst="rect">
            <a:avLst/>
          </a:prstGeom>
          <a:ln w="25400" cap="flat">
            <a:solidFill>
              <a:srgbClr val="DDDDDD"/>
            </a:solidFill>
            <a:prstDash val="solid"/>
            <a:miter lim="400000"/>
          </a:ln>
          <a:effectLst/>
        </p:spPr>
      </p:pic>
      <p:sp>
        <p:nvSpPr>
          <p:cNvPr id="4" name="Google Shape;377;p32">
            <a:extLst>
              <a:ext uri="{FF2B5EF4-FFF2-40B4-BE49-F238E27FC236}">
                <a16:creationId xmlns:a16="http://schemas.microsoft.com/office/drawing/2014/main" id="{52B38B53-A4DD-6092-1088-98502B078255}"/>
              </a:ext>
            </a:extLst>
          </p:cNvPr>
          <p:cNvSpPr/>
          <p:nvPr/>
        </p:nvSpPr>
        <p:spPr>
          <a:xfrm>
            <a:off x="10212949" y="5086839"/>
            <a:ext cx="1675162" cy="11848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 numCol="1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535353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Product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Manager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472C4">
                    <a:satOff val="-3547"/>
                    <a:lumOff val="-10352"/>
                  </a:srgbClr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700" b="1" i="0" u="none" strike="noStrike" kern="0" cap="none" spc="0" normalizeH="0" baseline="0" noProof="0" dirty="0">
                <a:ln>
                  <a:noFill/>
                </a:ln>
                <a:solidFill>
                  <a:srgbClr val="4472C4">
                    <a:satOff val="-3547"/>
                    <a:lumOff val="-10352"/>
                  </a:srgbClr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Shreyan Awasthi</a:t>
            </a:r>
            <a:endParaRPr kumimoji="0" sz="1700" b="1" i="0" u="none" strike="noStrike" kern="0" cap="none" spc="0" normalizeH="0" baseline="0" noProof="0" dirty="0">
              <a:ln>
                <a:noFill/>
              </a:ln>
              <a:solidFill>
                <a:srgbClr val="4472C4">
                  <a:satOff val="-3547"/>
                  <a:lumOff val="-10352"/>
                </a:srgbClr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Co-founded, externship. Interned at IIT</a:t>
            </a:r>
            <a:r>
              <a:rPr lang="en-IN" sz="1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 &amp; IIMB.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Shreyan Awasthi - Building @CP Codes ...">
            <a:extLst>
              <a:ext uri="{FF2B5EF4-FFF2-40B4-BE49-F238E27FC236}">
                <a16:creationId xmlns:a16="http://schemas.microsoft.com/office/drawing/2014/main" id="{49651221-D183-DB5C-244D-D2B6AE029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209" y="3637342"/>
            <a:ext cx="1392264" cy="139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052417-F74E-23AF-51A8-96ED3A36E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Innovation Highlights">
            <a:extLst>
              <a:ext uri="{FF2B5EF4-FFF2-40B4-BE49-F238E27FC236}">
                <a16:creationId xmlns:a16="http://schemas.microsoft.com/office/drawing/2014/main" id="{659DD7FB-F2E3-3911-7149-61EF9404D1BF}"/>
              </a:ext>
            </a:extLst>
          </p:cNvPr>
          <p:cNvSpPr txBox="1"/>
          <p:nvPr/>
        </p:nvSpPr>
        <p:spPr>
          <a:xfrm>
            <a:off x="482066" y="365124"/>
            <a:ext cx="5166351" cy="72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>
            <a:lvl1pPr>
              <a:lnSpc>
                <a:spcPct val="90000"/>
              </a:lnSpc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buClr>
                <a:srgbClr val="FFFFFF"/>
              </a:buClr>
              <a:buSzPts val="1800"/>
              <a:defRPr/>
            </a:pPr>
            <a:r>
              <a:rPr lang="en-US" b="1" dirty="0"/>
              <a:t>Credibility &amp; Validation</a:t>
            </a:r>
            <a:endParaRPr lang="en-US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Line">
            <a:extLst>
              <a:ext uri="{FF2B5EF4-FFF2-40B4-BE49-F238E27FC236}">
                <a16:creationId xmlns:a16="http://schemas.microsoft.com/office/drawing/2014/main" id="{77A27A99-3146-41F1-30E9-3A4C8919F9B6}"/>
              </a:ext>
            </a:extLst>
          </p:cNvPr>
          <p:cNvSpPr/>
          <p:nvPr/>
        </p:nvSpPr>
        <p:spPr>
          <a:xfrm flipV="1">
            <a:off x="554838" y="934789"/>
            <a:ext cx="9094565" cy="44255"/>
          </a:xfrm>
          <a:prstGeom prst="line">
            <a:avLst/>
          </a:prstGeom>
          <a:ln w="25400">
            <a:solidFill>
              <a:srgbClr val="333333"/>
            </a:solidFill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5" name="Slide Number">
            <a:extLst>
              <a:ext uri="{FF2B5EF4-FFF2-40B4-BE49-F238E27FC236}">
                <a16:creationId xmlns:a16="http://schemas.microsoft.com/office/drawing/2014/main" id="{BF19BB79-75C4-58E9-1D83-1A18494FB23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BillionTests">
            <a:extLst>
              <a:ext uri="{FF2B5EF4-FFF2-40B4-BE49-F238E27FC236}">
                <a16:creationId xmlns:a16="http://schemas.microsoft.com/office/drawing/2014/main" id="{40DD22FF-9821-F4D7-C70B-68BA91F724F1}"/>
              </a:ext>
            </a:extLst>
          </p:cNvPr>
          <p:cNvSpPr txBox="1"/>
          <p:nvPr/>
        </p:nvSpPr>
        <p:spPr>
          <a:xfrm>
            <a:off x="10070707" y="450933"/>
            <a:ext cx="170815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>
                <a:solidFill>
                  <a:srgbClr val="A7A7A7"/>
                </a:solidFill>
                <a:latin typeface="Cascadia Code Regular Bold"/>
                <a:ea typeface="Cascadia Code Regular Bold"/>
                <a:cs typeface="Cascadia Code Regular Bold"/>
                <a:sym typeface="Cascadia Code Regular Bold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A7A7A7"/>
                </a:solidFill>
                <a:effectLst/>
                <a:uLnTx/>
                <a:uFillTx/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  <a:sym typeface="Cascadia Code Regular Bold"/>
              </a:rPr>
              <a:t>BillionTests</a:t>
            </a: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88C2633E-BA17-4668-72EF-19209BC74208}"/>
              </a:ext>
            </a:extLst>
          </p:cNvPr>
          <p:cNvSpPr/>
          <p:nvPr/>
        </p:nvSpPr>
        <p:spPr>
          <a:xfrm>
            <a:off x="520042" y="1349416"/>
            <a:ext cx="3439678" cy="320373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2DE18AAC-23FD-08AB-DC58-36891E7254EF}"/>
              </a:ext>
            </a:extLst>
          </p:cNvPr>
          <p:cNvSpPr/>
          <p:nvPr/>
        </p:nvSpPr>
        <p:spPr>
          <a:xfrm>
            <a:off x="4300866" y="1349415"/>
            <a:ext cx="3568427" cy="320373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92682564-0F46-28CB-61D6-CD305611D7FF}"/>
              </a:ext>
            </a:extLst>
          </p:cNvPr>
          <p:cNvSpPr/>
          <p:nvPr/>
        </p:nvSpPr>
        <p:spPr>
          <a:xfrm>
            <a:off x="8232282" y="1389930"/>
            <a:ext cx="3546584" cy="3163215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7BE9B-37AB-BF60-8DB3-3DACE174770F}"/>
              </a:ext>
            </a:extLst>
          </p:cNvPr>
          <p:cNvSpPr txBox="1"/>
          <p:nvPr/>
        </p:nvSpPr>
        <p:spPr>
          <a:xfrm>
            <a:off x="4495851" y="1548709"/>
            <a:ext cx="3200300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Clinical &amp; Field Validation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at NABL-accredited lab (City Imaging)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98% accuracy benchmarked against lab reference analyzers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strip brands and real-world lighting conditions tested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113A1-A51E-83C9-6179-9F27CAB1ACA2}"/>
              </a:ext>
            </a:extLst>
          </p:cNvPr>
          <p:cNvSpPr txBox="1"/>
          <p:nvPr/>
        </p:nvSpPr>
        <p:spPr>
          <a:xfrm>
            <a:off x="8465819" y="1459518"/>
            <a:ext cx="3064734" cy="3416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Incubation &amp; Regulatory Support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GIMS Greater Noida Incubation Center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Clinical trials execution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and CDSCO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MedTech Mitra: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Regulatory guidance &amp; standards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1A7614-036B-7167-FF54-876F7BC7596E}"/>
              </a:ext>
            </a:extLst>
          </p:cNvPr>
          <p:cNvSpPr txBox="1"/>
          <p:nvPr/>
        </p:nvSpPr>
        <p:spPr>
          <a:xfrm>
            <a:off x="554838" y="1548709"/>
            <a:ext cx="3340224" cy="2862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&amp; Technical Credibility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 Filed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AI-based strip interpretation and calibration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COE-AI, IIT Kanpur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Technical validation of AI models and 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technology developed by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IIT Kanpur alumni. 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oup">
            <a:extLst>
              <a:ext uri="{FF2B5EF4-FFF2-40B4-BE49-F238E27FC236}">
                <a16:creationId xmlns:a16="http://schemas.microsoft.com/office/drawing/2014/main" id="{4E6C1589-3C89-B3F7-8C97-150F3C1CECB1}"/>
              </a:ext>
            </a:extLst>
          </p:cNvPr>
          <p:cNvGrpSpPr/>
          <p:nvPr/>
        </p:nvGrpSpPr>
        <p:grpSpPr>
          <a:xfrm>
            <a:off x="0" y="6720278"/>
            <a:ext cx="12222906" cy="275443"/>
            <a:chOff x="0" y="0"/>
            <a:chExt cx="12222905" cy="275441"/>
          </a:xfrm>
        </p:grpSpPr>
        <p:sp>
          <p:nvSpPr>
            <p:cNvPr id="7" name="Rounded Rectangle">
              <a:extLst>
                <a:ext uri="{FF2B5EF4-FFF2-40B4-BE49-F238E27FC236}">
                  <a16:creationId xmlns:a16="http://schemas.microsoft.com/office/drawing/2014/main" id="{16891214-3333-88D7-3953-665816CA2D7E}"/>
                </a:ext>
              </a:extLst>
            </p:cNvPr>
            <p:cNvSpPr/>
            <p:nvPr/>
          </p:nvSpPr>
          <p:spPr>
            <a:xfrm>
              <a:off x="0" y="0"/>
              <a:ext cx="2582268" cy="27544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id="{5890B475-179F-B557-F2CD-98DD9E604922}"/>
                </a:ext>
              </a:extLst>
            </p:cNvPr>
            <p:cNvSpPr/>
            <p:nvPr/>
          </p:nvSpPr>
          <p:spPr>
            <a:xfrm>
              <a:off x="2039343" y="0"/>
              <a:ext cx="2582269" cy="275442"/>
            </a:xfrm>
            <a:prstGeom prst="rect">
              <a:avLst/>
            </a:prstGeom>
            <a:solidFill>
              <a:srgbClr val="FFB5A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Rectangle">
              <a:extLst>
                <a:ext uri="{FF2B5EF4-FFF2-40B4-BE49-F238E27FC236}">
                  <a16:creationId xmlns:a16="http://schemas.microsoft.com/office/drawing/2014/main" id="{CBB16BAE-FDD6-2D54-5265-9236B154F6CB}"/>
                </a:ext>
              </a:extLst>
            </p:cNvPr>
            <p:cNvSpPr/>
            <p:nvPr/>
          </p:nvSpPr>
          <p:spPr>
            <a:xfrm>
              <a:off x="4604859" y="0"/>
              <a:ext cx="2582269" cy="275442"/>
            </a:xfrm>
            <a:prstGeom prst="rect">
              <a:avLst/>
            </a:prstGeom>
            <a:solidFill>
              <a:srgbClr val="FFD9A8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98A3C129-A3B2-6C21-D439-E76861E6257E}"/>
                </a:ext>
              </a:extLst>
            </p:cNvPr>
            <p:cNvSpPr/>
            <p:nvPr/>
          </p:nvSpPr>
          <p:spPr>
            <a:xfrm>
              <a:off x="7187127" y="0"/>
              <a:ext cx="2582268" cy="275442"/>
            </a:xfrm>
            <a:prstGeom prst="rect">
              <a:avLst/>
            </a:prstGeom>
            <a:solidFill>
              <a:srgbClr val="EAF28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Rounded Rectangle">
              <a:extLst>
                <a:ext uri="{FF2B5EF4-FFF2-40B4-BE49-F238E27FC236}">
                  <a16:creationId xmlns:a16="http://schemas.microsoft.com/office/drawing/2014/main" id="{A79BEDAF-9A00-39C7-762E-0D9767DB1935}"/>
                </a:ext>
              </a:extLst>
            </p:cNvPr>
            <p:cNvSpPr/>
            <p:nvPr/>
          </p:nvSpPr>
          <p:spPr>
            <a:xfrm>
              <a:off x="9640637" y="0"/>
              <a:ext cx="2582269" cy="275442"/>
            </a:xfrm>
            <a:prstGeom prst="roundRect">
              <a:avLst>
                <a:gd name="adj" fmla="val 50000"/>
              </a:avLst>
            </a:prstGeom>
            <a:solidFill>
              <a:srgbClr val="CBF0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CD91EE06-A3C6-207D-189B-29D10D0BE93D}"/>
                </a:ext>
              </a:extLst>
            </p:cNvPr>
            <p:cNvSpPr/>
            <p:nvPr/>
          </p:nvSpPr>
          <p:spPr>
            <a:xfrm>
              <a:off x="8640681" y="0"/>
              <a:ext cx="2582268" cy="275442"/>
            </a:xfrm>
            <a:prstGeom prst="rect">
              <a:avLst/>
            </a:prstGeom>
            <a:solidFill>
              <a:srgbClr val="D9C9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6" name="Slide Number">
            <a:extLst>
              <a:ext uri="{FF2B5EF4-FFF2-40B4-BE49-F238E27FC236}">
                <a16:creationId xmlns:a16="http://schemas.microsoft.com/office/drawing/2014/main" id="{56DF8420-CA4D-00FE-8DB5-9763E2EDB517}"/>
              </a:ext>
            </a:extLst>
          </p:cNvPr>
          <p:cNvSpPr txBox="1">
            <a:spLocks/>
          </p:cNvSpPr>
          <p:nvPr/>
        </p:nvSpPr>
        <p:spPr>
          <a:xfrm>
            <a:off x="11172458" y="6414780"/>
            <a:ext cx="181343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699" tIns="45699" rIns="45699" bIns="45699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IN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ounded Rectangle">
            <a:extLst>
              <a:ext uri="{FF2B5EF4-FFF2-40B4-BE49-F238E27FC236}">
                <a16:creationId xmlns:a16="http://schemas.microsoft.com/office/drawing/2014/main" id="{4792D7BF-8926-6F39-96A7-E65EC5AB1138}"/>
              </a:ext>
            </a:extLst>
          </p:cNvPr>
          <p:cNvSpPr/>
          <p:nvPr/>
        </p:nvSpPr>
        <p:spPr>
          <a:xfrm>
            <a:off x="520042" y="4817436"/>
            <a:ext cx="11258823" cy="1675440"/>
          </a:xfrm>
          <a:prstGeom prst="roundRect">
            <a:avLst>
              <a:gd name="adj" fmla="val 8411"/>
            </a:avLst>
          </a:prstGeom>
          <a:gradFill>
            <a:gsLst>
              <a:gs pos="0">
                <a:srgbClr val="BF55FF">
                  <a:alpha val="41324"/>
                </a:srgbClr>
              </a:gs>
              <a:gs pos="100000">
                <a:srgbClr val="733CFF">
                  <a:alpha val="41324"/>
                </a:srgbClr>
              </a:gs>
            </a:gsLst>
            <a:lin ang="12802050"/>
          </a:gradFill>
          <a:ln w="25400">
            <a:solidFill>
              <a:srgbClr val="FFFFFF">
                <a:alpha val="41324"/>
              </a:srgbClr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Deployment Partnerships - Prompt Dairy Tech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 to 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70,000+ villages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cattle health check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Devices placed at various centers; strips distributed via health workers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Home-based scanning enabled through smartphones already present in households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498928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Rectangle"/>
          <p:cNvSpPr/>
          <p:nvPr/>
        </p:nvSpPr>
        <p:spPr>
          <a:xfrm>
            <a:off x="2269807" y="1200312"/>
            <a:ext cx="7652386" cy="4457376"/>
          </a:xfrm>
          <a:prstGeom prst="rect">
            <a:avLst/>
          </a:prstGeom>
          <a:solidFill>
            <a:srgbClr val="EFCAFF">
              <a:alpha val="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88" name="Google Shape;454;p37"/>
          <p:cNvSpPr txBox="1">
            <a:spLocks noGrp="1"/>
          </p:cNvSpPr>
          <p:nvPr>
            <p:ph type="body" sz="half" idx="1"/>
          </p:nvPr>
        </p:nvSpPr>
        <p:spPr>
          <a:xfrm>
            <a:off x="838200" y="2202633"/>
            <a:ext cx="10515600" cy="2452734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</a:pPr>
            <a:r>
              <a:rPr lang="en-IN" sz="3600" dirty="0">
                <a:solidFill>
                  <a:srgbClr val="FFFFFF"/>
                </a:solidFill>
              </a:rPr>
              <a:t>Thanks</a:t>
            </a:r>
            <a:endParaRPr dirty="0"/>
          </a:p>
        </p:txBody>
      </p:sp>
      <p:sp>
        <p:nvSpPr>
          <p:cNvPr id="589" name="Google Shape;455;p37"/>
          <p:cNvSpPr txBox="1"/>
          <p:nvPr/>
        </p:nvSpPr>
        <p:spPr>
          <a:xfrm>
            <a:off x="4017158" y="3082749"/>
            <a:ext cx="4157683" cy="91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Pranav Asthana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+91 9651891556</a:t>
            </a: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kumimoji="0" lang="en-IN" sz="18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>
                  <a:solidFill>
                    <a:srgbClr val="0563C1"/>
                  </a:solidFill>
                </a:uFill>
                <a:latin typeface="Calibri"/>
                <a:ea typeface="Calibri"/>
                <a:cs typeface="Calibri"/>
                <a:sym typeface="Calibri"/>
              </a:rPr>
              <a:t>pranav@excl.ai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5214</TotalTime>
  <Words>2301</Words>
  <Application>Microsoft Office PowerPoint</Application>
  <PresentationFormat>Widescreen</PresentationFormat>
  <Paragraphs>431</Paragraphs>
  <Slides>20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Cascadia Code SemiBold</vt:lpstr>
      <vt:lpstr>Cascadia Code SemiLight</vt:lpstr>
      <vt:lpstr>Cascadia Mono SemiBold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shikha kumari</dc:creator>
  <cp:lastModifiedBy>PRANAV ASTHANA</cp:lastModifiedBy>
  <cp:revision>110</cp:revision>
  <cp:lastPrinted>2026-01-08T06:17:23Z</cp:lastPrinted>
  <dcterms:created xsi:type="dcterms:W3CDTF">2025-09-03T06:40:05Z</dcterms:created>
  <dcterms:modified xsi:type="dcterms:W3CDTF">2026-04-06T07:43:30Z</dcterms:modified>
</cp:coreProperties>
</file>