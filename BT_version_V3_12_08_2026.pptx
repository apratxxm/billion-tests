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460" r:id="rId2"/>
    <p:sldId id="430" r:id="rId3"/>
    <p:sldId id="382" r:id="rId4"/>
    <p:sldId id="261" r:id="rId5"/>
    <p:sldId id="432" r:id="rId6"/>
    <p:sldId id="293" r:id="rId7"/>
    <p:sldId id="271" r:id="rId8"/>
    <p:sldId id="284" r:id="rId9"/>
    <p:sldId id="265" r:id="rId10"/>
    <p:sldId id="272" r:id="rId11"/>
    <p:sldId id="266" r:id="rId12"/>
    <p:sldId id="445" r:id="rId13"/>
    <p:sldId id="456" r:id="rId14"/>
    <p:sldId id="435" r:id="rId15"/>
    <p:sldId id="442" r:id="rId16"/>
    <p:sldId id="345" r:id="rId17"/>
    <p:sldId id="398" r:id="rId18"/>
    <p:sldId id="462" r:id="rId19"/>
    <p:sldId id="256" r:id="rId20"/>
    <p:sldId id="400" r:id="rId21"/>
    <p:sldId id="459" r:id="rId22"/>
    <p:sldId id="463" r:id="rId23"/>
    <p:sldId id="40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2269"/>
    <a:srgbClr val="414141"/>
    <a:srgbClr val="D642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60"/>
  </p:normalViewPr>
  <p:slideViewPr>
    <p:cSldViewPr snapToGrid="0">
      <p:cViewPr varScale="1">
        <p:scale>
          <a:sx n="28" d="100"/>
          <a:sy n="28" d="100"/>
        </p:scale>
        <p:origin x="58" y="1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69F0EC-337B-4EFF-BE73-8EA312AF25D4}" type="doc">
      <dgm:prSet loTypeId="urn:microsoft.com/office/officeart/2005/8/layout/lProcess2" loCatId="list" qsTypeId="urn:microsoft.com/office/officeart/2005/8/quickstyle/simple1" qsCatId="simple" csTypeId="urn:microsoft.com/office/officeart/2005/8/colors/accent0_1" csCatId="mainScheme" phldr="1"/>
      <dgm:spPr/>
      <dgm:t>
        <a:bodyPr/>
        <a:lstStyle/>
        <a:p>
          <a:endParaRPr lang="en-US"/>
        </a:p>
      </dgm:t>
    </dgm:pt>
    <dgm:pt modelId="{DA76FC1E-B78C-4CA4-8133-08E7A1F96E60}">
      <dgm:prSet custT="1"/>
      <dgm:spPr/>
      <dgm:t>
        <a:bodyPr/>
        <a:lstStyle/>
        <a:p>
          <a:r>
            <a:rPr lang="en-IN" sz="1800" b="1" i="0" baseline="0" dirty="0"/>
            <a:t>1 vs. Imported </a:t>
          </a:r>
          <a:r>
            <a:rPr lang="en-IN" sz="1800" b="1" i="0" baseline="0" dirty="0" err="1"/>
            <a:t>Analyzers</a:t>
          </a:r>
          <a:endParaRPr lang="en-US" sz="1800" dirty="0"/>
        </a:p>
      </dgm:t>
    </dgm:pt>
    <dgm:pt modelId="{AC7E5A0A-12D2-4F84-B26B-B567A914F1E7}" type="parTrans" cxnId="{12637446-5CDA-47FE-84CF-EFAE650DDDC7}">
      <dgm:prSet/>
      <dgm:spPr/>
      <dgm:t>
        <a:bodyPr/>
        <a:lstStyle/>
        <a:p>
          <a:endParaRPr lang="en-US">
            <a:solidFill>
              <a:sysClr val="windowText" lastClr="000000"/>
            </a:solidFill>
          </a:endParaRPr>
        </a:p>
      </dgm:t>
    </dgm:pt>
    <dgm:pt modelId="{25046868-B1B9-4937-BE99-7F671D5EBEB1}" type="sibTrans" cxnId="{12637446-5CDA-47FE-84CF-EFAE650DDDC7}">
      <dgm:prSet/>
      <dgm:spPr/>
      <dgm:t>
        <a:bodyPr/>
        <a:lstStyle/>
        <a:p>
          <a:endParaRPr lang="en-US">
            <a:solidFill>
              <a:sysClr val="windowText" lastClr="000000"/>
            </a:solidFill>
          </a:endParaRPr>
        </a:p>
      </dgm:t>
    </dgm:pt>
    <dgm:pt modelId="{9F2B72B3-1E7D-41DC-AEDD-4664E6383C6D}">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 90% lower cost </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F9125487-2FCF-42D2-A1CD-18208573ECBC}" type="parTrans" cxnId="{0EECC44F-A059-4A45-8E8C-21376D802D0F}">
      <dgm:prSet/>
      <dgm:spPr/>
      <dgm:t>
        <a:bodyPr/>
        <a:lstStyle/>
        <a:p>
          <a:endParaRPr lang="en-US">
            <a:solidFill>
              <a:sysClr val="windowText" lastClr="000000"/>
            </a:solidFill>
          </a:endParaRPr>
        </a:p>
      </dgm:t>
    </dgm:pt>
    <dgm:pt modelId="{C96EB747-265A-4574-825F-0E6A68D97938}" type="sibTrans" cxnId="{0EECC44F-A059-4A45-8E8C-21376D802D0F}">
      <dgm:prSet/>
      <dgm:spPr/>
      <dgm:t>
        <a:bodyPr/>
        <a:lstStyle/>
        <a:p>
          <a:endParaRPr lang="en-US">
            <a:solidFill>
              <a:sysClr val="windowText" lastClr="000000"/>
            </a:solidFill>
          </a:endParaRPr>
        </a:p>
      </dgm:t>
    </dgm:pt>
    <dgm:pt modelId="{978F3081-603D-45EA-91D9-C82D97B42467}">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 Universal strip compatibility </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8E43CEC1-0D2B-44B0-86FD-16D024F5ADBD}" type="parTrans" cxnId="{AD89446D-EFFA-455B-BF77-BD532715D0BA}">
      <dgm:prSet/>
      <dgm:spPr/>
      <dgm:t>
        <a:bodyPr/>
        <a:lstStyle/>
        <a:p>
          <a:endParaRPr lang="en-US">
            <a:solidFill>
              <a:sysClr val="windowText" lastClr="000000"/>
            </a:solidFill>
          </a:endParaRPr>
        </a:p>
      </dgm:t>
    </dgm:pt>
    <dgm:pt modelId="{0B6BDA3D-5874-43FD-AE05-EF261D241CE5}" type="sibTrans" cxnId="{AD89446D-EFFA-455B-BF77-BD532715D0BA}">
      <dgm:prSet/>
      <dgm:spPr/>
      <dgm:t>
        <a:bodyPr/>
        <a:lstStyle/>
        <a:p>
          <a:endParaRPr lang="en-US">
            <a:solidFill>
              <a:sysClr val="windowText" lastClr="000000"/>
            </a:solidFill>
          </a:endParaRPr>
        </a:p>
      </dgm:t>
    </dgm:pt>
    <dgm:pt modelId="{8EC2A943-6FDD-4A2C-B0D4-D8A383F3B7F4}">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 Portable &amp; field-deployable </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88BA2DCA-10F3-4DDB-AC65-A491CD709B44}" type="parTrans" cxnId="{9B9CFFA5-7108-4A22-8198-3BC24C6488A2}">
      <dgm:prSet/>
      <dgm:spPr/>
      <dgm:t>
        <a:bodyPr/>
        <a:lstStyle/>
        <a:p>
          <a:endParaRPr lang="en-US">
            <a:solidFill>
              <a:sysClr val="windowText" lastClr="000000"/>
            </a:solidFill>
          </a:endParaRPr>
        </a:p>
      </dgm:t>
    </dgm:pt>
    <dgm:pt modelId="{F55392E9-CC19-4811-B004-24B3F2373548}" type="sibTrans" cxnId="{9B9CFFA5-7108-4A22-8198-3BC24C6488A2}">
      <dgm:prSet/>
      <dgm:spPr/>
      <dgm:t>
        <a:bodyPr/>
        <a:lstStyle/>
        <a:p>
          <a:endParaRPr lang="en-US">
            <a:solidFill>
              <a:sysClr val="windowText" lastClr="000000"/>
            </a:solidFill>
          </a:endParaRPr>
        </a:p>
      </dgm:t>
    </dgm:pt>
    <dgm:pt modelId="{1DF9B5DC-85F9-4C6F-B35F-80077192888C}">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 No electricity requirement </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FBAE3438-F5FC-4AA5-90EF-85B80CB208C2}" type="parTrans" cxnId="{D2DE3114-8588-4AB3-8947-D69D96AFDDA6}">
      <dgm:prSet/>
      <dgm:spPr/>
      <dgm:t>
        <a:bodyPr/>
        <a:lstStyle/>
        <a:p>
          <a:endParaRPr lang="en-US">
            <a:solidFill>
              <a:sysClr val="windowText" lastClr="000000"/>
            </a:solidFill>
          </a:endParaRPr>
        </a:p>
      </dgm:t>
    </dgm:pt>
    <dgm:pt modelId="{EE2083B9-4E92-419F-99AC-2759819C7A19}" type="sibTrans" cxnId="{D2DE3114-8588-4AB3-8947-D69D96AFDDA6}">
      <dgm:prSet/>
      <dgm:spPr/>
      <dgm:t>
        <a:bodyPr/>
        <a:lstStyle/>
        <a:p>
          <a:endParaRPr lang="en-US">
            <a:solidFill>
              <a:sysClr val="windowText" lastClr="000000"/>
            </a:solidFill>
          </a:endParaRPr>
        </a:p>
      </dgm:t>
    </dgm:pt>
    <dgm:pt modelId="{5B223889-7D84-4C3E-BD4D-0137BD9D05C1}">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 Indigenous manufacturing</a:t>
          </a:r>
          <a:endParaRPr lang="en-US" sz="1600" dirty="0">
            <a:latin typeface="Calibri" panose="020F0502020204030204" pitchFamily="34" charset="0"/>
            <a:ea typeface="Calibri" panose="020F0502020204030204" pitchFamily="34" charset="0"/>
            <a:cs typeface="Calibri" panose="020F0502020204030204" pitchFamily="34" charset="0"/>
          </a:endParaRPr>
        </a:p>
      </dgm:t>
    </dgm:pt>
    <dgm:pt modelId="{E2D34031-FB3B-415C-84D4-CA122B23DD01}" type="parTrans" cxnId="{454469A9-D808-49A9-AFDD-972984C81780}">
      <dgm:prSet/>
      <dgm:spPr/>
      <dgm:t>
        <a:bodyPr/>
        <a:lstStyle/>
        <a:p>
          <a:endParaRPr lang="en-US">
            <a:solidFill>
              <a:sysClr val="windowText" lastClr="000000"/>
            </a:solidFill>
          </a:endParaRPr>
        </a:p>
      </dgm:t>
    </dgm:pt>
    <dgm:pt modelId="{8FF23177-E583-4237-AB13-84C4AD3F8B85}" type="sibTrans" cxnId="{454469A9-D808-49A9-AFDD-972984C81780}">
      <dgm:prSet/>
      <dgm:spPr/>
      <dgm:t>
        <a:bodyPr/>
        <a:lstStyle/>
        <a:p>
          <a:endParaRPr lang="en-US">
            <a:solidFill>
              <a:sysClr val="windowText" lastClr="000000"/>
            </a:solidFill>
          </a:endParaRPr>
        </a:p>
      </dgm:t>
    </dgm:pt>
    <dgm:pt modelId="{048A8715-084C-49AA-B464-71351CE18951}">
      <dgm:prSet custT="1"/>
      <dgm:spPr/>
      <dgm:t>
        <a:bodyPr/>
        <a:lstStyle/>
        <a:p>
          <a:r>
            <a:rPr lang="en-IN" sz="1800" b="1" i="0" baseline="0" dirty="0"/>
            <a:t>2 vs. Manual Reading</a:t>
          </a:r>
          <a:endParaRPr lang="en-US" sz="1800" dirty="0"/>
        </a:p>
      </dgm:t>
    </dgm:pt>
    <dgm:pt modelId="{0A8F9674-4BDF-4083-9AD3-62677CA78704}" type="parTrans" cxnId="{9D92A85D-C4F3-4FA7-92A6-95AA81BB09A2}">
      <dgm:prSet/>
      <dgm:spPr/>
      <dgm:t>
        <a:bodyPr/>
        <a:lstStyle/>
        <a:p>
          <a:endParaRPr lang="en-US">
            <a:solidFill>
              <a:sysClr val="windowText" lastClr="000000"/>
            </a:solidFill>
          </a:endParaRPr>
        </a:p>
      </dgm:t>
    </dgm:pt>
    <dgm:pt modelId="{AF7626DC-79BB-4A43-B44F-4E1C235229F4}" type="sibTrans" cxnId="{9D92A85D-C4F3-4FA7-92A6-95AA81BB09A2}">
      <dgm:prSet/>
      <dgm:spPr/>
      <dgm:t>
        <a:bodyPr/>
        <a:lstStyle/>
        <a:p>
          <a:endParaRPr lang="en-US">
            <a:solidFill>
              <a:sysClr val="windowText" lastClr="000000"/>
            </a:solidFill>
          </a:endParaRPr>
        </a:p>
      </dgm:t>
    </dgm:pt>
    <dgm:pt modelId="{13AE3B96-1EE8-4F73-876D-04279CA02463}">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Eliminates human error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B17FBD55-9172-4B82-8CA9-2010CBBAD7CE}" type="parTrans" cxnId="{0B8D91C7-8E41-4B0D-8F7C-EE92022ED914}">
      <dgm:prSet/>
      <dgm:spPr/>
      <dgm:t>
        <a:bodyPr/>
        <a:lstStyle/>
        <a:p>
          <a:endParaRPr lang="en-US">
            <a:solidFill>
              <a:sysClr val="windowText" lastClr="000000"/>
            </a:solidFill>
          </a:endParaRPr>
        </a:p>
      </dgm:t>
    </dgm:pt>
    <dgm:pt modelId="{4C1600F5-EA31-44A7-B378-86CF38781D55}" type="sibTrans" cxnId="{0B8D91C7-8E41-4B0D-8F7C-EE92022ED914}">
      <dgm:prSet/>
      <dgm:spPr/>
      <dgm:t>
        <a:bodyPr/>
        <a:lstStyle/>
        <a:p>
          <a:endParaRPr lang="en-US">
            <a:solidFill>
              <a:sysClr val="windowText" lastClr="000000"/>
            </a:solidFill>
          </a:endParaRPr>
        </a:p>
      </dgm:t>
    </dgm:pt>
    <dgm:pt modelId="{36A40916-00E7-4278-8CF3-B3CA6B5C5506}">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Standardized results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C849A632-3A2A-4BDD-8066-8060A642978C}" type="parTrans" cxnId="{CEF47A87-C15F-4733-91A1-69708FFE85C1}">
      <dgm:prSet/>
      <dgm:spPr/>
      <dgm:t>
        <a:bodyPr/>
        <a:lstStyle/>
        <a:p>
          <a:endParaRPr lang="en-US">
            <a:solidFill>
              <a:sysClr val="windowText" lastClr="000000"/>
            </a:solidFill>
          </a:endParaRPr>
        </a:p>
      </dgm:t>
    </dgm:pt>
    <dgm:pt modelId="{67B8EBF4-E70A-4C36-B807-4A67D36DBD24}" type="sibTrans" cxnId="{CEF47A87-C15F-4733-91A1-69708FFE85C1}">
      <dgm:prSet/>
      <dgm:spPr/>
      <dgm:t>
        <a:bodyPr/>
        <a:lstStyle/>
        <a:p>
          <a:endParaRPr lang="en-US">
            <a:solidFill>
              <a:sysClr val="windowText" lastClr="000000"/>
            </a:solidFill>
          </a:endParaRPr>
        </a:p>
      </dgm:t>
    </dgm:pt>
    <dgm:pt modelId="{94C1792A-4109-4246-B266-6B8C61F8FB0B}">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Digital records &amp; traceability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068767EA-1EF8-401E-8BCA-41CC7FB432ED}" type="parTrans" cxnId="{36145640-F0C7-408A-AE2E-B7C0573C3D4F}">
      <dgm:prSet/>
      <dgm:spPr/>
      <dgm:t>
        <a:bodyPr/>
        <a:lstStyle/>
        <a:p>
          <a:endParaRPr lang="en-US">
            <a:solidFill>
              <a:sysClr val="windowText" lastClr="000000"/>
            </a:solidFill>
          </a:endParaRPr>
        </a:p>
      </dgm:t>
    </dgm:pt>
    <dgm:pt modelId="{20DA71B7-BAD6-43F4-93CA-2806513B142C}" type="sibTrans" cxnId="{36145640-F0C7-408A-AE2E-B7C0573C3D4F}">
      <dgm:prSet/>
      <dgm:spPr/>
      <dgm:t>
        <a:bodyPr/>
        <a:lstStyle/>
        <a:p>
          <a:endParaRPr lang="en-US">
            <a:solidFill>
              <a:sysClr val="windowText" lastClr="000000"/>
            </a:solidFill>
          </a:endParaRPr>
        </a:p>
      </dgm:t>
    </dgm:pt>
    <dgm:pt modelId="{D33AF84F-08F2-4F26-9EB9-1C5869AB996C}">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No expertise required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FD680111-27B4-4A0D-9515-833593A6D2FA}" type="parTrans" cxnId="{8106B032-352B-4816-B59B-820547869A51}">
      <dgm:prSet/>
      <dgm:spPr/>
      <dgm:t>
        <a:bodyPr/>
        <a:lstStyle/>
        <a:p>
          <a:endParaRPr lang="en-US">
            <a:solidFill>
              <a:sysClr val="windowText" lastClr="000000"/>
            </a:solidFill>
          </a:endParaRPr>
        </a:p>
      </dgm:t>
    </dgm:pt>
    <dgm:pt modelId="{C0241F04-75E3-4AC1-9A65-7E4BAA018445}" type="sibTrans" cxnId="{8106B032-352B-4816-B59B-820547869A51}">
      <dgm:prSet/>
      <dgm:spPr/>
      <dgm:t>
        <a:bodyPr/>
        <a:lstStyle/>
        <a:p>
          <a:endParaRPr lang="en-US">
            <a:solidFill>
              <a:sysClr val="windowText" lastClr="000000"/>
            </a:solidFill>
          </a:endParaRPr>
        </a:p>
      </dgm:t>
    </dgm:pt>
    <dgm:pt modelId="{D70B2C5D-56A1-4E3B-8382-7381CE516E62}">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Faster turnaround</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10A98769-3DDB-447B-B93C-734DA29B088C}" type="parTrans" cxnId="{B7D48F08-3B3D-4D5D-9C78-AB8D5B89D462}">
      <dgm:prSet/>
      <dgm:spPr/>
      <dgm:t>
        <a:bodyPr/>
        <a:lstStyle/>
        <a:p>
          <a:endParaRPr lang="en-US">
            <a:solidFill>
              <a:sysClr val="windowText" lastClr="000000"/>
            </a:solidFill>
          </a:endParaRPr>
        </a:p>
      </dgm:t>
    </dgm:pt>
    <dgm:pt modelId="{87D27A95-F6B8-4FEC-97B2-4E4C10EF419F}" type="sibTrans" cxnId="{B7D48F08-3B3D-4D5D-9C78-AB8D5B89D462}">
      <dgm:prSet/>
      <dgm:spPr/>
      <dgm:t>
        <a:bodyPr/>
        <a:lstStyle/>
        <a:p>
          <a:endParaRPr lang="en-US">
            <a:solidFill>
              <a:sysClr val="windowText" lastClr="000000"/>
            </a:solidFill>
          </a:endParaRPr>
        </a:p>
      </dgm:t>
    </dgm:pt>
    <dgm:pt modelId="{691A5E6B-8D2F-4602-B45D-A83E1AA43578}">
      <dgm:prSet custT="1"/>
      <dgm:spPr/>
      <dgm:t>
        <a:bodyPr/>
        <a:lstStyle/>
        <a:p>
          <a:r>
            <a:rPr lang="en-IN" sz="1800" b="1" i="0" baseline="0"/>
            <a:t>3 vs. Lab-Based Testing</a:t>
          </a:r>
          <a:endParaRPr lang="en-US" sz="1800" dirty="0"/>
        </a:p>
      </dgm:t>
    </dgm:pt>
    <dgm:pt modelId="{D93A13DD-E710-47F7-A648-D673CC7FAD12}" type="parTrans" cxnId="{AC049D81-9976-4B83-A250-87F579907070}">
      <dgm:prSet/>
      <dgm:spPr/>
      <dgm:t>
        <a:bodyPr/>
        <a:lstStyle/>
        <a:p>
          <a:endParaRPr lang="en-US">
            <a:solidFill>
              <a:sysClr val="windowText" lastClr="000000"/>
            </a:solidFill>
          </a:endParaRPr>
        </a:p>
      </dgm:t>
    </dgm:pt>
    <dgm:pt modelId="{EBD91639-AC65-4105-AFFD-D78DCCD89063}" type="sibTrans" cxnId="{AC049D81-9976-4B83-A250-87F579907070}">
      <dgm:prSet/>
      <dgm:spPr/>
      <dgm:t>
        <a:bodyPr/>
        <a:lstStyle/>
        <a:p>
          <a:endParaRPr lang="en-US">
            <a:solidFill>
              <a:sysClr val="windowText" lastClr="000000"/>
            </a:solidFill>
          </a:endParaRPr>
        </a:p>
      </dgm:t>
    </dgm:pt>
    <dgm:pt modelId="{9FA53E70-1814-41F3-A8C2-AA1D971DAD1E}">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Point-of-care results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52C10EA1-ABBA-43CF-9508-D5E9C48C880F}" type="parTrans" cxnId="{A386260F-1C33-4EB7-8412-0E74E782FFD0}">
      <dgm:prSet/>
      <dgm:spPr/>
      <dgm:t>
        <a:bodyPr/>
        <a:lstStyle/>
        <a:p>
          <a:endParaRPr lang="en-US">
            <a:solidFill>
              <a:sysClr val="windowText" lastClr="000000"/>
            </a:solidFill>
          </a:endParaRPr>
        </a:p>
      </dgm:t>
    </dgm:pt>
    <dgm:pt modelId="{249A79DA-06DF-4776-89DA-17EA0B75F99E}" type="sibTrans" cxnId="{A386260F-1C33-4EB7-8412-0E74E782FFD0}">
      <dgm:prSet/>
      <dgm:spPr/>
      <dgm:t>
        <a:bodyPr/>
        <a:lstStyle/>
        <a:p>
          <a:endParaRPr lang="en-US">
            <a:solidFill>
              <a:sysClr val="windowText" lastClr="000000"/>
            </a:solidFill>
          </a:endParaRPr>
        </a:p>
      </dgm:t>
    </dgm:pt>
    <dgm:pt modelId="{DC1F95F6-F58E-46CB-9403-4A7D51002C1E}">
      <dgm:prSet custT="1"/>
      <dgm:spPr/>
      <dgm:t>
        <a:bodyPr/>
        <a:lstStyle/>
        <a:p>
          <a:r>
            <a:rPr lang="en-IN" sz="1600" b="0" i="0" baseline="0" dirty="0">
              <a:latin typeface="Calibri" panose="020F0502020204030204" pitchFamily="34" charset="0"/>
              <a:ea typeface="Calibri" panose="020F0502020204030204" pitchFamily="34" charset="0"/>
              <a:cs typeface="Calibri" panose="020F0502020204030204" pitchFamily="34" charset="0"/>
            </a:rPr>
            <a:t>10x lower cost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86C10B4E-6DE5-42A1-BD6C-79547A1B6DE7}" type="parTrans" cxnId="{F88C4C4E-9EF6-477A-AB6D-5D4DB6E29D0D}">
      <dgm:prSet/>
      <dgm:spPr/>
      <dgm:t>
        <a:bodyPr/>
        <a:lstStyle/>
        <a:p>
          <a:endParaRPr lang="en-US">
            <a:solidFill>
              <a:sysClr val="windowText" lastClr="000000"/>
            </a:solidFill>
          </a:endParaRPr>
        </a:p>
      </dgm:t>
    </dgm:pt>
    <dgm:pt modelId="{58A8E60A-341B-408E-A413-A8FAE49046D6}" type="sibTrans" cxnId="{F88C4C4E-9EF6-477A-AB6D-5D4DB6E29D0D}">
      <dgm:prSet/>
      <dgm:spPr/>
      <dgm:t>
        <a:bodyPr/>
        <a:lstStyle/>
        <a:p>
          <a:endParaRPr lang="en-US">
            <a:solidFill>
              <a:sysClr val="windowText" lastClr="000000"/>
            </a:solidFill>
          </a:endParaRPr>
        </a:p>
      </dgm:t>
    </dgm:pt>
    <dgm:pt modelId="{5D0E037A-EFFB-4A4E-9D62-BFF1D9B38FB2}">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No sample transport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E0754918-CEA0-4DD2-B48E-D37FF98A09F5}" type="parTrans" cxnId="{79BBE240-312D-4F0F-A26E-0132E91BB595}">
      <dgm:prSet/>
      <dgm:spPr/>
      <dgm:t>
        <a:bodyPr/>
        <a:lstStyle/>
        <a:p>
          <a:endParaRPr lang="en-US">
            <a:solidFill>
              <a:sysClr val="windowText" lastClr="000000"/>
            </a:solidFill>
          </a:endParaRPr>
        </a:p>
      </dgm:t>
    </dgm:pt>
    <dgm:pt modelId="{B2C5CAAF-0F8C-42CE-A763-5352A0C2D905}" type="sibTrans" cxnId="{79BBE240-312D-4F0F-A26E-0132E91BB595}">
      <dgm:prSet/>
      <dgm:spPr/>
      <dgm:t>
        <a:bodyPr/>
        <a:lstStyle/>
        <a:p>
          <a:endParaRPr lang="en-US">
            <a:solidFill>
              <a:sysClr val="windowText" lastClr="000000"/>
            </a:solidFill>
          </a:endParaRPr>
        </a:p>
      </dgm:t>
    </dgm:pt>
    <dgm:pt modelId="{B0AEC6A6-0096-42D3-B36A-4700DC61D0D6}">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Immediate clinical decision support </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B96C5705-66D6-443D-976F-EF813372B14F}" type="parTrans" cxnId="{FBC3F65A-D6A2-42DA-B7E5-B821DDE7EFC4}">
      <dgm:prSet/>
      <dgm:spPr/>
      <dgm:t>
        <a:bodyPr/>
        <a:lstStyle/>
        <a:p>
          <a:endParaRPr lang="en-US">
            <a:solidFill>
              <a:sysClr val="windowText" lastClr="000000"/>
            </a:solidFill>
          </a:endParaRPr>
        </a:p>
      </dgm:t>
    </dgm:pt>
    <dgm:pt modelId="{B3404DD5-4972-4861-B4A4-D62B72BE9B18}" type="sibTrans" cxnId="{FBC3F65A-D6A2-42DA-B7E5-B821DDE7EFC4}">
      <dgm:prSet/>
      <dgm:spPr/>
      <dgm:t>
        <a:bodyPr/>
        <a:lstStyle/>
        <a:p>
          <a:endParaRPr lang="en-US">
            <a:solidFill>
              <a:sysClr val="windowText" lastClr="000000"/>
            </a:solidFill>
          </a:endParaRPr>
        </a:p>
      </dgm:t>
    </dgm:pt>
    <dgm:pt modelId="{1E248A9D-7A5E-4A13-B33B-B2ACCE492CB8}">
      <dgm:prSet custT="1"/>
      <dgm:spPr/>
      <dgm:t>
        <a:bodyPr/>
        <a:lstStyle/>
        <a:p>
          <a:r>
            <a:rPr lang="en-IN" sz="1600" b="0" i="0" baseline="0">
              <a:latin typeface="Calibri" panose="020F0502020204030204" pitchFamily="34" charset="0"/>
              <a:ea typeface="Calibri" panose="020F0502020204030204" pitchFamily="34" charset="0"/>
              <a:cs typeface="Calibri" panose="020F0502020204030204" pitchFamily="34" charset="0"/>
            </a:rPr>
            <a:t>Higher compliance &amp; follow-up</a:t>
          </a:r>
          <a:endParaRPr lang="en-US" sz="1600" b="0" dirty="0">
            <a:latin typeface="Calibri" panose="020F0502020204030204" pitchFamily="34" charset="0"/>
            <a:ea typeface="Calibri" panose="020F0502020204030204" pitchFamily="34" charset="0"/>
            <a:cs typeface="Calibri" panose="020F0502020204030204" pitchFamily="34" charset="0"/>
          </a:endParaRPr>
        </a:p>
      </dgm:t>
    </dgm:pt>
    <dgm:pt modelId="{6D1BA90D-6105-4DB3-B697-D5D54EB6F432}" type="parTrans" cxnId="{03924D8D-0425-4A4A-81D9-74DD1EE66B78}">
      <dgm:prSet/>
      <dgm:spPr/>
      <dgm:t>
        <a:bodyPr/>
        <a:lstStyle/>
        <a:p>
          <a:endParaRPr lang="en-US">
            <a:solidFill>
              <a:sysClr val="windowText" lastClr="000000"/>
            </a:solidFill>
          </a:endParaRPr>
        </a:p>
      </dgm:t>
    </dgm:pt>
    <dgm:pt modelId="{4541195D-7020-438A-85BE-54201602AA0E}" type="sibTrans" cxnId="{03924D8D-0425-4A4A-81D9-74DD1EE66B78}">
      <dgm:prSet/>
      <dgm:spPr/>
      <dgm:t>
        <a:bodyPr/>
        <a:lstStyle/>
        <a:p>
          <a:endParaRPr lang="en-US">
            <a:solidFill>
              <a:sysClr val="windowText" lastClr="000000"/>
            </a:solidFill>
          </a:endParaRPr>
        </a:p>
      </dgm:t>
    </dgm:pt>
    <dgm:pt modelId="{CCEAA399-1D36-4067-A3CB-534DC8901370}" type="pres">
      <dgm:prSet presAssocID="{3D69F0EC-337B-4EFF-BE73-8EA312AF25D4}" presName="theList" presStyleCnt="0">
        <dgm:presLayoutVars>
          <dgm:dir/>
          <dgm:animLvl val="lvl"/>
          <dgm:resizeHandles val="exact"/>
        </dgm:presLayoutVars>
      </dgm:prSet>
      <dgm:spPr/>
    </dgm:pt>
    <dgm:pt modelId="{C5E20F3A-C63B-448B-8639-CEB58913C2C5}" type="pres">
      <dgm:prSet presAssocID="{DA76FC1E-B78C-4CA4-8133-08E7A1F96E60}" presName="compNode" presStyleCnt="0"/>
      <dgm:spPr/>
    </dgm:pt>
    <dgm:pt modelId="{FF0BE9BA-187F-475C-826B-F7E6E36F4A63}" type="pres">
      <dgm:prSet presAssocID="{DA76FC1E-B78C-4CA4-8133-08E7A1F96E60}" presName="aNode" presStyleLbl="bgShp" presStyleIdx="0" presStyleCnt="3" custLinFactNeighborX="-1178" custLinFactNeighborY="-4052"/>
      <dgm:spPr/>
    </dgm:pt>
    <dgm:pt modelId="{EEB44976-6D5D-4BE0-BB25-67B9919D4AC6}" type="pres">
      <dgm:prSet presAssocID="{DA76FC1E-B78C-4CA4-8133-08E7A1F96E60}" presName="textNode" presStyleLbl="bgShp" presStyleIdx="0" presStyleCnt="3"/>
      <dgm:spPr/>
    </dgm:pt>
    <dgm:pt modelId="{40F55619-EDAC-4DAA-86F9-B5868BD0E98C}" type="pres">
      <dgm:prSet presAssocID="{DA76FC1E-B78C-4CA4-8133-08E7A1F96E60}" presName="compChildNode" presStyleCnt="0"/>
      <dgm:spPr/>
    </dgm:pt>
    <dgm:pt modelId="{24849419-2707-4A6B-ABD5-A6B1B564A740}" type="pres">
      <dgm:prSet presAssocID="{DA76FC1E-B78C-4CA4-8133-08E7A1F96E60}" presName="theInnerList" presStyleCnt="0"/>
      <dgm:spPr/>
    </dgm:pt>
    <dgm:pt modelId="{9A094AFD-02DB-46C6-9EE3-7451F1BA1158}" type="pres">
      <dgm:prSet presAssocID="{9F2B72B3-1E7D-41DC-AEDD-4664E6383C6D}" presName="childNode" presStyleLbl="node1" presStyleIdx="0" presStyleCnt="15">
        <dgm:presLayoutVars>
          <dgm:bulletEnabled val="1"/>
        </dgm:presLayoutVars>
      </dgm:prSet>
      <dgm:spPr/>
    </dgm:pt>
    <dgm:pt modelId="{CE6D56FA-7E77-4785-AB46-2D23BC2BE79F}" type="pres">
      <dgm:prSet presAssocID="{9F2B72B3-1E7D-41DC-AEDD-4664E6383C6D}" presName="aSpace2" presStyleCnt="0"/>
      <dgm:spPr/>
    </dgm:pt>
    <dgm:pt modelId="{AA7EFF1D-4141-4CD6-9B8B-83569781F0C5}" type="pres">
      <dgm:prSet presAssocID="{978F3081-603D-45EA-91D9-C82D97B42467}" presName="childNode" presStyleLbl="node1" presStyleIdx="1" presStyleCnt="15">
        <dgm:presLayoutVars>
          <dgm:bulletEnabled val="1"/>
        </dgm:presLayoutVars>
      </dgm:prSet>
      <dgm:spPr/>
    </dgm:pt>
    <dgm:pt modelId="{D9080E50-4A45-4A63-A24D-0E69025BE615}" type="pres">
      <dgm:prSet presAssocID="{978F3081-603D-45EA-91D9-C82D97B42467}" presName="aSpace2" presStyleCnt="0"/>
      <dgm:spPr/>
    </dgm:pt>
    <dgm:pt modelId="{1FC8C746-E44C-4F2D-9BD4-3B0770BD9D06}" type="pres">
      <dgm:prSet presAssocID="{8EC2A943-6FDD-4A2C-B0D4-D8A383F3B7F4}" presName="childNode" presStyleLbl="node1" presStyleIdx="2" presStyleCnt="15">
        <dgm:presLayoutVars>
          <dgm:bulletEnabled val="1"/>
        </dgm:presLayoutVars>
      </dgm:prSet>
      <dgm:spPr/>
    </dgm:pt>
    <dgm:pt modelId="{1735487D-E5D7-4E8A-8879-ADF3479417C2}" type="pres">
      <dgm:prSet presAssocID="{8EC2A943-6FDD-4A2C-B0D4-D8A383F3B7F4}" presName="aSpace2" presStyleCnt="0"/>
      <dgm:spPr/>
    </dgm:pt>
    <dgm:pt modelId="{0E084248-7F80-4F2F-81A0-F769EE6D5CB7}" type="pres">
      <dgm:prSet presAssocID="{1DF9B5DC-85F9-4C6F-B35F-80077192888C}" presName="childNode" presStyleLbl="node1" presStyleIdx="3" presStyleCnt="15">
        <dgm:presLayoutVars>
          <dgm:bulletEnabled val="1"/>
        </dgm:presLayoutVars>
      </dgm:prSet>
      <dgm:spPr/>
    </dgm:pt>
    <dgm:pt modelId="{94BF8CDE-AAB7-4B9A-9716-7C715CD2D2C1}" type="pres">
      <dgm:prSet presAssocID="{1DF9B5DC-85F9-4C6F-B35F-80077192888C}" presName="aSpace2" presStyleCnt="0"/>
      <dgm:spPr/>
    </dgm:pt>
    <dgm:pt modelId="{4E14A25E-106F-4E6A-BAFA-B912D79D301A}" type="pres">
      <dgm:prSet presAssocID="{5B223889-7D84-4C3E-BD4D-0137BD9D05C1}" presName="childNode" presStyleLbl="node1" presStyleIdx="4" presStyleCnt="15">
        <dgm:presLayoutVars>
          <dgm:bulletEnabled val="1"/>
        </dgm:presLayoutVars>
      </dgm:prSet>
      <dgm:spPr/>
    </dgm:pt>
    <dgm:pt modelId="{58429D36-D5D6-48FD-981B-5AEE95C776B9}" type="pres">
      <dgm:prSet presAssocID="{DA76FC1E-B78C-4CA4-8133-08E7A1F96E60}" presName="aSpace" presStyleCnt="0"/>
      <dgm:spPr/>
    </dgm:pt>
    <dgm:pt modelId="{25565202-C0D8-4A60-9E19-091C2460A641}" type="pres">
      <dgm:prSet presAssocID="{048A8715-084C-49AA-B464-71351CE18951}" presName="compNode" presStyleCnt="0"/>
      <dgm:spPr/>
    </dgm:pt>
    <dgm:pt modelId="{11E7D011-88C6-4E89-99FE-1138E1BC8C34}" type="pres">
      <dgm:prSet presAssocID="{048A8715-084C-49AA-B464-71351CE18951}" presName="aNode" presStyleLbl="bgShp" presStyleIdx="1" presStyleCnt="3"/>
      <dgm:spPr/>
    </dgm:pt>
    <dgm:pt modelId="{20473AD7-6FFC-4883-87A3-25FB5E4A65A7}" type="pres">
      <dgm:prSet presAssocID="{048A8715-084C-49AA-B464-71351CE18951}" presName="textNode" presStyleLbl="bgShp" presStyleIdx="1" presStyleCnt="3"/>
      <dgm:spPr/>
    </dgm:pt>
    <dgm:pt modelId="{3A7FECD4-BF27-4615-A511-5A464943392F}" type="pres">
      <dgm:prSet presAssocID="{048A8715-084C-49AA-B464-71351CE18951}" presName="compChildNode" presStyleCnt="0"/>
      <dgm:spPr/>
    </dgm:pt>
    <dgm:pt modelId="{950184D3-AAAE-4CA1-B94E-F81AA7B8F40A}" type="pres">
      <dgm:prSet presAssocID="{048A8715-084C-49AA-B464-71351CE18951}" presName="theInnerList" presStyleCnt="0"/>
      <dgm:spPr/>
    </dgm:pt>
    <dgm:pt modelId="{42028F19-DFA4-4AAD-8F50-E1D7540F0FBF}" type="pres">
      <dgm:prSet presAssocID="{13AE3B96-1EE8-4F73-876D-04279CA02463}" presName="childNode" presStyleLbl="node1" presStyleIdx="5" presStyleCnt="15">
        <dgm:presLayoutVars>
          <dgm:bulletEnabled val="1"/>
        </dgm:presLayoutVars>
      </dgm:prSet>
      <dgm:spPr/>
    </dgm:pt>
    <dgm:pt modelId="{D1747E16-E2C1-445E-A9BA-B00C694D7E97}" type="pres">
      <dgm:prSet presAssocID="{13AE3B96-1EE8-4F73-876D-04279CA02463}" presName="aSpace2" presStyleCnt="0"/>
      <dgm:spPr/>
    </dgm:pt>
    <dgm:pt modelId="{023907BA-EAE9-4AC3-AA90-8BE2B975B66B}" type="pres">
      <dgm:prSet presAssocID="{36A40916-00E7-4278-8CF3-B3CA6B5C5506}" presName="childNode" presStyleLbl="node1" presStyleIdx="6" presStyleCnt="15">
        <dgm:presLayoutVars>
          <dgm:bulletEnabled val="1"/>
        </dgm:presLayoutVars>
      </dgm:prSet>
      <dgm:spPr/>
    </dgm:pt>
    <dgm:pt modelId="{C2AADE6B-26EB-4D8F-9FED-232AA50A90BD}" type="pres">
      <dgm:prSet presAssocID="{36A40916-00E7-4278-8CF3-B3CA6B5C5506}" presName="aSpace2" presStyleCnt="0"/>
      <dgm:spPr/>
    </dgm:pt>
    <dgm:pt modelId="{EB986721-69A7-482F-9732-20564A048CEF}" type="pres">
      <dgm:prSet presAssocID="{94C1792A-4109-4246-B266-6B8C61F8FB0B}" presName="childNode" presStyleLbl="node1" presStyleIdx="7" presStyleCnt="15">
        <dgm:presLayoutVars>
          <dgm:bulletEnabled val="1"/>
        </dgm:presLayoutVars>
      </dgm:prSet>
      <dgm:spPr/>
    </dgm:pt>
    <dgm:pt modelId="{C68FA271-A206-4A1A-AF55-2595B8F8ECA5}" type="pres">
      <dgm:prSet presAssocID="{94C1792A-4109-4246-B266-6B8C61F8FB0B}" presName="aSpace2" presStyleCnt="0"/>
      <dgm:spPr/>
    </dgm:pt>
    <dgm:pt modelId="{D9C7A618-ED41-408F-AECE-268667A0F004}" type="pres">
      <dgm:prSet presAssocID="{D33AF84F-08F2-4F26-9EB9-1C5869AB996C}" presName="childNode" presStyleLbl="node1" presStyleIdx="8" presStyleCnt="15">
        <dgm:presLayoutVars>
          <dgm:bulletEnabled val="1"/>
        </dgm:presLayoutVars>
      </dgm:prSet>
      <dgm:spPr/>
    </dgm:pt>
    <dgm:pt modelId="{14BC1C6C-F480-4FD5-A811-FC691AE2339D}" type="pres">
      <dgm:prSet presAssocID="{D33AF84F-08F2-4F26-9EB9-1C5869AB996C}" presName="aSpace2" presStyleCnt="0"/>
      <dgm:spPr/>
    </dgm:pt>
    <dgm:pt modelId="{5D76C18A-F01A-4551-86CB-77D882407250}" type="pres">
      <dgm:prSet presAssocID="{D70B2C5D-56A1-4E3B-8382-7381CE516E62}" presName="childNode" presStyleLbl="node1" presStyleIdx="9" presStyleCnt="15">
        <dgm:presLayoutVars>
          <dgm:bulletEnabled val="1"/>
        </dgm:presLayoutVars>
      </dgm:prSet>
      <dgm:spPr/>
    </dgm:pt>
    <dgm:pt modelId="{653BDA0E-20B8-486B-BA27-453A0F6A5030}" type="pres">
      <dgm:prSet presAssocID="{048A8715-084C-49AA-B464-71351CE18951}" presName="aSpace" presStyleCnt="0"/>
      <dgm:spPr/>
    </dgm:pt>
    <dgm:pt modelId="{ABDDB8F7-3D0E-4704-BECF-08476797C785}" type="pres">
      <dgm:prSet presAssocID="{691A5E6B-8D2F-4602-B45D-A83E1AA43578}" presName="compNode" presStyleCnt="0"/>
      <dgm:spPr/>
    </dgm:pt>
    <dgm:pt modelId="{569B01F7-F71F-4D6C-9699-947FFD1881D1}" type="pres">
      <dgm:prSet presAssocID="{691A5E6B-8D2F-4602-B45D-A83E1AA43578}" presName="aNode" presStyleLbl="bgShp" presStyleIdx="2" presStyleCnt="3"/>
      <dgm:spPr/>
    </dgm:pt>
    <dgm:pt modelId="{5A876917-4C52-4C6A-B0C9-C2CAF7B4E526}" type="pres">
      <dgm:prSet presAssocID="{691A5E6B-8D2F-4602-B45D-A83E1AA43578}" presName="textNode" presStyleLbl="bgShp" presStyleIdx="2" presStyleCnt="3"/>
      <dgm:spPr/>
    </dgm:pt>
    <dgm:pt modelId="{103EFC57-5539-4979-8747-1A166917288E}" type="pres">
      <dgm:prSet presAssocID="{691A5E6B-8D2F-4602-B45D-A83E1AA43578}" presName="compChildNode" presStyleCnt="0"/>
      <dgm:spPr/>
    </dgm:pt>
    <dgm:pt modelId="{3F89802A-CA66-42AE-8C7E-FE2E7A25098A}" type="pres">
      <dgm:prSet presAssocID="{691A5E6B-8D2F-4602-B45D-A83E1AA43578}" presName="theInnerList" presStyleCnt="0"/>
      <dgm:spPr/>
    </dgm:pt>
    <dgm:pt modelId="{CFE42088-5D02-4442-A723-A383E84EAC96}" type="pres">
      <dgm:prSet presAssocID="{9FA53E70-1814-41F3-A8C2-AA1D971DAD1E}" presName="childNode" presStyleLbl="node1" presStyleIdx="10" presStyleCnt="15">
        <dgm:presLayoutVars>
          <dgm:bulletEnabled val="1"/>
        </dgm:presLayoutVars>
      </dgm:prSet>
      <dgm:spPr/>
    </dgm:pt>
    <dgm:pt modelId="{1EBDFF14-DE3A-4917-9C45-D2E8D210CAEA}" type="pres">
      <dgm:prSet presAssocID="{9FA53E70-1814-41F3-A8C2-AA1D971DAD1E}" presName="aSpace2" presStyleCnt="0"/>
      <dgm:spPr/>
    </dgm:pt>
    <dgm:pt modelId="{FF5FD654-7759-48F6-B865-76ADFAA0604F}" type="pres">
      <dgm:prSet presAssocID="{DC1F95F6-F58E-46CB-9403-4A7D51002C1E}" presName="childNode" presStyleLbl="node1" presStyleIdx="11" presStyleCnt="15">
        <dgm:presLayoutVars>
          <dgm:bulletEnabled val="1"/>
        </dgm:presLayoutVars>
      </dgm:prSet>
      <dgm:spPr/>
    </dgm:pt>
    <dgm:pt modelId="{A567933F-FC29-4DD2-A9C9-9DE11B37C440}" type="pres">
      <dgm:prSet presAssocID="{DC1F95F6-F58E-46CB-9403-4A7D51002C1E}" presName="aSpace2" presStyleCnt="0"/>
      <dgm:spPr/>
    </dgm:pt>
    <dgm:pt modelId="{48937407-45E1-4DE0-ACC5-D681E60F0BBD}" type="pres">
      <dgm:prSet presAssocID="{5D0E037A-EFFB-4A4E-9D62-BFF1D9B38FB2}" presName="childNode" presStyleLbl="node1" presStyleIdx="12" presStyleCnt="15">
        <dgm:presLayoutVars>
          <dgm:bulletEnabled val="1"/>
        </dgm:presLayoutVars>
      </dgm:prSet>
      <dgm:spPr/>
    </dgm:pt>
    <dgm:pt modelId="{8C443C78-3D0D-46C5-A466-E1E9D62E9A95}" type="pres">
      <dgm:prSet presAssocID="{5D0E037A-EFFB-4A4E-9D62-BFF1D9B38FB2}" presName="aSpace2" presStyleCnt="0"/>
      <dgm:spPr/>
    </dgm:pt>
    <dgm:pt modelId="{F26F6173-B0F8-466C-9325-A849DD1FE508}" type="pres">
      <dgm:prSet presAssocID="{B0AEC6A6-0096-42D3-B36A-4700DC61D0D6}" presName="childNode" presStyleLbl="node1" presStyleIdx="13" presStyleCnt="15">
        <dgm:presLayoutVars>
          <dgm:bulletEnabled val="1"/>
        </dgm:presLayoutVars>
      </dgm:prSet>
      <dgm:spPr/>
    </dgm:pt>
    <dgm:pt modelId="{812AFEBD-900C-4951-8A08-F6D96BC44F08}" type="pres">
      <dgm:prSet presAssocID="{B0AEC6A6-0096-42D3-B36A-4700DC61D0D6}" presName="aSpace2" presStyleCnt="0"/>
      <dgm:spPr/>
    </dgm:pt>
    <dgm:pt modelId="{2F8C6D33-2B3C-4437-85EB-5F3C44F67FF2}" type="pres">
      <dgm:prSet presAssocID="{1E248A9D-7A5E-4A13-B33B-B2ACCE492CB8}" presName="childNode" presStyleLbl="node1" presStyleIdx="14" presStyleCnt="15">
        <dgm:presLayoutVars>
          <dgm:bulletEnabled val="1"/>
        </dgm:presLayoutVars>
      </dgm:prSet>
      <dgm:spPr/>
    </dgm:pt>
  </dgm:ptLst>
  <dgm:cxnLst>
    <dgm:cxn modelId="{B7D48F08-3B3D-4D5D-9C78-AB8D5B89D462}" srcId="{048A8715-084C-49AA-B464-71351CE18951}" destId="{D70B2C5D-56A1-4E3B-8382-7381CE516E62}" srcOrd="4" destOrd="0" parTransId="{10A98769-3DDB-447B-B93C-734DA29B088C}" sibTransId="{87D27A95-F6B8-4FEC-97B2-4E4C10EF419F}"/>
    <dgm:cxn modelId="{2C120A0C-54AD-47E2-9F9A-A3B8C3782BCF}" type="presOf" srcId="{9FA53E70-1814-41F3-A8C2-AA1D971DAD1E}" destId="{CFE42088-5D02-4442-A723-A383E84EAC96}" srcOrd="0" destOrd="0" presId="urn:microsoft.com/office/officeart/2005/8/layout/lProcess2"/>
    <dgm:cxn modelId="{A386260F-1C33-4EB7-8412-0E74E782FFD0}" srcId="{691A5E6B-8D2F-4602-B45D-A83E1AA43578}" destId="{9FA53E70-1814-41F3-A8C2-AA1D971DAD1E}" srcOrd="0" destOrd="0" parTransId="{52C10EA1-ABBA-43CF-9508-D5E9C48C880F}" sibTransId="{249A79DA-06DF-4776-89DA-17EA0B75F99E}"/>
    <dgm:cxn modelId="{FC27C411-B4B8-444D-BC31-03B4B9B883B4}" type="presOf" srcId="{D33AF84F-08F2-4F26-9EB9-1C5869AB996C}" destId="{D9C7A618-ED41-408F-AECE-268667A0F004}" srcOrd="0" destOrd="0" presId="urn:microsoft.com/office/officeart/2005/8/layout/lProcess2"/>
    <dgm:cxn modelId="{D2DE3114-8588-4AB3-8947-D69D96AFDDA6}" srcId="{DA76FC1E-B78C-4CA4-8133-08E7A1F96E60}" destId="{1DF9B5DC-85F9-4C6F-B35F-80077192888C}" srcOrd="3" destOrd="0" parTransId="{FBAE3438-F5FC-4AA5-90EF-85B80CB208C2}" sibTransId="{EE2083B9-4E92-419F-99AC-2759819C7A19}"/>
    <dgm:cxn modelId="{EA08B51E-B58E-4E4E-B27C-4B1F134A9982}" type="presOf" srcId="{B0AEC6A6-0096-42D3-B36A-4700DC61D0D6}" destId="{F26F6173-B0F8-466C-9325-A849DD1FE508}" srcOrd="0" destOrd="0" presId="urn:microsoft.com/office/officeart/2005/8/layout/lProcess2"/>
    <dgm:cxn modelId="{4DC3C924-2490-4C53-B054-B9BACCD09F5E}" type="presOf" srcId="{1E248A9D-7A5E-4A13-B33B-B2ACCE492CB8}" destId="{2F8C6D33-2B3C-4437-85EB-5F3C44F67FF2}" srcOrd="0" destOrd="0" presId="urn:microsoft.com/office/officeart/2005/8/layout/lProcess2"/>
    <dgm:cxn modelId="{38F5FC24-2108-4376-8906-F9E270BB46E7}" type="presOf" srcId="{DC1F95F6-F58E-46CB-9403-4A7D51002C1E}" destId="{FF5FD654-7759-48F6-B865-76ADFAA0604F}" srcOrd="0" destOrd="0" presId="urn:microsoft.com/office/officeart/2005/8/layout/lProcess2"/>
    <dgm:cxn modelId="{23FA5327-F575-4CD0-8C61-867E9C6F5A88}" type="presOf" srcId="{13AE3B96-1EE8-4F73-876D-04279CA02463}" destId="{42028F19-DFA4-4AAD-8F50-E1D7540F0FBF}" srcOrd="0" destOrd="0" presId="urn:microsoft.com/office/officeart/2005/8/layout/lProcess2"/>
    <dgm:cxn modelId="{BA33282F-EADB-40B9-9BD1-467FDC9EDA29}" type="presOf" srcId="{36A40916-00E7-4278-8CF3-B3CA6B5C5506}" destId="{023907BA-EAE9-4AC3-AA90-8BE2B975B66B}" srcOrd="0" destOrd="0" presId="urn:microsoft.com/office/officeart/2005/8/layout/lProcess2"/>
    <dgm:cxn modelId="{8106B032-352B-4816-B59B-820547869A51}" srcId="{048A8715-084C-49AA-B464-71351CE18951}" destId="{D33AF84F-08F2-4F26-9EB9-1C5869AB996C}" srcOrd="3" destOrd="0" parTransId="{FD680111-27B4-4A0D-9515-833593A6D2FA}" sibTransId="{C0241F04-75E3-4AC1-9A65-7E4BAA018445}"/>
    <dgm:cxn modelId="{28F24933-A308-4134-9575-0CEF1923D38A}" type="presOf" srcId="{D70B2C5D-56A1-4E3B-8382-7381CE516E62}" destId="{5D76C18A-F01A-4551-86CB-77D882407250}" srcOrd="0" destOrd="0" presId="urn:microsoft.com/office/officeart/2005/8/layout/lProcess2"/>
    <dgm:cxn modelId="{36145640-F0C7-408A-AE2E-B7C0573C3D4F}" srcId="{048A8715-084C-49AA-B464-71351CE18951}" destId="{94C1792A-4109-4246-B266-6B8C61F8FB0B}" srcOrd="2" destOrd="0" parTransId="{068767EA-1EF8-401E-8BCA-41CC7FB432ED}" sibTransId="{20DA71B7-BAD6-43F4-93CA-2806513B142C}"/>
    <dgm:cxn modelId="{79BBE240-312D-4F0F-A26E-0132E91BB595}" srcId="{691A5E6B-8D2F-4602-B45D-A83E1AA43578}" destId="{5D0E037A-EFFB-4A4E-9D62-BFF1D9B38FB2}" srcOrd="2" destOrd="0" parTransId="{E0754918-CEA0-4DD2-B48E-D37FF98A09F5}" sibTransId="{B2C5CAAF-0F8C-42CE-A763-5352A0C2D905}"/>
    <dgm:cxn modelId="{9D92A85D-C4F3-4FA7-92A6-95AA81BB09A2}" srcId="{3D69F0EC-337B-4EFF-BE73-8EA312AF25D4}" destId="{048A8715-084C-49AA-B464-71351CE18951}" srcOrd="1" destOrd="0" parTransId="{0A8F9674-4BDF-4083-9AD3-62677CA78704}" sibTransId="{AF7626DC-79BB-4A43-B44F-4E1C235229F4}"/>
    <dgm:cxn modelId="{A0D76C42-6BE4-4B8C-9F52-8001EB4BAA6D}" type="presOf" srcId="{DA76FC1E-B78C-4CA4-8133-08E7A1F96E60}" destId="{FF0BE9BA-187F-475C-826B-F7E6E36F4A63}" srcOrd="0" destOrd="0" presId="urn:microsoft.com/office/officeart/2005/8/layout/lProcess2"/>
    <dgm:cxn modelId="{AA4FF564-31C3-49F6-8DCA-BCA8DEA9F752}" type="presOf" srcId="{DA76FC1E-B78C-4CA4-8133-08E7A1F96E60}" destId="{EEB44976-6D5D-4BE0-BB25-67B9919D4AC6}" srcOrd="1" destOrd="0" presId="urn:microsoft.com/office/officeart/2005/8/layout/lProcess2"/>
    <dgm:cxn modelId="{12637446-5CDA-47FE-84CF-EFAE650DDDC7}" srcId="{3D69F0EC-337B-4EFF-BE73-8EA312AF25D4}" destId="{DA76FC1E-B78C-4CA4-8133-08E7A1F96E60}" srcOrd="0" destOrd="0" parTransId="{AC7E5A0A-12D2-4F84-B26B-B567A914F1E7}" sibTransId="{25046868-B1B9-4937-BE99-7F671D5EBEB1}"/>
    <dgm:cxn modelId="{AD89446D-EFFA-455B-BF77-BD532715D0BA}" srcId="{DA76FC1E-B78C-4CA4-8133-08E7A1F96E60}" destId="{978F3081-603D-45EA-91D9-C82D97B42467}" srcOrd="1" destOrd="0" parTransId="{8E43CEC1-0D2B-44B0-86FD-16D024F5ADBD}" sibTransId="{0B6BDA3D-5874-43FD-AE05-EF261D241CE5}"/>
    <dgm:cxn modelId="{F88C4C4E-9EF6-477A-AB6D-5D4DB6E29D0D}" srcId="{691A5E6B-8D2F-4602-B45D-A83E1AA43578}" destId="{DC1F95F6-F58E-46CB-9403-4A7D51002C1E}" srcOrd="1" destOrd="0" parTransId="{86C10B4E-6DE5-42A1-BD6C-79547A1B6DE7}" sibTransId="{58A8E60A-341B-408E-A413-A8FAE49046D6}"/>
    <dgm:cxn modelId="{0EECC44F-A059-4A45-8E8C-21376D802D0F}" srcId="{DA76FC1E-B78C-4CA4-8133-08E7A1F96E60}" destId="{9F2B72B3-1E7D-41DC-AEDD-4664E6383C6D}" srcOrd="0" destOrd="0" parTransId="{F9125487-2FCF-42D2-A1CD-18208573ECBC}" sibTransId="{C96EB747-265A-4574-825F-0E6A68D97938}"/>
    <dgm:cxn modelId="{E7560E74-EB88-4AB5-AB3B-DDBCD2127091}" type="presOf" srcId="{5D0E037A-EFFB-4A4E-9D62-BFF1D9B38FB2}" destId="{48937407-45E1-4DE0-ACC5-D681E60F0BBD}" srcOrd="0" destOrd="0" presId="urn:microsoft.com/office/officeart/2005/8/layout/lProcess2"/>
    <dgm:cxn modelId="{FBC3F65A-D6A2-42DA-B7E5-B821DDE7EFC4}" srcId="{691A5E6B-8D2F-4602-B45D-A83E1AA43578}" destId="{B0AEC6A6-0096-42D3-B36A-4700DC61D0D6}" srcOrd="3" destOrd="0" parTransId="{B96C5705-66D6-443D-976F-EF813372B14F}" sibTransId="{B3404DD5-4972-4861-B4A4-D62B72BE9B18}"/>
    <dgm:cxn modelId="{AC049D81-9976-4B83-A250-87F579907070}" srcId="{3D69F0EC-337B-4EFF-BE73-8EA312AF25D4}" destId="{691A5E6B-8D2F-4602-B45D-A83E1AA43578}" srcOrd="2" destOrd="0" parTransId="{D93A13DD-E710-47F7-A648-D673CC7FAD12}" sibTransId="{EBD91639-AC65-4105-AFFD-D78DCCD89063}"/>
    <dgm:cxn modelId="{CEF47A87-C15F-4733-91A1-69708FFE85C1}" srcId="{048A8715-084C-49AA-B464-71351CE18951}" destId="{36A40916-00E7-4278-8CF3-B3CA6B5C5506}" srcOrd="1" destOrd="0" parTransId="{C849A632-3A2A-4BDD-8066-8060A642978C}" sibTransId="{67B8EBF4-E70A-4C36-B807-4A67D36DBD24}"/>
    <dgm:cxn modelId="{0B3B3088-4835-4979-83CF-088D182041C0}" type="presOf" srcId="{978F3081-603D-45EA-91D9-C82D97B42467}" destId="{AA7EFF1D-4141-4CD6-9B8B-83569781F0C5}" srcOrd="0" destOrd="0" presId="urn:microsoft.com/office/officeart/2005/8/layout/lProcess2"/>
    <dgm:cxn modelId="{B3B1188B-ED59-47C2-94A8-A6DEC6540CC8}" type="presOf" srcId="{048A8715-084C-49AA-B464-71351CE18951}" destId="{20473AD7-6FFC-4883-87A3-25FB5E4A65A7}" srcOrd="1" destOrd="0" presId="urn:microsoft.com/office/officeart/2005/8/layout/lProcess2"/>
    <dgm:cxn modelId="{03924D8D-0425-4A4A-81D9-74DD1EE66B78}" srcId="{691A5E6B-8D2F-4602-B45D-A83E1AA43578}" destId="{1E248A9D-7A5E-4A13-B33B-B2ACCE492CB8}" srcOrd="4" destOrd="0" parTransId="{6D1BA90D-6105-4DB3-B697-D5D54EB6F432}" sibTransId="{4541195D-7020-438A-85BE-54201602AA0E}"/>
    <dgm:cxn modelId="{7A510D92-DA00-4E40-BEC5-D20098B279DD}" type="presOf" srcId="{9F2B72B3-1E7D-41DC-AEDD-4664E6383C6D}" destId="{9A094AFD-02DB-46C6-9EE3-7451F1BA1158}" srcOrd="0" destOrd="0" presId="urn:microsoft.com/office/officeart/2005/8/layout/lProcess2"/>
    <dgm:cxn modelId="{3A443A96-46D9-4889-9E7F-617DEED7FD3C}" type="presOf" srcId="{1DF9B5DC-85F9-4C6F-B35F-80077192888C}" destId="{0E084248-7F80-4F2F-81A0-F769EE6D5CB7}" srcOrd="0" destOrd="0" presId="urn:microsoft.com/office/officeart/2005/8/layout/lProcess2"/>
    <dgm:cxn modelId="{DE1C75A2-3C2B-4982-A7F9-E7A90FFD06E4}" type="presOf" srcId="{691A5E6B-8D2F-4602-B45D-A83E1AA43578}" destId="{5A876917-4C52-4C6A-B0C9-C2CAF7B4E526}" srcOrd="1" destOrd="0" presId="urn:microsoft.com/office/officeart/2005/8/layout/lProcess2"/>
    <dgm:cxn modelId="{9B9CFFA5-7108-4A22-8198-3BC24C6488A2}" srcId="{DA76FC1E-B78C-4CA4-8133-08E7A1F96E60}" destId="{8EC2A943-6FDD-4A2C-B0D4-D8A383F3B7F4}" srcOrd="2" destOrd="0" parTransId="{88BA2DCA-10F3-4DDB-AC65-A491CD709B44}" sibTransId="{F55392E9-CC19-4811-B004-24B3F2373548}"/>
    <dgm:cxn modelId="{454469A9-D808-49A9-AFDD-972984C81780}" srcId="{DA76FC1E-B78C-4CA4-8133-08E7A1F96E60}" destId="{5B223889-7D84-4C3E-BD4D-0137BD9D05C1}" srcOrd="4" destOrd="0" parTransId="{E2D34031-FB3B-415C-84D4-CA122B23DD01}" sibTransId="{8FF23177-E583-4237-AB13-84C4AD3F8B85}"/>
    <dgm:cxn modelId="{3FE543AD-8FA0-48FF-AFD9-079FD6BB83F7}" type="presOf" srcId="{3D69F0EC-337B-4EFF-BE73-8EA312AF25D4}" destId="{CCEAA399-1D36-4067-A3CB-534DC8901370}" srcOrd="0" destOrd="0" presId="urn:microsoft.com/office/officeart/2005/8/layout/lProcess2"/>
    <dgm:cxn modelId="{CCC58FB6-76F4-4FA9-BE7F-CB8EFB05BBA5}" type="presOf" srcId="{94C1792A-4109-4246-B266-6B8C61F8FB0B}" destId="{EB986721-69A7-482F-9732-20564A048CEF}" srcOrd="0" destOrd="0" presId="urn:microsoft.com/office/officeart/2005/8/layout/lProcess2"/>
    <dgm:cxn modelId="{0B8D91C7-8E41-4B0D-8F7C-EE92022ED914}" srcId="{048A8715-084C-49AA-B464-71351CE18951}" destId="{13AE3B96-1EE8-4F73-876D-04279CA02463}" srcOrd="0" destOrd="0" parTransId="{B17FBD55-9172-4B82-8CA9-2010CBBAD7CE}" sibTransId="{4C1600F5-EA31-44A7-B378-86CF38781D55}"/>
    <dgm:cxn modelId="{12E6A0DD-B420-49F4-BCE0-6EDD2DFD79F8}" type="presOf" srcId="{691A5E6B-8D2F-4602-B45D-A83E1AA43578}" destId="{569B01F7-F71F-4D6C-9699-947FFD1881D1}" srcOrd="0" destOrd="0" presId="urn:microsoft.com/office/officeart/2005/8/layout/lProcess2"/>
    <dgm:cxn modelId="{910D8BE3-D086-4BC3-855F-1B5A60E2D749}" type="presOf" srcId="{8EC2A943-6FDD-4A2C-B0D4-D8A383F3B7F4}" destId="{1FC8C746-E44C-4F2D-9BD4-3B0770BD9D06}" srcOrd="0" destOrd="0" presId="urn:microsoft.com/office/officeart/2005/8/layout/lProcess2"/>
    <dgm:cxn modelId="{53A7FDF2-0D23-4676-A881-41F9789B60A7}" type="presOf" srcId="{048A8715-084C-49AA-B464-71351CE18951}" destId="{11E7D011-88C6-4E89-99FE-1138E1BC8C34}" srcOrd="0" destOrd="0" presId="urn:microsoft.com/office/officeart/2005/8/layout/lProcess2"/>
    <dgm:cxn modelId="{8A81B0FA-ED0C-45BA-A5AF-4A99523909AC}" type="presOf" srcId="{5B223889-7D84-4C3E-BD4D-0137BD9D05C1}" destId="{4E14A25E-106F-4E6A-BAFA-B912D79D301A}" srcOrd="0" destOrd="0" presId="urn:microsoft.com/office/officeart/2005/8/layout/lProcess2"/>
    <dgm:cxn modelId="{2A3EE7D1-6515-4CC6-9193-C88DE8E62D48}" type="presParOf" srcId="{CCEAA399-1D36-4067-A3CB-534DC8901370}" destId="{C5E20F3A-C63B-448B-8639-CEB58913C2C5}" srcOrd="0" destOrd="0" presId="urn:microsoft.com/office/officeart/2005/8/layout/lProcess2"/>
    <dgm:cxn modelId="{9BB84B1A-8EC4-4300-B6F5-96CE90AABB99}" type="presParOf" srcId="{C5E20F3A-C63B-448B-8639-CEB58913C2C5}" destId="{FF0BE9BA-187F-475C-826B-F7E6E36F4A63}" srcOrd="0" destOrd="0" presId="urn:microsoft.com/office/officeart/2005/8/layout/lProcess2"/>
    <dgm:cxn modelId="{3249F74B-B705-49DF-9106-9006DD660E36}" type="presParOf" srcId="{C5E20F3A-C63B-448B-8639-CEB58913C2C5}" destId="{EEB44976-6D5D-4BE0-BB25-67B9919D4AC6}" srcOrd="1" destOrd="0" presId="urn:microsoft.com/office/officeart/2005/8/layout/lProcess2"/>
    <dgm:cxn modelId="{F466053B-07FB-4F42-90FE-17CA6294AD56}" type="presParOf" srcId="{C5E20F3A-C63B-448B-8639-CEB58913C2C5}" destId="{40F55619-EDAC-4DAA-86F9-B5868BD0E98C}" srcOrd="2" destOrd="0" presId="urn:microsoft.com/office/officeart/2005/8/layout/lProcess2"/>
    <dgm:cxn modelId="{48F5FD5A-AD7B-4EDC-9452-13A0334C8BDD}" type="presParOf" srcId="{40F55619-EDAC-4DAA-86F9-B5868BD0E98C}" destId="{24849419-2707-4A6B-ABD5-A6B1B564A740}" srcOrd="0" destOrd="0" presId="urn:microsoft.com/office/officeart/2005/8/layout/lProcess2"/>
    <dgm:cxn modelId="{E34BAA3C-9E39-40E8-8234-07F20A5926B4}" type="presParOf" srcId="{24849419-2707-4A6B-ABD5-A6B1B564A740}" destId="{9A094AFD-02DB-46C6-9EE3-7451F1BA1158}" srcOrd="0" destOrd="0" presId="urn:microsoft.com/office/officeart/2005/8/layout/lProcess2"/>
    <dgm:cxn modelId="{09908089-087E-4C51-8DA2-35F73FE2B9DA}" type="presParOf" srcId="{24849419-2707-4A6B-ABD5-A6B1B564A740}" destId="{CE6D56FA-7E77-4785-AB46-2D23BC2BE79F}" srcOrd="1" destOrd="0" presId="urn:microsoft.com/office/officeart/2005/8/layout/lProcess2"/>
    <dgm:cxn modelId="{32815482-426B-4FB4-BF47-B4A3E20AC80E}" type="presParOf" srcId="{24849419-2707-4A6B-ABD5-A6B1B564A740}" destId="{AA7EFF1D-4141-4CD6-9B8B-83569781F0C5}" srcOrd="2" destOrd="0" presId="urn:microsoft.com/office/officeart/2005/8/layout/lProcess2"/>
    <dgm:cxn modelId="{97F0E09E-A414-4C73-9911-796DF014E038}" type="presParOf" srcId="{24849419-2707-4A6B-ABD5-A6B1B564A740}" destId="{D9080E50-4A45-4A63-A24D-0E69025BE615}" srcOrd="3" destOrd="0" presId="urn:microsoft.com/office/officeart/2005/8/layout/lProcess2"/>
    <dgm:cxn modelId="{40BACC57-D823-4A8C-A2FE-17E6E3897394}" type="presParOf" srcId="{24849419-2707-4A6B-ABD5-A6B1B564A740}" destId="{1FC8C746-E44C-4F2D-9BD4-3B0770BD9D06}" srcOrd="4" destOrd="0" presId="urn:microsoft.com/office/officeart/2005/8/layout/lProcess2"/>
    <dgm:cxn modelId="{497D578A-B305-4E3A-950E-080DDC13A6A2}" type="presParOf" srcId="{24849419-2707-4A6B-ABD5-A6B1B564A740}" destId="{1735487D-E5D7-4E8A-8879-ADF3479417C2}" srcOrd="5" destOrd="0" presId="urn:microsoft.com/office/officeart/2005/8/layout/lProcess2"/>
    <dgm:cxn modelId="{04C043AE-4439-480F-BAB9-84FE53F99DE5}" type="presParOf" srcId="{24849419-2707-4A6B-ABD5-A6B1B564A740}" destId="{0E084248-7F80-4F2F-81A0-F769EE6D5CB7}" srcOrd="6" destOrd="0" presId="urn:microsoft.com/office/officeart/2005/8/layout/lProcess2"/>
    <dgm:cxn modelId="{4B20C5DB-FDE0-4E31-BD9F-0C17B0A41FC9}" type="presParOf" srcId="{24849419-2707-4A6B-ABD5-A6B1B564A740}" destId="{94BF8CDE-AAB7-4B9A-9716-7C715CD2D2C1}" srcOrd="7" destOrd="0" presId="urn:microsoft.com/office/officeart/2005/8/layout/lProcess2"/>
    <dgm:cxn modelId="{2C9E0527-55A0-489B-8AF9-C66C5E579795}" type="presParOf" srcId="{24849419-2707-4A6B-ABD5-A6B1B564A740}" destId="{4E14A25E-106F-4E6A-BAFA-B912D79D301A}" srcOrd="8" destOrd="0" presId="urn:microsoft.com/office/officeart/2005/8/layout/lProcess2"/>
    <dgm:cxn modelId="{276DDDE0-B9F8-46D7-AF01-CD20D301EEFD}" type="presParOf" srcId="{CCEAA399-1D36-4067-A3CB-534DC8901370}" destId="{58429D36-D5D6-48FD-981B-5AEE95C776B9}" srcOrd="1" destOrd="0" presId="urn:microsoft.com/office/officeart/2005/8/layout/lProcess2"/>
    <dgm:cxn modelId="{F393486B-7EE4-44C6-9D00-E4A13EC03C55}" type="presParOf" srcId="{CCEAA399-1D36-4067-A3CB-534DC8901370}" destId="{25565202-C0D8-4A60-9E19-091C2460A641}" srcOrd="2" destOrd="0" presId="urn:microsoft.com/office/officeart/2005/8/layout/lProcess2"/>
    <dgm:cxn modelId="{15894DC6-3256-4FA9-841D-3D3123AE0729}" type="presParOf" srcId="{25565202-C0D8-4A60-9E19-091C2460A641}" destId="{11E7D011-88C6-4E89-99FE-1138E1BC8C34}" srcOrd="0" destOrd="0" presId="urn:microsoft.com/office/officeart/2005/8/layout/lProcess2"/>
    <dgm:cxn modelId="{D17AF955-0ED2-41F0-B774-947AAAAECA49}" type="presParOf" srcId="{25565202-C0D8-4A60-9E19-091C2460A641}" destId="{20473AD7-6FFC-4883-87A3-25FB5E4A65A7}" srcOrd="1" destOrd="0" presId="urn:microsoft.com/office/officeart/2005/8/layout/lProcess2"/>
    <dgm:cxn modelId="{87C66475-30F3-4686-9DD1-8FB754A8B0BE}" type="presParOf" srcId="{25565202-C0D8-4A60-9E19-091C2460A641}" destId="{3A7FECD4-BF27-4615-A511-5A464943392F}" srcOrd="2" destOrd="0" presId="urn:microsoft.com/office/officeart/2005/8/layout/lProcess2"/>
    <dgm:cxn modelId="{F289E787-5E73-44F0-80EE-CCC472060167}" type="presParOf" srcId="{3A7FECD4-BF27-4615-A511-5A464943392F}" destId="{950184D3-AAAE-4CA1-B94E-F81AA7B8F40A}" srcOrd="0" destOrd="0" presId="urn:microsoft.com/office/officeart/2005/8/layout/lProcess2"/>
    <dgm:cxn modelId="{12CD47FA-ED6F-46E9-943E-B75F81B2A3FE}" type="presParOf" srcId="{950184D3-AAAE-4CA1-B94E-F81AA7B8F40A}" destId="{42028F19-DFA4-4AAD-8F50-E1D7540F0FBF}" srcOrd="0" destOrd="0" presId="urn:microsoft.com/office/officeart/2005/8/layout/lProcess2"/>
    <dgm:cxn modelId="{3F3BDD87-7554-4521-95C3-B60DD589DE8B}" type="presParOf" srcId="{950184D3-AAAE-4CA1-B94E-F81AA7B8F40A}" destId="{D1747E16-E2C1-445E-A9BA-B00C694D7E97}" srcOrd="1" destOrd="0" presId="urn:microsoft.com/office/officeart/2005/8/layout/lProcess2"/>
    <dgm:cxn modelId="{9CF37C64-EBA2-4947-9819-54E7E6F69A1F}" type="presParOf" srcId="{950184D3-AAAE-4CA1-B94E-F81AA7B8F40A}" destId="{023907BA-EAE9-4AC3-AA90-8BE2B975B66B}" srcOrd="2" destOrd="0" presId="urn:microsoft.com/office/officeart/2005/8/layout/lProcess2"/>
    <dgm:cxn modelId="{39F7EDD6-042C-4EA3-A379-E607A99CCB98}" type="presParOf" srcId="{950184D3-AAAE-4CA1-B94E-F81AA7B8F40A}" destId="{C2AADE6B-26EB-4D8F-9FED-232AA50A90BD}" srcOrd="3" destOrd="0" presId="urn:microsoft.com/office/officeart/2005/8/layout/lProcess2"/>
    <dgm:cxn modelId="{B1CCAD92-862D-4C4A-AA17-96C9E441D3CB}" type="presParOf" srcId="{950184D3-AAAE-4CA1-B94E-F81AA7B8F40A}" destId="{EB986721-69A7-482F-9732-20564A048CEF}" srcOrd="4" destOrd="0" presId="urn:microsoft.com/office/officeart/2005/8/layout/lProcess2"/>
    <dgm:cxn modelId="{F9140335-E4A2-49F0-86C9-19A85A18CE8B}" type="presParOf" srcId="{950184D3-AAAE-4CA1-B94E-F81AA7B8F40A}" destId="{C68FA271-A206-4A1A-AF55-2595B8F8ECA5}" srcOrd="5" destOrd="0" presId="urn:microsoft.com/office/officeart/2005/8/layout/lProcess2"/>
    <dgm:cxn modelId="{44E586B5-7F23-488E-9709-EFF1392F2CD7}" type="presParOf" srcId="{950184D3-AAAE-4CA1-B94E-F81AA7B8F40A}" destId="{D9C7A618-ED41-408F-AECE-268667A0F004}" srcOrd="6" destOrd="0" presId="urn:microsoft.com/office/officeart/2005/8/layout/lProcess2"/>
    <dgm:cxn modelId="{DDB7FF78-4F6A-4879-9C66-901ECA79148C}" type="presParOf" srcId="{950184D3-AAAE-4CA1-B94E-F81AA7B8F40A}" destId="{14BC1C6C-F480-4FD5-A811-FC691AE2339D}" srcOrd="7" destOrd="0" presId="urn:microsoft.com/office/officeart/2005/8/layout/lProcess2"/>
    <dgm:cxn modelId="{4D8062E4-7206-4538-B18B-A6913503B203}" type="presParOf" srcId="{950184D3-AAAE-4CA1-B94E-F81AA7B8F40A}" destId="{5D76C18A-F01A-4551-86CB-77D882407250}" srcOrd="8" destOrd="0" presId="urn:microsoft.com/office/officeart/2005/8/layout/lProcess2"/>
    <dgm:cxn modelId="{CE6AFC98-2294-4A8F-AC23-7D936CD89BB7}" type="presParOf" srcId="{CCEAA399-1D36-4067-A3CB-534DC8901370}" destId="{653BDA0E-20B8-486B-BA27-453A0F6A5030}" srcOrd="3" destOrd="0" presId="urn:microsoft.com/office/officeart/2005/8/layout/lProcess2"/>
    <dgm:cxn modelId="{3586FBC9-1EDA-4CB1-8646-CF09C8B10B31}" type="presParOf" srcId="{CCEAA399-1D36-4067-A3CB-534DC8901370}" destId="{ABDDB8F7-3D0E-4704-BECF-08476797C785}" srcOrd="4" destOrd="0" presId="urn:microsoft.com/office/officeart/2005/8/layout/lProcess2"/>
    <dgm:cxn modelId="{9289FB49-6417-44E9-AE5F-855472EF6B2B}" type="presParOf" srcId="{ABDDB8F7-3D0E-4704-BECF-08476797C785}" destId="{569B01F7-F71F-4D6C-9699-947FFD1881D1}" srcOrd="0" destOrd="0" presId="urn:microsoft.com/office/officeart/2005/8/layout/lProcess2"/>
    <dgm:cxn modelId="{6D0435CA-5967-4801-A0FA-9FAC8705145E}" type="presParOf" srcId="{ABDDB8F7-3D0E-4704-BECF-08476797C785}" destId="{5A876917-4C52-4C6A-B0C9-C2CAF7B4E526}" srcOrd="1" destOrd="0" presId="urn:microsoft.com/office/officeart/2005/8/layout/lProcess2"/>
    <dgm:cxn modelId="{9913FF15-C8F5-4792-A832-98D759E22AE5}" type="presParOf" srcId="{ABDDB8F7-3D0E-4704-BECF-08476797C785}" destId="{103EFC57-5539-4979-8747-1A166917288E}" srcOrd="2" destOrd="0" presId="urn:microsoft.com/office/officeart/2005/8/layout/lProcess2"/>
    <dgm:cxn modelId="{406DC0AD-DACF-4740-B853-E9D7CD51CC28}" type="presParOf" srcId="{103EFC57-5539-4979-8747-1A166917288E}" destId="{3F89802A-CA66-42AE-8C7E-FE2E7A25098A}" srcOrd="0" destOrd="0" presId="urn:microsoft.com/office/officeart/2005/8/layout/lProcess2"/>
    <dgm:cxn modelId="{4B7D5CFF-57E3-4D64-8550-4C1EF4611714}" type="presParOf" srcId="{3F89802A-CA66-42AE-8C7E-FE2E7A25098A}" destId="{CFE42088-5D02-4442-A723-A383E84EAC96}" srcOrd="0" destOrd="0" presId="urn:microsoft.com/office/officeart/2005/8/layout/lProcess2"/>
    <dgm:cxn modelId="{9BEA7D94-AFBE-46C7-923B-E99179907D0C}" type="presParOf" srcId="{3F89802A-CA66-42AE-8C7E-FE2E7A25098A}" destId="{1EBDFF14-DE3A-4917-9C45-D2E8D210CAEA}" srcOrd="1" destOrd="0" presId="urn:microsoft.com/office/officeart/2005/8/layout/lProcess2"/>
    <dgm:cxn modelId="{AD0C02F3-16DF-4264-BDF5-780B23E78806}" type="presParOf" srcId="{3F89802A-CA66-42AE-8C7E-FE2E7A25098A}" destId="{FF5FD654-7759-48F6-B865-76ADFAA0604F}" srcOrd="2" destOrd="0" presId="urn:microsoft.com/office/officeart/2005/8/layout/lProcess2"/>
    <dgm:cxn modelId="{A4B7FE02-DFC9-49D8-AC4F-B09017D4707F}" type="presParOf" srcId="{3F89802A-CA66-42AE-8C7E-FE2E7A25098A}" destId="{A567933F-FC29-4DD2-A9C9-9DE11B37C440}" srcOrd="3" destOrd="0" presId="urn:microsoft.com/office/officeart/2005/8/layout/lProcess2"/>
    <dgm:cxn modelId="{14E13065-9E5E-43DD-8461-BC737C8A3721}" type="presParOf" srcId="{3F89802A-CA66-42AE-8C7E-FE2E7A25098A}" destId="{48937407-45E1-4DE0-ACC5-D681E60F0BBD}" srcOrd="4" destOrd="0" presId="urn:microsoft.com/office/officeart/2005/8/layout/lProcess2"/>
    <dgm:cxn modelId="{7E46F9F8-F0A0-40E1-A93E-1C1844664EDB}" type="presParOf" srcId="{3F89802A-CA66-42AE-8C7E-FE2E7A25098A}" destId="{8C443C78-3D0D-46C5-A466-E1E9D62E9A95}" srcOrd="5" destOrd="0" presId="urn:microsoft.com/office/officeart/2005/8/layout/lProcess2"/>
    <dgm:cxn modelId="{1D67E9F1-5BB3-430F-B554-6EF44179E9AD}" type="presParOf" srcId="{3F89802A-CA66-42AE-8C7E-FE2E7A25098A}" destId="{F26F6173-B0F8-466C-9325-A849DD1FE508}" srcOrd="6" destOrd="0" presId="urn:microsoft.com/office/officeart/2005/8/layout/lProcess2"/>
    <dgm:cxn modelId="{86552F75-F73B-48EA-B8DC-0B4D99D2F962}" type="presParOf" srcId="{3F89802A-CA66-42AE-8C7E-FE2E7A25098A}" destId="{812AFEBD-900C-4951-8A08-F6D96BC44F08}" srcOrd="7" destOrd="0" presId="urn:microsoft.com/office/officeart/2005/8/layout/lProcess2"/>
    <dgm:cxn modelId="{0F61D803-5DC3-4B2A-AE5B-CF0BCAE6B061}" type="presParOf" srcId="{3F89802A-CA66-42AE-8C7E-FE2E7A25098A}" destId="{2F8C6D33-2B3C-4437-85EB-5F3C44F67FF2}" srcOrd="8"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32D577-C01C-49A8-8CFF-FC346EC8568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6233465-F333-4830-943B-CA19CB7C74CC}">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Blood Tests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Hemoglobin, cholesterol, malaria, and rapid test kits.</a:t>
          </a:r>
        </a:p>
      </dgm:t>
    </dgm:pt>
    <dgm:pt modelId="{52003479-7117-44EB-B55A-01EFB0307C89}" type="parTrans" cxnId="{50643BAF-FB3D-44DD-A70F-0C0B4D7B335B}">
      <dgm:prSet/>
      <dgm:spPr/>
      <dgm:t>
        <a:bodyPr/>
        <a:lstStyle/>
        <a:p>
          <a:endParaRPr lang="en-US"/>
        </a:p>
      </dgm:t>
    </dgm:pt>
    <dgm:pt modelId="{F5F1F01C-F928-4462-B210-22164D01714F}" type="sibTrans" cxnId="{50643BAF-FB3D-44DD-A70F-0C0B4D7B335B}">
      <dgm:prSet/>
      <dgm:spPr/>
      <dgm:t>
        <a:bodyPr/>
        <a:lstStyle/>
        <a:p>
          <a:endParaRPr lang="en-US"/>
        </a:p>
      </dgm:t>
    </dgm:pt>
    <dgm:pt modelId="{9752865E-DA87-4CE7-B577-BD15BD681238}">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Glucose Monitoring</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Affordable, at-home diabetes management.</a:t>
          </a:r>
        </a:p>
      </dgm:t>
    </dgm:pt>
    <dgm:pt modelId="{102262E9-62F1-48A1-B118-E5C5D83EEC6F}" type="parTrans" cxnId="{94CAC814-0B37-421E-8634-3CD26D6793FE}">
      <dgm:prSet/>
      <dgm:spPr/>
      <dgm:t>
        <a:bodyPr/>
        <a:lstStyle/>
        <a:p>
          <a:endParaRPr lang="en-US"/>
        </a:p>
      </dgm:t>
    </dgm:pt>
    <dgm:pt modelId="{E7DF549B-808C-4830-8545-FECB8F1A6C86}" type="sibTrans" cxnId="{94CAC814-0B37-421E-8634-3CD26D6793FE}">
      <dgm:prSet/>
      <dgm:spPr/>
      <dgm:t>
        <a:bodyPr/>
        <a:lstStyle/>
        <a:p>
          <a:endParaRPr lang="en-US"/>
        </a:p>
      </dgm:t>
    </dgm:pt>
    <dgm:pt modelId="{03FE1EF2-6A54-4AE5-A428-D4914355E1A0}">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Pregnancy &amp; Fertility Tests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sz="1800" dirty="0" err="1">
              <a:solidFill>
                <a:schemeClr val="tx1"/>
              </a:solidFill>
              <a:latin typeface="Calibri" panose="020F0502020204030204" pitchFamily="34" charset="0"/>
              <a:ea typeface="Calibri" panose="020F0502020204030204" pitchFamily="34" charset="0"/>
              <a:cs typeface="Calibri" panose="020F0502020204030204" pitchFamily="34" charset="0"/>
            </a:rPr>
            <a:t>hCG</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ovulation strips.</a:t>
          </a:r>
        </a:p>
      </dgm:t>
    </dgm:pt>
    <dgm:pt modelId="{962F8429-7B02-416F-A1AE-B10EAD0C6D0C}" type="parTrans" cxnId="{703C4CA9-4922-49C0-903E-1DBDA8E4062A}">
      <dgm:prSet/>
      <dgm:spPr/>
      <dgm:t>
        <a:bodyPr/>
        <a:lstStyle/>
        <a:p>
          <a:endParaRPr lang="en-US"/>
        </a:p>
      </dgm:t>
    </dgm:pt>
    <dgm:pt modelId="{5A32A27A-4A20-4177-82E5-43B8CD346DD9}" type="sibTrans" cxnId="{703C4CA9-4922-49C0-903E-1DBDA8E4062A}">
      <dgm:prSet/>
      <dgm:spPr/>
      <dgm:t>
        <a:bodyPr/>
        <a:lstStyle/>
        <a:p>
          <a:endParaRPr lang="en-US"/>
        </a:p>
      </dgm:t>
    </dgm:pt>
    <dgm:pt modelId="{F037054F-8C00-47E2-B6DB-643C9A5AC961}">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Infectious Disease Strips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Malaria, dengue, COVID-19 antigen/antibody kits.</a:t>
          </a:r>
        </a:p>
      </dgm:t>
    </dgm:pt>
    <dgm:pt modelId="{6DD12FAA-0C45-41A9-97FF-49DAA22A72A3}" type="parTrans" cxnId="{A472805A-7795-4724-8738-2E8737176C40}">
      <dgm:prSet/>
      <dgm:spPr/>
      <dgm:t>
        <a:bodyPr/>
        <a:lstStyle/>
        <a:p>
          <a:endParaRPr lang="en-US"/>
        </a:p>
      </dgm:t>
    </dgm:pt>
    <dgm:pt modelId="{2961B3D1-51A4-490F-8CA3-E15FA7DFFFAA}" type="sibTrans" cxnId="{A472805A-7795-4724-8738-2E8737176C40}">
      <dgm:prSet/>
      <dgm:spPr/>
      <dgm:t>
        <a:bodyPr/>
        <a:lstStyle/>
        <a:p>
          <a:endParaRPr lang="en-US"/>
        </a:p>
      </dgm:t>
    </dgm:pt>
    <dgm:pt modelId="{38A08805-47E5-46DD-BDBB-318AABDE814E}">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Veterinary Diagnostics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Affordable tests for livestock and pets.</a:t>
          </a:r>
        </a:p>
      </dgm:t>
    </dgm:pt>
    <dgm:pt modelId="{826DEE8A-7180-49E2-9E3A-1DF59A00CE6C}" type="parTrans" cxnId="{3A35708C-0A9E-45D6-BC2F-FBBF27447727}">
      <dgm:prSet/>
      <dgm:spPr/>
      <dgm:t>
        <a:bodyPr/>
        <a:lstStyle/>
        <a:p>
          <a:endParaRPr lang="en-US"/>
        </a:p>
      </dgm:t>
    </dgm:pt>
    <dgm:pt modelId="{B00D5B89-A077-40EE-A955-D312440CE46A}" type="sibTrans" cxnId="{3A35708C-0A9E-45D6-BC2F-FBBF27447727}">
      <dgm:prSet/>
      <dgm:spPr/>
      <dgm:t>
        <a:bodyPr/>
        <a:lstStyle/>
        <a:p>
          <a:endParaRPr lang="en-US"/>
        </a:p>
      </dgm:t>
    </dgm:pt>
    <dgm:pt modelId="{800460B9-4119-4671-8E51-7979BFDFED25}">
      <dgm:prSet custT="1"/>
      <dgm:spPr>
        <a:solidFill>
          <a:schemeClr val="accent3">
            <a:lumMod val="40000"/>
            <a:lumOff val="60000"/>
          </a:schemeClr>
        </a:solidFill>
      </dgm:spPr>
      <dgm:t>
        <a:bodyPr/>
        <a:lstStyle/>
        <a:p>
          <a:r>
            <a:rPr lang="en-US" sz="1800" b="1" dirty="0">
              <a:solidFill>
                <a:schemeClr val="tx1"/>
              </a:solidFill>
              <a:latin typeface="Calibri" panose="020F0502020204030204" pitchFamily="34" charset="0"/>
              <a:ea typeface="Calibri" panose="020F0502020204030204" pitchFamily="34" charset="0"/>
              <a:cs typeface="Calibri" panose="020F0502020204030204" pitchFamily="34" charset="0"/>
            </a:rPr>
            <a:t>Other Colorimetric Strips</a:t>
          </a:r>
          <a:r>
            <a:rPr lang="en-US" sz="1800" dirty="0">
              <a:solidFill>
                <a:schemeClr val="tx1"/>
              </a:solidFill>
              <a:latin typeface="Calibri" panose="020F0502020204030204" pitchFamily="34" charset="0"/>
              <a:ea typeface="Calibri" panose="020F0502020204030204" pitchFamily="34" charset="0"/>
              <a:cs typeface="Calibri" panose="020F0502020204030204" pitchFamily="34" charset="0"/>
            </a:rPr>
            <a:t> → Adaptable to any standard generic test strip variant across human health diagnostics licensed under CDSCO.</a:t>
          </a:r>
        </a:p>
      </dgm:t>
    </dgm:pt>
    <dgm:pt modelId="{B8BE5206-F306-4181-97D5-81AD569876B3}" type="parTrans" cxnId="{685A19D4-DF89-4A61-83B3-20C244467B7A}">
      <dgm:prSet/>
      <dgm:spPr/>
      <dgm:t>
        <a:bodyPr/>
        <a:lstStyle/>
        <a:p>
          <a:endParaRPr lang="en-US"/>
        </a:p>
      </dgm:t>
    </dgm:pt>
    <dgm:pt modelId="{228AD07E-0150-4BED-B12E-2F90CED5802F}" type="sibTrans" cxnId="{685A19D4-DF89-4A61-83B3-20C244467B7A}">
      <dgm:prSet/>
      <dgm:spPr/>
      <dgm:t>
        <a:bodyPr/>
        <a:lstStyle/>
        <a:p>
          <a:endParaRPr lang="en-US"/>
        </a:p>
      </dgm:t>
    </dgm:pt>
    <dgm:pt modelId="{685A7A7D-AA46-4EE8-93CA-FECED8D00B14}" type="pres">
      <dgm:prSet presAssocID="{9432D577-C01C-49A8-8CFF-FC346EC85683}" presName="linear" presStyleCnt="0">
        <dgm:presLayoutVars>
          <dgm:animLvl val="lvl"/>
          <dgm:resizeHandles val="exact"/>
        </dgm:presLayoutVars>
      </dgm:prSet>
      <dgm:spPr/>
    </dgm:pt>
    <dgm:pt modelId="{DAF3D4FB-A1BB-4095-8D36-71DDCD034F8A}" type="pres">
      <dgm:prSet presAssocID="{F6233465-F333-4830-943B-CA19CB7C74CC}" presName="parentText" presStyleLbl="node1" presStyleIdx="0" presStyleCnt="6">
        <dgm:presLayoutVars>
          <dgm:chMax val="0"/>
          <dgm:bulletEnabled val="1"/>
        </dgm:presLayoutVars>
      </dgm:prSet>
      <dgm:spPr/>
    </dgm:pt>
    <dgm:pt modelId="{14F80A17-8799-4B94-BB81-DE07B5D0B877}" type="pres">
      <dgm:prSet presAssocID="{F5F1F01C-F928-4462-B210-22164D01714F}" presName="spacer" presStyleCnt="0"/>
      <dgm:spPr/>
    </dgm:pt>
    <dgm:pt modelId="{24B45B36-5FBB-487A-BABB-587EC36845B7}" type="pres">
      <dgm:prSet presAssocID="{9752865E-DA87-4CE7-B577-BD15BD681238}" presName="parentText" presStyleLbl="node1" presStyleIdx="1" presStyleCnt="6">
        <dgm:presLayoutVars>
          <dgm:chMax val="0"/>
          <dgm:bulletEnabled val="1"/>
        </dgm:presLayoutVars>
      </dgm:prSet>
      <dgm:spPr/>
    </dgm:pt>
    <dgm:pt modelId="{8E4B3A16-5E3C-4148-96A5-7C0B556A1AF1}" type="pres">
      <dgm:prSet presAssocID="{E7DF549B-808C-4830-8545-FECB8F1A6C86}" presName="spacer" presStyleCnt="0"/>
      <dgm:spPr/>
    </dgm:pt>
    <dgm:pt modelId="{E0BF5500-497C-4909-90E0-A771F99C711F}" type="pres">
      <dgm:prSet presAssocID="{03FE1EF2-6A54-4AE5-A428-D4914355E1A0}" presName="parentText" presStyleLbl="node1" presStyleIdx="2" presStyleCnt="6">
        <dgm:presLayoutVars>
          <dgm:chMax val="0"/>
          <dgm:bulletEnabled val="1"/>
        </dgm:presLayoutVars>
      </dgm:prSet>
      <dgm:spPr/>
    </dgm:pt>
    <dgm:pt modelId="{2E78A01E-EF38-4917-8636-5D53BDC6B874}" type="pres">
      <dgm:prSet presAssocID="{5A32A27A-4A20-4177-82E5-43B8CD346DD9}" presName="spacer" presStyleCnt="0"/>
      <dgm:spPr/>
    </dgm:pt>
    <dgm:pt modelId="{438C0FC8-5A47-4A67-AED0-1920D58120A2}" type="pres">
      <dgm:prSet presAssocID="{F037054F-8C00-47E2-B6DB-643C9A5AC961}" presName="parentText" presStyleLbl="node1" presStyleIdx="3" presStyleCnt="6">
        <dgm:presLayoutVars>
          <dgm:chMax val="0"/>
          <dgm:bulletEnabled val="1"/>
        </dgm:presLayoutVars>
      </dgm:prSet>
      <dgm:spPr/>
    </dgm:pt>
    <dgm:pt modelId="{E1978850-BE66-4A3F-A00E-2855465160DA}" type="pres">
      <dgm:prSet presAssocID="{2961B3D1-51A4-490F-8CA3-E15FA7DFFFAA}" presName="spacer" presStyleCnt="0"/>
      <dgm:spPr/>
    </dgm:pt>
    <dgm:pt modelId="{D7473D68-EE5C-4927-941B-BDDAF9AC275F}" type="pres">
      <dgm:prSet presAssocID="{38A08805-47E5-46DD-BDBB-318AABDE814E}" presName="parentText" presStyleLbl="node1" presStyleIdx="4" presStyleCnt="6">
        <dgm:presLayoutVars>
          <dgm:chMax val="0"/>
          <dgm:bulletEnabled val="1"/>
        </dgm:presLayoutVars>
      </dgm:prSet>
      <dgm:spPr/>
    </dgm:pt>
    <dgm:pt modelId="{B3150AE8-DF47-47F0-B4EF-662C0AEEAA03}" type="pres">
      <dgm:prSet presAssocID="{B00D5B89-A077-40EE-A955-D312440CE46A}" presName="spacer" presStyleCnt="0"/>
      <dgm:spPr/>
    </dgm:pt>
    <dgm:pt modelId="{D948EDCD-243F-45EA-A59B-B1CC8AB7C7C2}" type="pres">
      <dgm:prSet presAssocID="{800460B9-4119-4671-8E51-7979BFDFED25}" presName="parentText" presStyleLbl="node1" presStyleIdx="5" presStyleCnt="6">
        <dgm:presLayoutVars>
          <dgm:chMax val="0"/>
          <dgm:bulletEnabled val="1"/>
        </dgm:presLayoutVars>
      </dgm:prSet>
      <dgm:spPr/>
    </dgm:pt>
  </dgm:ptLst>
  <dgm:cxnLst>
    <dgm:cxn modelId="{94CAC814-0B37-421E-8634-3CD26D6793FE}" srcId="{9432D577-C01C-49A8-8CFF-FC346EC85683}" destId="{9752865E-DA87-4CE7-B577-BD15BD681238}" srcOrd="1" destOrd="0" parTransId="{102262E9-62F1-48A1-B118-E5C5D83EEC6F}" sibTransId="{E7DF549B-808C-4830-8545-FECB8F1A6C86}"/>
    <dgm:cxn modelId="{B626C019-A5CB-48EE-9F73-FAAE31202C12}" type="presOf" srcId="{F037054F-8C00-47E2-B6DB-643C9A5AC961}" destId="{438C0FC8-5A47-4A67-AED0-1920D58120A2}" srcOrd="0" destOrd="0" presId="urn:microsoft.com/office/officeart/2005/8/layout/vList2"/>
    <dgm:cxn modelId="{7716471B-576C-476F-98E4-D21FDB4AC766}" type="presOf" srcId="{03FE1EF2-6A54-4AE5-A428-D4914355E1A0}" destId="{E0BF5500-497C-4909-90E0-A771F99C711F}" srcOrd="0" destOrd="0" presId="urn:microsoft.com/office/officeart/2005/8/layout/vList2"/>
    <dgm:cxn modelId="{6B921740-A879-4D29-ACD6-2FAE7E7E74B6}" type="presOf" srcId="{38A08805-47E5-46DD-BDBB-318AABDE814E}" destId="{D7473D68-EE5C-4927-941B-BDDAF9AC275F}" srcOrd="0" destOrd="0" presId="urn:microsoft.com/office/officeart/2005/8/layout/vList2"/>
    <dgm:cxn modelId="{6C21B65E-C724-4D73-BBDF-5E367140881B}" type="presOf" srcId="{9752865E-DA87-4CE7-B577-BD15BD681238}" destId="{24B45B36-5FBB-487A-BABB-587EC36845B7}" srcOrd="0" destOrd="0" presId="urn:microsoft.com/office/officeart/2005/8/layout/vList2"/>
    <dgm:cxn modelId="{21E01460-61F7-4B8A-940B-55F219222744}" type="presOf" srcId="{F6233465-F333-4830-943B-CA19CB7C74CC}" destId="{DAF3D4FB-A1BB-4095-8D36-71DDCD034F8A}" srcOrd="0" destOrd="0" presId="urn:microsoft.com/office/officeart/2005/8/layout/vList2"/>
    <dgm:cxn modelId="{E341A54D-D9AF-4F18-9CEA-99FFD867BF39}" type="presOf" srcId="{800460B9-4119-4671-8E51-7979BFDFED25}" destId="{D948EDCD-243F-45EA-A59B-B1CC8AB7C7C2}" srcOrd="0" destOrd="0" presId="urn:microsoft.com/office/officeart/2005/8/layout/vList2"/>
    <dgm:cxn modelId="{A472805A-7795-4724-8738-2E8737176C40}" srcId="{9432D577-C01C-49A8-8CFF-FC346EC85683}" destId="{F037054F-8C00-47E2-B6DB-643C9A5AC961}" srcOrd="3" destOrd="0" parTransId="{6DD12FAA-0C45-41A9-97FF-49DAA22A72A3}" sibTransId="{2961B3D1-51A4-490F-8CA3-E15FA7DFFFAA}"/>
    <dgm:cxn modelId="{3A35708C-0A9E-45D6-BC2F-FBBF27447727}" srcId="{9432D577-C01C-49A8-8CFF-FC346EC85683}" destId="{38A08805-47E5-46DD-BDBB-318AABDE814E}" srcOrd="4" destOrd="0" parTransId="{826DEE8A-7180-49E2-9E3A-1DF59A00CE6C}" sibTransId="{B00D5B89-A077-40EE-A955-D312440CE46A}"/>
    <dgm:cxn modelId="{703C4CA9-4922-49C0-903E-1DBDA8E4062A}" srcId="{9432D577-C01C-49A8-8CFF-FC346EC85683}" destId="{03FE1EF2-6A54-4AE5-A428-D4914355E1A0}" srcOrd="2" destOrd="0" parTransId="{962F8429-7B02-416F-A1AE-B10EAD0C6D0C}" sibTransId="{5A32A27A-4A20-4177-82E5-43B8CD346DD9}"/>
    <dgm:cxn modelId="{50643BAF-FB3D-44DD-A70F-0C0B4D7B335B}" srcId="{9432D577-C01C-49A8-8CFF-FC346EC85683}" destId="{F6233465-F333-4830-943B-CA19CB7C74CC}" srcOrd="0" destOrd="0" parTransId="{52003479-7117-44EB-B55A-01EFB0307C89}" sibTransId="{F5F1F01C-F928-4462-B210-22164D01714F}"/>
    <dgm:cxn modelId="{84FE58BB-7424-442F-8B70-51B82DDF6AB9}" type="presOf" srcId="{9432D577-C01C-49A8-8CFF-FC346EC85683}" destId="{685A7A7D-AA46-4EE8-93CA-FECED8D00B14}" srcOrd="0" destOrd="0" presId="urn:microsoft.com/office/officeart/2005/8/layout/vList2"/>
    <dgm:cxn modelId="{685A19D4-DF89-4A61-83B3-20C244467B7A}" srcId="{9432D577-C01C-49A8-8CFF-FC346EC85683}" destId="{800460B9-4119-4671-8E51-7979BFDFED25}" srcOrd="5" destOrd="0" parTransId="{B8BE5206-F306-4181-97D5-81AD569876B3}" sibTransId="{228AD07E-0150-4BED-B12E-2F90CED5802F}"/>
    <dgm:cxn modelId="{09922CCD-1CBA-4D7A-A717-5D9A92707AAD}" type="presParOf" srcId="{685A7A7D-AA46-4EE8-93CA-FECED8D00B14}" destId="{DAF3D4FB-A1BB-4095-8D36-71DDCD034F8A}" srcOrd="0" destOrd="0" presId="urn:microsoft.com/office/officeart/2005/8/layout/vList2"/>
    <dgm:cxn modelId="{F7EF9CF4-CD0C-405F-9CA8-32EF0486CA62}" type="presParOf" srcId="{685A7A7D-AA46-4EE8-93CA-FECED8D00B14}" destId="{14F80A17-8799-4B94-BB81-DE07B5D0B877}" srcOrd="1" destOrd="0" presId="urn:microsoft.com/office/officeart/2005/8/layout/vList2"/>
    <dgm:cxn modelId="{ECB430F9-BBBA-406A-B1B4-4B1264207392}" type="presParOf" srcId="{685A7A7D-AA46-4EE8-93CA-FECED8D00B14}" destId="{24B45B36-5FBB-487A-BABB-587EC36845B7}" srcOrd="2" destOrd="0" presId="urn:microsoft.com/office/officeart/2005/8/layout/vList2"/>
    <dgm:cxn modelId="{AB4D64FF-1BCF-48AB-9735-02DC343E3F7C}" type="presParOf" srcId="{685A7A7D-AA46-4EE8-93CA-FECED8D00B14}" destId="{8E4B3A16-5E3C-4148-96A5-7C0B556A1AF1}" srcOrd="3" destOrd="0" presId="urn:microsoft.com/office/officeart/2005/8/layout/vList2"/>
    <dgm:cxn modelId="{5491BEC6-ABC8-4FCF-9941-BF75974B8A02}" type="presParOf" srcId="{685A7A7D-AA46-4EE8-93CA-FECED8D00B14}" destId="{E0BF5500-497C-4909-90E0-A771F99C711F}" srcOrd="4" destOrd="0" presId="urn:microsoft.com/office/officeart/2005/8/layout/vList2"/>
    <dgm:cxn modelId="{662AFB04-2E7F-4D40-A973-85259D02DE4B}" type="presParOf" srcId="{685A7A7D-AA46-4EE8-93CA-FECED8D00B14}" destId="{2E78A01E-EF38-4917-8636-5D53BDC6B874}" srcOrd="5" destOrd="0" presId="urn:microsoft.com/office/officeart/2005/8/layout/vList2"/>
    <dgm:cxn modelId="{43205832-E262-42B0-AEC3-A2C67C2A1641}" type="presParOf" srcId="{685A7A7D-AA46-4EE8-93CA-FECED8D00B14}" destId="{438C0FC8-5A47-4A67-AED0-1920D58120A2}" srcOrd="6" destOrd="0" presId="urn:microsoft.com/office/officeart/2005/8/layout/vList2"/>
    <dgm:cxn modelId="{3265E90E-21B4-4BB2-BFE4-C3A0843ACA3B}" type="presParOf" srcId="{685A7A7D-AA46-4EE8-93CA-FECED8D00B14}" destId="{E1978850-BE66-4A3F-A00E-2855465160DA}" srcOrd="7" destOrd="0" presId="urn:microsoft.com/office/officeart/2005/8/layout/vList2"/>
    <dgm:cxn modelId="{6AD4D369-C1B0-4637-9ACB-0723016B3F73}" type="presParOf" srcId="{685A7A7D-AA46-4EE8-93CA-FECED8D00B14}" destId="{D7473D68-EE5C-4927-941B-BDDAF9AC275F}" srcOrd="8" destOrd="0" presId="urn:microsoft.com/office/officeart/2005/8/layout/vList2"/>
    <dgm:cxn modelId="{3927DB47-ADD8-40F1-9C04-0F6F9CA838C8}" type="presParOf" srcId="{685A7A7D-AA46-4EE8-93CA-FECED8D00B14}" destId="{B3150AE8-DF47-47F0-B4EF-662C0AEEAA03}" srcOrd="9" destOrd="0" presId="urn:microsoft.com/office/officeart/2005/8/layout/vList2"/>
    <dgm:cxn modelId="{7A7D6D23-860B-4F8B-BC92-DCE96F599110}" type="presParOf" srcId="{685A7A7D-AA46-4EE8-93CA-FECED8D00B14}" destId="{D948EDCD-243F-45EA-A59B-B1CC8AB7C7C2}"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0BE9BA-187F-475C-826B-F7E6E36F4A63}">
      <dsp:nvSpPr>
        <dsp:cNvPr id="0" name=""/>
        <dsp:cNvSpPr/>
      </dsp:nvSpPr>
      <dsp:spPr>
        <a:xfrm>
          <a:off x="0" y="0"/>
          <a:ext cx="3117810" cy="4073156"/>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baseline="0" dirty="0"/>
            <a:t>1 vs. Imported </a:t>
          </a:r>
          <a:r>
            <a:rPr lang="en-IN" sz="1800" b="1" i="0" kern="1200" baseline="0" dirty="0" err="1"/>
            <a:t>Analyzers</a:t>
          </a:r>
          <a:endParaRPr lang="en-US" sz="1800" kern="1200" dirty="0"/>
        </a:p>
      </dsp:txBody>
      <dsp:txXfrm>
        <a:off x="0" y="0"/>
        <a:ext cx="3117810" cy="1221946"/>
      </dsp:txXfrm>
    </dsp:sp>
    <dsp:sp modelId="{9A094AFD-02DB-46C6-9EE3-7451F1BA1158}">
      <dsp:nvSpPr>
        <dsp:cNvPr id="0" name=""/>
        <dsp:cNvSpPr/>
      </dsp:nvSpPr>
      <dsp:spPr>
        <a:xfrm>
          <a:off x="312980" y="1222717"/>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 90% lower cost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326781" y="1236518"/>
        <a:ext cx="2466646" cy="443605"/>
      </dsp:txXfrm>
    </dsp:sp>
    <dsp:sp modelId="{AA7EFF1D-4141-4CD6-9B8B-83569781F0C5}">
      <dsp:nvSpPr>
        <dsp:cNvPr id="0" name=""/>
        <dsp:cNvSpPr/>
      </dsp:nvSpPr>
      <dsp:spPr>
        <a:xfrm>
          <a:off x="312980" y="17664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 Universal strip compatibility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326781" y="1780219"/>
        <a:ext cx="2466646" cy="443605"/>
      </dsp:txXfrm>
    </dsp:sp>
    <dsp:sp modelId="{1FC8C746-E44C-4F2D-9BD4-3B0770BD9D06}">
      <dsp:nvSpPr>
        <dsp:cNvPr id="0" name=""/>
        <dsp:cNvSpPr/>
      </dsp:nvSpPr>
      <dsp:spPr>
        <a:xfrm>
          <a:off x="312980" y="23101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 Portable &amp; field-deployable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326781" y="2323919"/>
        <a:ext cx="2466646" cy="443605"/>
      </dsp:txXfrm>
    </dsp:sp>
    <dsp:sp modelId="{0E084248-7F80-4F2F-81A0-F769EE6D5CB7}">
      <dsp:nvSpPr>
        <dsp:cNvPr id="0" name=""/>
        <dsp:cNvSpPr/>
      </dsp:nvSpPr>
      <dsp:spPr>
        <a:xfrm>
          <a:off x="312980" y="2853819"/>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 No electricity requirement </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326781" y="2867620"/>
        <a:ext cx="2466646" cy="443605"/>
      </dsp:txXfrm>
    </dsp:sp>
    <dsp:sp modelId="{4E14A25E-106F-4E6A-BAFA-B912D79D301A}">
      <dsp:nvSpPr>
        <dsp:cNvPr id="0" name=""/>
        <dsp:cNvSpPr/>
      </dsp:nvSpPr>
      <dsp:spPr>
        <a:xfrm>
          <a:off x="312980" y="3397520"/>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 Indigenous manufacturing</a:t>
          </a:r>
          <a:endParaRPr lang="en-US" sz="1600" kern="1200" dirty="0">
            <a:latin typeface="Calibri" panose="020F0502020204030204" pitchFamily="34" charset="0"/>
            <a:ea typeface="Calibri" panose="020F0502020204030204" pitchFamily="34" charset="0"/>
            <a:cs typeface="Calibri" panose="020F0502020204030204" pitchFamily="34" charset="0"/>
          </a:endParaRPr>
        </a:p>
      </dsp:txBody>
      <dsp:txXfrm>
        <a:off x="326781" y="3411321"/>
        <a:ext cx="2466646" cy="443605"/>
      </dsp:txXfrm>
    </dsp:sp>
    <dsp:sp modelId="{11E7D011-88C6-4E89-99FE-1138E1BC8C34}">
      <dsp:nvSpPr>
        <dsp:cNvPr id="0" name=""/>
        <dsp:cNvSpPr/>
      </dsp:nvSpPr>
      <dsp:spPr>
        <a:xfrm>
          <a:off x="3352844" y="0"/>
          <a:ext cx="3117810" cy="4073156"/>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baseline="0" dirty="0"/>
            <a:t>2 vs. Manual Reading</a:t>
          </a:r>
          <a:endParaRPr lang="en-US" sz="1800" kern="1200" dirty="0"/>
        </a:p>
      </dsp:txBody>
      <dsp:txXfrm>
        <a:off x="3352844" y="0"/>
        <a:ext cx="3117810" cy="1221946"/>
      </dsp:txXfrm>
    </dsp:sp>
    <dsp:sp modelId="{42028F19-DFA4-4AAD-8F50-E1D7540F0FBF}">
      <dsp:nvSpPr>
        <dsp:cNvPr id="0" name=""/>
        <dsp:cNvSpPr/>
      </dsp:nvSpPr>
      <dsp:spPr>
        <a:xfrm>
          <a:off x="3664625" y="1222717"/>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Eliminates human error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3678426" y="1236518"/>
        <a:ext cx="2466646" cy="443605"/>
      </dsp:txXfrm>
    </dsp:sp>
    <dsp:sp modelId="{023907BA-EAE9-4AC3-AA90-8BE2B975B66B}">
      <dsp:nvSpPr>
        <dsp:cNvPr id="0" name=""/>
        <dsp:cNvSpPr/>
      </dsp:nvSpPr>
      <dsp:spPr>
        <a:xfrm>
          <a:off x="3664625" y="17664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Standardized results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3678426" y="1780219"/>
        <a:ext cx="2466646" cy="443605"/>
      </dsp:txXfrm>
    </dsp:sp>
    <dsp:sp modelId="{EB986721-69A7-482F-9732-20564A048CEF}">
      <dsp:nvSpPr>
        <dsp:cNvPr id="0" name=""/>
        <dsp:cNvSpPr/>
      </dsp:nvSpPr>
      <dsp:spPr>
        <a:xfrm>
          <a:off x="3664625" y="23101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Digital records &amp; traceability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3678426" y="2323919"/>
        <a:ext cx="2466646" cy="443605"/>
      </dsp:txXfrm>
    </dsp:sp>
    <dsp:sp modelId="{D9C7A618-ED41-408F-AECE-268667A0F004}">
      <dsp:nvSpPr>
        <dsp:cNvPr id="0" name=""/>
        <dsp:cNvSpPr/>
      </dsp:nvSpPr>
      <dsp:spPr>
        <a:xfrm>
          <a:off x="3664625" y="2853819"/>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No expertise required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3678426" y="2867620"/>
        <a:ext cx="2466646" cy="443605"/>
      </dsp:txXfrm>
    </dsp:sp>
    <dsp:sp modelId="{5D76C18A-F01A-4551-86CB-77D882407250}">
      <dsp:nvSpPr>
        <dsp:cNvPr id="0" name=""/>
        <dsp:cNvSpPr/>
      </dsp:nvSpPr>
      <dsp:spPr>
        <a:xfrm>
          <a:off x="3664625" y="3397520"/>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Faster turnaround</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3678426" y="3411321"/>
        <a:ext cx="2466646" cy="443605"/>
      </dsp:txXfrm>
    </dsp:sp>
    <dsp:sp modelId="{569B01F7-F71F-4D6C-9699-947FFD1881D1}">
      <dsp:nvSpPr>
        <dsp:cNvPr id="0" name=""/>
        <dsp:cNvSpPr/>
      </dsp:nvSpPr>
      <dsp:spPr>
        <a:xfrm>
          <a:off x="6704490" y="0"/>
          <a:ext cx="3117810" cy="4073156"/>
        </a:xfrm>
        <a:prstGeom prst="roundRect">
          <a:avLst>
            <a:gd name="adj" fmla="val 10000"/>
          </a:avLst>
        </a:prstGeom>
        <a:solidFill>
          <a:schemeClr val="dk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baseline="0"/>
            <a:t>3 vs. Lab-Based Testing</a:t>
          </a:r>
          <a:endParaRPr lang="en-US" sz="1800" kern="1200" dirty="0"/>
        </a:p>
      </dsp:txBody>
      <dsp:txXfrm>
        <a:off x="6704490" y="0"/>
        <a:ext cx="3117810" cy="1221946"/>
      </dsp:txXfrm>
    </dsp:sp>
    <dsp:sp modelId="{CFE42088-5D02-4442-A723-A383E84EAC96}">
      <dsp:nvSpPr>
        <dsp:cNvPr id="0" name=""/>
        <dsp:cNvSpPr/>
      </dsp:nvSpPr>
      <dsp:spPr>
        <a:xfrm>
          <a:off x="7016271" y="1222717"/>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Point-of-care results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7030072" y="1236518"/>
        <a:ext cx="2466646" cy="443605"/>
      </dsp:txXfrm>
    </dsp:sp>
    <dsp:sp modelId="{FF5FD654-7759-48F6-B865-76ADFAA0604F}">
      <dsp:nvSpPr>
        <dsp:cNvPr id="0" name=""/>
        <dsp:cNvSpPr/>
      </dsp:nvSpPr>
      <dsp:spPr>
        <a:xfrm>
          <a:off x="7016271" y="17664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dirty="0">
              <a:latin typeface="Calibri" panose="020F0502020204030204" pitchFamily="34" charset="0"/>
              <a:ea typeface="Calibri" panose="020F0502020204030204" pitchFamily="34" charset="0"/>
              <a:cs typeface="Calibri" panose="020F0502020204030204" pitchFamily="34" charset="0"/>
            </a:rPr>
            <a:t>10x lower cost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7030072" y="1780219"/>
        <a:ext cx="2466646" cy="443605"/>
      </dsp:txXfrm>
    </dsp:sp>
    <dsp:sp modelId="{48937407-45E1-4DE0-ACC5-D681E60F0BBD}">
      <dsp:nvSpPr>
        <dsp:cNvPr id="0" name=""/>
        <dsp:cNvSpPr/>
      </dsp:nvSpPr>
      <dsp:spPr>
        <a:xfrm>
          <a:off x="7016271" y="2310118"/>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No sample transport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7030072" y="2323919"/>
        <a:ext cx="2466646" cy="443605"/>
      </dsp:txXfrm>
    </dsp:sp>
    <dsp:sp modelId="{F26F6173-B0F8-466C-9325-A849DD1FE508}">
      <dsp:nvSpPr>
        <dsp:cNvPr id="0" name=""/>
        <dsp:cNvSpPr/>
      </dsp:nvSpPr>
      <dsp:spPr>
        <a:xfrm>
          <a:off x="7016271" y="2853819"/>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Immediate clinical decision support </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7030072" y="2867620"/>
        <a:ext cx="2466646" cy="443605"/>
      </dsp:txXfrm>
    </dsp:sp>
    <dsp:sp modelId="{2F8C6D33-2B3C-4437-85EB-5F3C44F67FF2}">
      <dsp:nvSpPr>
        <dsp:cNvPr id="0" name=""/>
        <dsp:cNvSpPr/>
      </dsp:nvSpPr>
      <dsp:spPr>
        <a:xfrm>
          <a:off x="7016271" y="3397520"/>
          <a:ext cx="2494248" cy="471207"/>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None/>
          </a:pPr>
          <a:r>
            <a:rPr lang="en-IN" sz="1600" b="0" i="0" kern="1200" baseline="0">
              <a:latin typeface="Calibri" panose="020F0502020204030204" pitchFamily="34" charset="0"/>
              <a:ea typeface="Calibri" panose="020F0502020204030204" pitchFamily="34" charset="0"/>
              <a:cs typeface="Calibri" panose="020F0502020204030204" pitchFamily="34" charset="0"/>
            </a:rPr>
            <a:t>Higher compliance &amp; follow-up</a:t>
          </a:r>
          <a:endParaRPr lang="en-US" sz="1600" b="0" kern="1200" dirty="0">
            <a:latin typeface="Calibri" panose="020F0502020204030204" pitchFamily="34" charset="0"/>
            <a:ea typeface="Calibri" panose="020F0502020204030204" pitchFamily="34" charset="0"/>
            <a:cs typeface="Calibri" panose="020F0502020204030204" pitchFamily="34" charset="0"/>
          </a:endParaRPr>
        </a:p>
      </dsp:txBody>
      <dsp:txXfrm>
        <a:off x="7030072" y="3411321"/>
        <a:ext cx="2466646" cy="4436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3D4FB-A1BB-4095-8D36-71DDCD034F8A}">
      <dsp:nvSpPr>
        <dsp:cNvPr id="0" name=""/>
        <dsp:cNvSpPr/>
      </dsp:nvSpPr>
      <dsp:spPr>
        <a:xfrm>
          <a:off x="0" y="349"/>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Blood Tests</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Hemoglobin, cholesterol, malaria, and rapid test kits.</a:t>
          </a:r>
        </a:p>
      </dsp:txBody>
      <dsp:txXfrm>
        <a:off x="25362" y="25711"/>
        <a:ext cx="10523824" cy="468814"/>
      </dsp:txXfrm>
    </dsp:sp>
    <dsp:sp modelId="{24B45B36-5FBB-487A-BABB-587EC36845B7}">
      <dsp:nvSpPr>
        <dsp:cNvPr id="0" name=""/>
        <dsp:cNvSpPr/>
      </dsp:nvSpPr>
      <dsp:spPr>
        <a:xfrm>
          <a:off x="0" y="530321"/>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Glucose Monitoring</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Affordable, at-home diabetes management.</a:t>
          </a:r>
        </a:p>
      </dsp:txBody>
      <dsp:txXfrm>
        <a:off x="25362" y="555683"/>
        <a:ext cx="10523824" cy="468814"/>
      </dsp:txXfrm>
    </dsp:sp>
    <dsp:sp modelId="{E0BF5500-497C-4909-90E0-A771F99C711F}">
      <dsp:nvSpPr>
        <dsp:cNvPr id="0" name=""/>
        <dsp:cNvSpPr/>
      </dsp:nvSpPr>
      <dsp:spPr>
        <a:xfrm>
          <a:off x="0" y="1060294"/>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Pregnancy &amp; Fertility Tests</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a:t>
          </a:r>
          <a:r>
            <a:rPr lang="en-US" sz="1800"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hCG</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ovulation strips.</a:t>
          </a:r>
        </a:p>
      </dsp:txBody>
      <dsp:txXfrm>
        <a:off x="25362" y="1085656"/>
        <a:ext cx="10523824" cy="468814"/>
      </dsp:txXfrm>
    </dsp:sp>
    <dsp:sp modelId="{438C0FC8-5A47-4A67-AED0-1920D58120A2}">
      <dsp:nvSpPr>
        <dsp:cNvPr id="0" name=""/>
        <dsp:cNvSpPr/>
      </dsp:nvSpPr>
      <dsp:spPr>
        <a:xfrm>
          <a:off x="0" y="1590266"/>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Infectious Disease Strips</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Malaria, dengue, COVID-19 antigen/antibody kits.</a:t>
          </a:r>
        </a:p>
      </dsp:txBody>
      <dsp:txXfrm>
        <a:off x="25362" y="1615628"/>
        <a:ext cx="10523824" cy="468814"/>
      </dsp:txXfrm>
    </dsp:sp>
    <dsp:sp modelId="{D7473D68-EE5C-4927-941B-BDDAF9AC275F}">
      <dsp:nvSpPr>
        <dsp:cNvPr id="0" name=""/>
        <dsp:cNvSpPr/>
      </dsp:nvSpPr>
      <dsp:spPr>
        <a:xfrm>
          <a:off x="0" y="2120239"/>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Veterinary Diagnostics</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Affordable tests for livestock and pets.</a:t>
          </a:r>
        </a:p>
      </dsp:txBody>
      <dsp:txXfrm>
        <a:off x="25362" y="2145601"/>
        <a:ext cx="10523824" cy="468814"/>
      </dsp:txXfrm>
    </dsp:sp>
    <dsp:sp modelId="{D948EDCD-243F-45EA-A59B-B1CC8AB7C7C2}">
      <dsp:nvSpPr>
        <dsp:cNvPr id="0" name=""/>
        <dsp:cNvSpPr/>
      </dsp:nvSpPr>
      <dsp:spPr>
        <a:xfrm>
          <a:off x="0" y="2650211"/>
          <a:ext cx="10574548" cy="519538"/>
        </a:xfrm>
        <a:prstGeom prst="roundRect">
          <a:avLst/>
        </a:prstGeom>
        <a:solidFill>
          <a:schemeClr val="accent3">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Other Colorimetric Strips</a:t>
          </a:r>
          <a:r>
            <a:rPr lang="en-US" sz="1800" kern="1200" dirty="0">
              <a:solidFill>
                <a:schemeClr val="tx1"/>
              </a:solidFill>
              <a:latin typeface="Calibri" panose="020F0502020204030204" pitchFamily="34" charset="0"/>
              <a:ea typeface="Calibri" panose="020F0502020204030204" pitchFamily="34" charset="0"/>
              <a:cs typeface="Calibri" panose="020F0502020204030204" pitchFamily="34" charset="0"/>
            </a:rPr>
            <a:t> → Adaptable to any standard generic test strip variant across human health diagnostics licensed under CDSCO.</a:t>
          </a:r>
        </a:p>
      </dsp:txBody>
      <dsp:txXfrm>
        <a:off x="25362" y="2675573"/>
        <a:ext cx="10523824" cy="46881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ECFFB8-57B1-4EFD-90F1-8C43F9724649}" type="datetimeFigureOut">
              <a:rPr lang="en-US" smtClean="0"/>
              <a:t>12-Aug-26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214128-E272-4383-8CC0-DA1952CE852D}" type="slidenum">
              <a:rPr lang="en-US" smtClean="0"/>
              <a:t>‹#›</a:t>
            </a:fld>
            <a:endParaRPr lang="en-US"/>
          </a:p>
        </p:txBody>
      </p:sp>
    </p:spTree>
    <p:extLst>
      <p:ext uri="{BB962C8B-B14F-4D97-AF65-F5344CB8AC3E}">
        <p14:creationId xmlns:p14="http://schemas.microsoft.com/office/powerpoint/2010/main" val="3066232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4071C-303A-8B7D-540A-6D3835110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5BFFB-E4C1-0A9F-EE4E-16347E151FE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6972EE9-E5BA-D420-3B40-2758AAA6F91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9366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7FCA1-933B-95D8-1847-6080FFCD1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16125-FBB7-F350-CDB7-CD33A85D7B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02278C8-6BF3-98CB-38B7-5A64DD91559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717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6214128-E272-4383-8CC0-DA1952CE852D}" type="slidenum">
              <a:rPr lang="en-US" smtClean="0"/>
              <a:t>7</a:t>
            </a:fld>
            <a:endParaRPr lang="en-US"/>
          </a:p>
        </p:txBody>
      </p:sp>
    </p:spTree>
    <p:extLst>
      <p:ext uri="{BB962C8B-B14F-4D97-AF65-F5344CB8AC3E}">
        <p14:creationId xmlns:p14="http://schemas.microsoft.com/office/powerpoint/2010/main" val="367061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851273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15BF-B715-DDE9-9FAD-E78C093845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D0E24-FA74-FCA8-BEA8-60EDB71650A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5D16A5-88C4-932A-2B62-CD6B5BEBBB3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53054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DBE55-4E33-4CC0-B3FD-E95DBC703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2DD8EE-3FFD-1400-B722-BD665A75B7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08B5F9-1F87-0D8B-FB07-7F72537DA0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1040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C0D7B-D3A0-0972-802E-092F55807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01A81-6B22-6C9A-B8C6-6072F1FFB42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35BB53-C973-D734-FDDF-92E9ABB100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690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949C7-8CEC-25CE-C728-11B23B578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397D2B-64DE-A53C-FC1B-4095764E5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F825FE8-27EA-DEF2-B6DA-63BC12DC4A5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688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698C7-53A1-61D3-46A5-50A051BF0B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14C4D3-987C-1D96-33C4-21A317927FC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882E3E-9AD7-D045-3335-E4B8D054287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0348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11BC4-B7DF-67D2-17FC-A3946507E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ADED4-6FB6-EE53-2706-D2E5D29FAF8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542DE9-F98C-76DC-9302-8B9D5FD96C0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44648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4B732-528A-45C6-09A8-286C63DE4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0BB42-6879-FB1F-8AB8-BA8E590A197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4C4B21-25CD-194C-2B70-405D96E59C4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46399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17BA5-7A83-283D-E5B4-A11FA972C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0B162-C16C-4FAE-F420-9DC026F474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4E886D5-F290-CC61-793E-5D0BAA96144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34341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4FD1C-FAF2-3E23-9C49-21EEDDE00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498F5-EC89-2588-CB11-6EF82AE6C9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A6D92-D904-DBBC-7F6C-4047DE93512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9A45D2-2479-898A-90E1-24FC4967BE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214128-E272-4383-8CC0-DA1952CE852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3547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DACE2-AC08-1976-8A6F-F60CE1CCD6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8109B-828B-77C8-E120-780DD45D79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F8E8BE5-C946-42F6-90D5-828B0673A13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66530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0" name="Title Text"/>
          <p:cNvSpPr txBox="1">
            <a:spLocks noGrp="1"/>
          </p:cNvSpPr>
          <p:nvPr>
            <p:ph type="title"/>
          </p:nvPr>
        </p:nvSpPr>
        <p:spPr>
          <a:prstGeom prst="rect">
            <a:avLst/>
          </a:prstGeom>
        </p:spPr>
        <p:txBody>
          <a:bodyPr/>
          <a:lstStyle/>
          <a:p>
            <a:r>
              <a:t>Title Text</a:t>
            </a:r>
          </a:p>
        </p:txBody>
      </p:sp>
      <p:sp>
        <p:nvSpPr>
          <p:cNvPr id="21"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7725679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_HEADER">
    <p:spTree>
      <p:nvGrpSpPr>
        <p:cNvPr id="1" name=""/>
        <p:cNvGrpSpPr/>
        <p:nvPr/>
      </p:nvGrpSpPr>
      <p:grpSpPr>
        <a:xfrm>
          <a:off x="0" y="0"/>
          <a:ext cx="0" cy="0"/>
          <a:chOff x="0" y="0"/>
          <a:chExt cx="0" cy="0"/>
        </a:xfrm>
      </p:grpSpPr>
      <p:sp>
        <p:nvSpPr>
          <p:cNvPr id="29" name="Title Text"/>
          <p:cNvSpPr txBox="1">
            <a:spLocks noGrp="1"/>
          </p:cNvSpPr>
          <p:nvPr>
            <p:ph type="title"/>
          </p:nvPr>
        </p:nvSpPr>
        <p:spPr>
          <a:xfrm>
            <a:off x="831850" y="1709738"/>
            <a:ext cx="10515600" cy="2852737"/>
          </a:xfrm>
          <a:prstGeom prst="rect">
            <a:avLst/>
          </a:prstGeom>
        </p:spPr>
        <p:txBody>
          <a:bodyPr anchor="b"/>
          <a:lstStyle>
            <a:lvl1pPr>
              <a:defRPr sz="6000">
                <a:solidFill>
                  <a:srgbClr val="000000"/>
                </a:solidFill>
              </a:defRPr>
            </a:lvl1pPr>
          </a:lstStyle>
          <a:p>
            <a:r>
              <a:t>Title Text</a:t>
            </a:r>
          </a:p>
        </p:txBody>
      </p:sp>
      <p:sp>
        <p:nvSpPr>
          <p:cNvPr id="30" name="Body Level One…"/>
          <p:cNvSpPr txBox="1">
            <a:spLocks noGrp="1"/>
          </p:cNvSpPr>
          <p:nvPr>
            <p:ph type="body" sz="quarter" idx="1"/>
          </p:nvPr>
        </p:nvSpPr>
        <p:spPr>
          <a:xfrm>
            <a:off x="831850" y="4589462"/>
            <a:ext cx="10515600" cy="1500188"/>
          </a:xfrm>
          <a:prstGeom prst="rect">
            <a:avLst/>
          </a:prstGeom>
        </p:spPr>
        <p:txBody>
          <a:bodyPr/>
          <a:lstStyle>
            <a:lvl1pPr marL="228600" indent="0">
              <a:buClrTx/>
              <a:buSzTx/>
              <a:buFontTx/>
              <a:buNone/>
              <a:defRPr sz="2400">
                <a:solidFill>
                  <a:srgbClr val="888888"/>
                </a:solidFill>
              </a:defRPr>
            </a:lvl1pPr>
            <a:lvl2pPr marL="228600" indent="457200">
              <a:buClrTx/>
              <a:buSzTx/>
              <a:buFontTx/>
              <a:buNone/>
              <a:defRPr sz="2400">
                <a:solidFill>
                  <a:srgbClr val="888888"/>
                </a:solidFill>
              </a:defRPr>
            </a:lvl2pPr>
            <a:lvl3pPr marL="228600" indent="914400">
              <a:buClrTx/>
              <a:buSzTx/>
              <a:buFontTx/>
              <a:buNone/>
              <a:defRPr sz="2400">
                <a:solidFill>
                  <a:srgbClr val="888888"/>
                </a:solidFill>
              </a:defRPr>
            </a:lvl3pPr>
            <a:lvl4pPr marL="228600" indent="1371600">
              <a:buClrTx/>
              <a:buSzTx/>
              <a:buFontTx/>
              <a:buNone/>
              <a:defRPr sz="2400">
                <a:solidFill>
                  <a:srgbClr val="888888"/>
                </a:solidFill>
              </a:defRPr>
            </a:lvl4pPr>
            <a:lvl5pPr marL="228600" indent="1828800">
              <a:buClrTx/>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2210716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WO_OBJECTS_WITH_TEXT">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7"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7" y="1681163"/>
            <a:ext cx="5157789" cy="823913"/>
          </a:xfrm>
          <a:prstGeom prst="rect">
            <a:avLst/>
          </a:prstGeom>
        </p:spPr>
        <p:txBody>
          <a:bodyPr anchor="b"/>
          <a:lstStyle>
            <a:lvl1pPr marL="228600" indent="0">
              <a:buClrTx/>
              <a:buSzTx/>
              <a:buFontTx/>
              <a:buNone/>
              <a:defRPr sz="2400" b="1"/>
            </a:lvl1pPr>
            <a:lvl2pPr marL="228600" indent="457200">
              <a:buClrTx/>
              <a:buSzTx/>
              <a:buFontTx/>
              <a:buNone/>
              <a:defRPr sz="2400" b="1"/>
            </a:lvl2pPr>
            <a:lvl3pPr marL="228600" indent="914400">
              <a:buClrTx/>
              <a:buSzTx/>
              <a:buFontTx/>
              <a:buNone/>
              <a:defRPr sz="2400" b="1"/>
            </a:lvl3pPr>
            <a:lvl4pPr marL="228600" indent="1371600">
              <a:buClrTx/>
              <a:buSzTx/>
              <a:buFontTx/>
              <a:buNone/>
              <a:defRPr sz="2400" b="1"/>
            </a:lvl4pPr>
            <a:lvl5pPr marL="228600" indent="1828800">
              <a:buClrTx/>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Google Shape;39;p6"/>
          <p:cNvSpPr txBox="1">
            <a:spLocks noGrp="1"/>
          </p:cNvSpPr>
          <p:nvPr>
            <p:ph type="body" sz="half" idx="21"/>
          </p:nvPr>
        </p:nvSpPr>
        <p:spPr>
          <a:xfrm>
            <a:off x="839787" y="2505075"/>
            <a:ext cx="5157788" cy="3684588"/>
          </a:xfrm>
          <a:prstGeom prst="rect">
            <a:avLst/>
          </a:prstGeom>
        </p:spPr>
        <p:txBody>
          <a:bodyPr/>
          <a:lstStyle/>
          <a:p>
            <a:endParaRPr/>
          </a:p>
        </p:txBody>
      </p:sp>
      <p:sp>
        <p:nvSpPr>
          <p:cNvPr id="51" name="Google Shape;40;p6"/>
          <p:cNvSpPr txBox="1">
            <a:spLocks noGrp="1"/>
          </p:cNvSpPr>
          <p:nvPr>
            <p:ph type="body" sz="quarter" idx="22"/>
          </p:nvPr>
        </p:nvSpPr>
        <p:spPr>
          <a:xfrm>
            <a:off x="6172200" y="1681163"/>
            <a:ext cx="5183188" cy="823913"/>
          </a:xfrm>
          <a:prstGeom prst="rect">
            <a:avLst/>
          </a:prstGeom>
        </p:spPr>
        <p:txBody>
          <a:bodyPr anchor="b"/>
          <a:lstStyle/>
          <a:p>
            <a:pPr marL="228600" indent="0">
              <a:buClrTx/>
              <a:buSzTx/>
              <a:buFontTx/>
              <a:buNone/>
              <a:defRPr sz="2400" b="1"/>
            </a:pPr>
            <a:endParaRPr/>
          </a:p>
        </p:txBody>
      </p:sp>
      <p:sp>
        <p:nvSpPr>
          <p:cNvPr id="52" name="Google Shape;41;p6"/>
          <p:cNvSpPr txBox="1">
            <a:spLocks noGrp="1"/>
          </p:cNvSpPr>
          <p:nvPr>
            <p:ph type="body" sz="half" idx="23"/>
          </p:nvPr>
        </p:nvSpPr>
        <p:spPr>
          <a:xfrm>
            <a:off x="6172200" y="2505075"/>
            <a:ext cx="5183188" cy="3684588"/>
          </a:xfrm>
          <a:prstGeom prst="rect">
            <a:avLst/>
          </a:prstGeom>
        </p:spPr>
        <p:txBody>
          <a:bodyPr/>
          <a:lstStyle/>
          <a:p>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147957550"/>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_ONLY">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p>
            <a:r>
              <a:t>Title Text</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7467581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61153367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PICTURE_WITH_CAPTION_TEXT">
    <p:spTree>
      <p:nvGrpSpPr>
        <p:cNvPr id="1" name=""/>
        <p:cNvGrpSpPr/>
        <p:nvPr/>
      </p:nvGrpSpPr>
      <p:grpSpPr>
        <a:xfrm>
          <a:off x="0" y="0"/>
          <a:ext cx="0" cy="0"/>
          <a:chOff x="0" y="0"/>
          <a:chExt cx="0" cy="0"/>
        </a:xfrm>
      </p:grpSpPr>
      <p:sp>
        <p:nvSpPr>
          <p:cNvPr id="85" name="Title Text"/>
          <p:cNvSpPr txBox="1">
            <a:spLocks noGrp="1"/>
          </p:cNvSpPr>
          <p:nvPr>
            <p:ph type="title"/>
          </p:nvPr>
        </p:nvSpPr>
        <p:spPr>
          <a:xfrm>
            <a:off x="839787" y="457200"/>
            <a:ext cx="3932239" cy="1600200"/>
          </a:xfrm>
          <a:prstGeom prst="rect">
            <a:avLst/>
          </a:prstGeom>
        </p:spPr>
        <p:txBody>
          <a:bodyPr anchor="b"/>
          <a:lstStyle>
            <a:lvl1pPr>
              <a:defRPr sz="3200">
                <a:solidFill>
                  <a:srgbClr val="000000"/>
                </a:solidFill>
              </a:defRPr>
            </a:lvl1pPr>
          </a:lstStyle>
          <a:p>
            <a:r>
              <a:t>Title Text</a:t>
            </a:r>
          </a:p>
        </p:txBody>
      </p:sp>
      <p:sp>
        <p:nvSpPr>
          <p:cNvPr id="86" name="Google Shape;63;p10"/>
          <p:cNvSpPr>
            <a:spLocks noGrp="1"/>
          </p:cNvSpPr>
          <p:nvPr>
            <p:ph type="pic" sz="half" idx="21"/>
          </p:nvPr>
        </p:nvSpPr>
        <p:spPr>
          <a:xfrm>
            <a:off x="5183187" y="987425"/>
            <a:ext cx="6172201" cy="4873625"/>
          </a:xfrm>
          <a:prstGeom prst="rect">
            <a:avLst/>
          </a:prstGeom>
        </p:spPr>
        <p:txBody>
          <a:bodyPr lIns="91439" tIns="45719" rIns="91439" bIns="45719">
            <a:noAutofit/>
          </a:bodyPr>
          <a:lstStyle/>
          <a:p>
            <a:endParaRPr/>
          </a:p>
        </p:txBody>
      </p:sp>
      <p:sp>
        <p:nvSpPr>
          <p:cNvPr id="87" name="Body Level One…"/>
          <p:cNvSpPr txBox="1">
            <a:spLocks noGrp="1"/>
          </p:cNvSpPr>
          <p:nvPr>
            <p:ph type="body" sz="quarter" idx="1"/>
          </p:nvPr>
        </p:nvSpPr>
        <p:spPr>
          <a:xfrm>
            <a:off x="839787" y="2057400"/>
            <a:ext cx="3932239" cy="3811588"/>
          </a:xfrm>
          <a:prstGeom prst="rect">
            <a:avLst/>
          </a:prstGeom>
        </p:spPr>
        <p:txBody>
          <a:bodyPr/>
          <a:lstStyle>
            <a:lvl1pPr marL="228600" indent="0">
              <a:buClrTx/>
              <a:buSzTx/>
              <a:buFontTx/>
              <a:buNone/>
              <a:defRPr sz="1600"/>
            </a:lvl1pPr>
            <a:lvl2pPr marL="228600" indent="457200">
              <a:buClrTx/>
              <a:buSzTx/>
              <a:buFontTx/>
              <a:buNone/>
              <a:defRPr sz="1600"/>
            </a:lvl2pPr>
            <a:lvl3pPr marL="228600" indent="914400">
              <a:buClrTx/>
              <a:buSzTx/>
              <a:buFontTx/>
              <a:buNone/>
              <a:defRPr sz="1600"/>
            </a:lvl3pPr>
            <a:lvl4pPr marL="228600" indent="1371600">
              <a:buClrTx/>
              <a:buSzTx/>
              <a:buFontTx/>
              <a:buNone/>
              <a:defRPr sz="1600"/>
            </a:lvl4pPr>
            <a:lvl5pPr marL="228600" indent="1828800">
              <a:buClrTx/>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97805260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95" name="Title Text"/>
          <p:cNvSpPr txBox="1">
            <a:spLocks noGrp="1"/>
          </p:cNvSpPr>
          <p:nvPr>
            <p:ph type="title"/>
          </p:nvPr>
        </p:nvSpPr>
        <p:spPr>
          <a:prstGeom prst="rect">
            <a:avLst/>
          </a:prstGeom>
        </p:spPr>
        <p:txBody>
          <a:bodyPr/>
          <a:lstStyle/>
          <a:p>
            <a:r>
              <a:t>Title Text</a:t>
            </a:r>
          </a:p>
        </p:txBody>
      </p:sp>
      <p:sp>
        <p:nvSpPr>
          <p:cNvPr id="96" name="Body Level One…"/>
          <p:cNvSpPr txBox="1">
            <a:spLocks noGrp="1"/>
          </p:cNvSpPr>
          <p:nvPr>
            <p:ph type="body" idx="1"/>
          </p:nvPr>
        </p:nvSpPr>
        <p:spPr>
          <a:xfrm rot="5400000">
            <a:off x="3920330" y="-1256506"/>
            <a:ext cx="4351339" cy="105156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18439752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104" name="Title Text"/>
          <p:cNvSpPr txBox="1">
            <a:spLocks noGrp="1"/>
          </p:cNvSpPr>
          <p:nvPr>
            <p:ph type="title"/>
          </p:nvPr>
        </p:nvSpPr>
        <p:spPr>
          <a:xfrm rot="5400000">
            <a:off x="7133431" y="1956593"/>
            <a:ext cx="5811839" cy="2628901"/>
          </a:xfrm>
          <a:prstGeom prst="rect">
            <a:avLst/>
          </a:prstGeom>
        </p:spPr>
        <p:txBody>
          <a:bodyPr/>
          <a:lstStyle/>
          <a:p>
            <a:r>
              <a:t>Title Text</a:t>
            </a:r>
          </a:p>
        </p:txBody>
      </p:sp>
      <p:sp>
        <p:nvSpPr>
          <p:cNvPr id="105" name="Body Level One…"/>
          <p:cNvSpPr txBox="1">
            <a:spLocks noGrp="1"/>
          </p:cNvSpPr>
          <p:nvPr>
            <p:ph type="body" idx="1"/>
          </p:nvPr>
        </p:nvSpPr>
        <p:spPr>
          <a:xfrm rot="5400000">
            <a:off x="1799431" y="-596107"/>
            <a:ext cx="5811838" cy="7734301"/>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967323398"/>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577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0" y="365125"/>
            <a:ext cx="10515600"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Title Text</a:t>
            </a:r>
          </a:p>
        </p:txBody>
      </p:sp>
      <p:sp>
        <p:nvSpPr>
          <p:cNvPr id="3" name="Body Level One…"/>
          <p:cNvSpPr txBox="1">
            <a:spLocks noGrp="1"/>
          </p:cNvSpPr>
          <p:nvPr>
            <p:ph type="body" idx="1"/>
          </p:nvPr>
        </p:nvSpPr>
        <p:spPr>
          <a:xfrm>
            <a:off x="838200" y="1825625"/>
            <a:ext cx="10515600"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10952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spTree>
    <p:extLst>
      <p:ext uri="{BB962C8B-B14F-4D97-AF65-F5344CB8AC3E}">
        <p14:creationId xmlns:p14="http://schemas.microsoft.com/office/powerpoint/2010/main" val="29966900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 id="2147483666" r:id="rId4"/>
    <p:sldLayoutId id="2147483667" r:id="rId5"/>
    <p:sldLayoutId id="2147483669" r:id="rId6"/>
    <p:sldLayoutId id="2147483670" r:id="rId7"/>
    <p:sldLayoutId id="2147483671" r:id="rId8"/>
    <p:sldLayoutId id="2147483672" r:id="rId9"/>
  </p:sldLayoutIdLst>
  <p:transition spd="med"/>
  <p:txStyles>
    <p:titleStyle>
      <a:lvl1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3600" b="0" i="0" u="none" strike="noStrike" cap="none" spc="0" baseline="0">
          <a:blipFill rotWithShape="1">
            <a:blip r:embed="rId11"/>
            <a:srcRect/>
            <a:stretch>
              <a:fillRect/>
            </a:stretch>
          </a:blipFill>
          <a:uFillTx/>
          <a:latin typeface="Calibri"/>
          <a:ea typeface="Calibri"/>
          <a:cs typeface="Calibri"/>
          <a:sym typeface="Calibri"/>
        </a:defRPr>
      </a:lvl9pPr>
    </p:titleStyle>
    <p:bodyStyle>
      <a:lvl1pPr marL="457200" marR="0" indent="-3429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1pPr>
      <a:lvl2pPr marL="971550" marR="0" indent="-40005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2pPr>
      <a:lvl3pPr marL="1508760" marR="0" indent="-48006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000000"/>
        </a:buClr>
        <a:buSzPts val="2800"/>
        <a:buFont typeface="Arial"/>
        <a:buChar char="•"/>
        <a:tabLst/>
        <a:defRPr sz="28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jp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jpe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jpeg"/><Relationship Id="rId10" Type="http://schemas.openxmlformats.org/officeDocument/2006/relationships/image" Target="../media/image38.jpeg"/><Relationship Id="rId4" Type="http://schemas.openxmlformats.org/officeDocument/2006/relationships/image" Target="../media/image32.jpeg"/><Relationship Id="rId9" Type="http://schemas.openxmlformats.org/officeDocument/2006/relationships/image" Target="../media/image3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grpSp>
        <p:nvGrpSpPr>
          <p:cNvPr id="21" name="Group">
            <a:extLst>
              <a:ext uri="{FF2B5EF4-FFF2-40B4-BE49-F238E27FC236}">
                <a16:creationId xmlns:a16="http://schemas.microsoft.com/office/drawing/2014/main" id="{4974AA71-B643-90C9-DC31-CB212AA210CA}"/>
              </a:ext>
            </a:extLst>
          </p:cNvPr>
          <p:cNvGrpSpPr/>
          <p:nvPr/>
        </p:nvGrpSpPr>
        <p:grpSpPr>
          <a:xfrm>
            <a:off x="1587436" y="6195982"/>
            <a:ext cx="9017128" cy="203201"/>
            <a:chOff x="0" y="0"/>
            <a:chExt cx="9017127" cy="203200"/>
          </a:xfrm>
        </p:grpSpPr>
        <p:sp>
          <p:nvSpPr>
            <p:cNvPr id="22" name="Rounded Rectangle">
              <a:extLst>
                <a:ext uri="{FF2B5EF4-FFF2-40B4-BE49-F238E27FC236}">
                  <a16:creationId xmlns:a16="http://schemas.microsoft.com/office/drawing/2014/main" id="{D9BA4BA8-CBA0-17D1-49A1-8B998EC94A30}"/>
                </a:ext>
              </a:extLst>
            </p:cNvPr>
            <p:cNvSpPr/>
            <p:nvPr/>
          </p:nvSpPr>
          <p:spPr>
            <a:xfrm>
              <a:off x="0" y="0"/>
              <a:ext cx="1905000" cy="203200"/>
            </a:xfrm>
            <a:prstGeom prst="roundRect">
              <a:avLst>
                <a:gd name="adj" fmla="val 50000"/>
              </a:avLst>
            </a:prstGeom>
            <a:solidFill>
              <a:schemeClr val="accent1">
                <a:lumOff val="24117"/>
              </a:schemeClr>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 name="Rectangle">
              <a:extLst>
                <a:ext uri="{FF2B5EF4-FFF2-40B4-BE49-F238E27FC236}">
                  <a16:creationId xmlns:a16="http://schemas.microsoft.com/office/drawing/2014/main" id="{8DBE4268-195F-FE8E-54F6-6CAB76B8B4DF}"/>
                </a:ext>
              </a:extLst>
            </p:cNvPr>
            <p:cNvSpPr/>
            <p:nvPr/>
          </p:nvSpPr>
          <p:spPr>
            <a:xfrm>
              <a:off x="1504472" y="0"/>
              <a:ext cx="1905001" cy="203200"/>
            </a:xfrm>
            <a:prstGeom prst="rect">
              <a:avLst/>
            </a:prstGeom>
            <a:solidFill>
              <a:srgbClr val="FFB5A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4" name="Rectangle">
              <a:extLst>
                <a:ext uri="{FF2B5EF4-FFF2-40B4-BE49-F238E27FC236}">
                  <a16:creationId xmlns:a16="http://schemas.microsoft.com/office/drawing/2014/main" id="{69D8D15C-F62E-D2D2-2D70-6D2B523821AF}"/>
                </a:ext>
              </a:extLst>
            </p:cNvPr>
            <p:cNvSpPr/>
            <p:nvPr/>
          </p:nvSpPr>
          <p:spPr>
            <a:xfrm>
              <a:off x="3397113" y="0"/>
              <a:ext cx="1905001" cy="203200"/>
            </a:xfrm>
            <a:prstGeom prst="rect">
              <a:avLst/>
            </a:prstGeom>
            <a:solidFill>
              <a:srgbClr val="FFD9A8"/>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5" name="Rectangle">
              <a:extLst>
                <a:ext uri="{FF2B5EF4-FFF2-40B4-BE49-F238E27FC236}">
                  <a16:creationId xmlns:a16="http://schemas.microsoft.com/office/drawing/2014/main" id="{E3C80F44-50B3-7DC5-C495-AFCD2650B7BB}"/>
                </a:ext>
              </a:extLst>
            </p:cNvPr>
            <p:cNvSpPr/>
            <p:nvPr/>
          </p:nvSpPr>
          <p:spPr>
            <a:xfrm>
              <a:off x="5302113" y="0"/>
              <a:ext cx="1905001" cy="203200"/>
            </a:xfrm>
            <a:prstGeom prst="rect">
              <a:avLst/>
            </a:prstGeom>
            <a:solidFill>
              <a:srgbClr val="EAF28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6" name="Rounded Rectangle">
              <a:extLst>
                <a:ext uri="{FF2B5EF4-FFF2-40B4-BE49-F238E27FC236}">
                  <a16:creationId xmlns:a16="http://schemas.microsoft.com/office/drawing/2014/main" id="{30CC3112-FA48-A3F1-16A2-147833BD9A96}"/>
                </a:ext>
              </a:extLst>
            </p:cNvPr>
            <p:cNvSpPr/>
            <p:nvPr/>
          </p:nvSpPr>
          <p:spPr>
            <a:xfrm>
              <a:off x="7112127" y="0"/>
              <a:ext cx="1905001" cy="203200"/>
            </a:xfrm>
            <a:prstGeom prst="roundRect">
              <a:avLst>
                <a:gd name="adj" fmla="val 50000"/>
              </a:avLst>
            </a:prstGeom>
            <a:solidFill>
              <a:srgbClr val="CBF0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 name="Rectangle">
              <a:extLst>
                <a:ext uri="{FF2B5EF4-FFF2-40B4-BE49-F238E27FC236}">
                  <a16:creationId xmlns:a16="http://schemas.microsoft.com/office/drawing/2014/main" id="{825F5A2F-58D1-C000-FE70-6F89A73D3FD5}"/>
                </a:ext>
              </a:extLst>
            </p:cNvPr>
            <p:cNvSpPr/>
            <p:nvPr/>
          </p:nvSpPr>
          <p:spPr>
            <a:xfrm>
              <a:off x="6374435" y="0"/>
              <a:ext cx="1905001" cy="203200"/>
            </a:xfrm>
            <a:prstGeom prst="rect">
              <a:avLst/>
            </a:prstGeom>
            <a:solidFill>
              <a:srgbClr val="D9C9FE"/>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9" name="BillionTests">
            <a:extLst>
              <a:ext uri="{FF2B5EF4-FFF2-40B4-BE49-F238E27FC236}">
                <a16:creationId xmlns:a16="http://schemas.microsoft.com/office/drawing/2014/main" id="{C21AD2B6-32D2-FC8C-8859-668082EA2BB6}"/>
              </a:ext>
            </a:extLst>
          </p:cNvPr>
          <p:cNvSpPr txBox="1"/>
          <p:nvPr/>
        </p:nvSpPr>
        <p:spPr>
          <a:xfrm>
            <a:off x="2014978" y="2745381"/>
            <a:ext cx="7522250" cy="110799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sz="6600">
                <a:solidFill>
                  <a:srgbClr val="FFFFFF"/>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6600" b="0" i="0" u="none" strike="noStrike" kern="0" cap="none" spc="0" normalizeH="0" baseline="0" noProof="0" dirty="0">
                <a:ln>
                  <a:noFill/>
                </a:ln>
                <a:solidFill>
                  <a:schemeClr val="bg1"/>
                </a:solidFill>
                <a:effectLst/>
                <a:uLnTx/>
                <a:uFillTx/>
                <a:latin typeface="Cascadia Code SemiBold" panose="020B0609020000020004" pitchFamily="49" charset="0"/>
                <a:ea typeface="Cascadia Code SemiBold" panose="020B0609020000020004" pitchFamily="49" charset="0"/>
                <a:cs typeface="Cascadia Code SemiBold" panose="020B0609020000020004" pitchFamily="49" charset="0"/>
                <a:sym typeface="Cascadia Code Regular Bold"/>
              </a:rPr>
              <a:t>BillionTests</a:t>
            </a:r>
            <a:r>
              <a:rPr kumimoji="0" lang="en-US" sz="6600" b="0" i="0" u="none" strike="noStrike" kern="0" cap="none" spc="0" normalizeH="0" baseline="0" noProof="0" dirty="0">
                <a:ln>
                  <a:noFill/>
                </a:ln>
                <a:solidFill>
                  <a:schemeClr val="bg1"/>
                </a:solidFill>
                <a:effectLst/>
                <a:uLnTx/>
                <a:uFillTx/>
                <a:latin typeface="Cascadia Code SemiBold" panose="020B0609020000020004" pitchFamily="49" charset="0"/>
                <a:ea typeface="Cascadia Code SemiBold" panose="020B0609020000020004" pitchFamily="49" charset="0"/>
                <a:cs typeface="Cascadia Code SemiBold" panose="020B0609020000020004" pitchFamily="49" charset="0"/>
                <a:sym typeface="Cascadia Code Regular Bold"/>
              </a:rPr>
              <a:t>.AI</a:t>
            </a:r>
            <a:endParaRPr kumimoji="0" sz="6600" b="0" i="0" u="none" strike="noStrike" kern="0" cap="none" spc="0" normalizeH="0" baseline="0" noProof="0" dirty="0">
              <a:ln>
                <a:noFill/>
              </a:ln>
              <a:solidFill>
                <a:schemeClr val="bg1"/>
              </a:solidFill>
              <a:effectLst/>
              <a:uLnTx/>
              <a:uFillTx/>
              <a:latin typeface="Cascadia Code SemiBold" panose="020B0609020000020004" pitchFamily="49" charset="0"/>
              <a:ea typeface="Cascadia Code SemiBold" panose="020B0609020000020004" pitchFamily="49" charset="0"/>
              <a:cs typeface="Cascadia Code SemiBold" panose="020B0609020000020004" pitchFamily="49" charset="0"/>
              <a:sym typeface="Cascadia Code Regular Bold"/>
            </a:endParaRPr>
          </a:p>
        </p:txBody>
      </p:sp>
      <p:sp>
        <p:nvSpPr>
          <p:cNvPr id="32" name="Self diagnosis made easy">
            <a:extLst>
              <a:ext uri="{FF2B5EF4-FFF2-40B4-BE49-F238E27FC236}">
                <a16:creationId xmlns:a16="http://schemas.microsoft.com/office/drawing/2014/main" id="{ABF07DFA-9868-F2B4-E97B-F633270BADCE}"/>
              </a:ext>
            </a:extLst>
          </p:cNvPr>
          <p:cNvSpPr txBox="1"/>
          <p:nvPr/>
        </p:nvSpPr>
        <p:spPr>
          <a:xfrm>
            <a:off x="2141979" y="5600477"/>
            <a:ext cx="7738655" cy="584773"/>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sz="3200">
                <a:solidFill>
                  <a:srgbClr val="535353"/>
                </a:solidFill>
                <a:latin typeface="Cascadia Code Regular Regular"/>
                <a:ea typeface="Cascadia Code Regular Regular"/>
                <a:cs typeface="Cascadia Code Regular Regular"/>
                <a:sym typeface="Cascadia Code Regular Regular"/>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3200" b="0" i="0" u="none" strike="noStrike" kern="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sym typeface="Cascadia Code Regular Regular"/>
              </a:rPr>
              <a:t>AI Platform. Developed in India. Built for India</a:t>
            </a:r>
            <a:endParaRPr kumimoji="0" sz="3200" b="0" i="0" u="none" strike="noStrike" kern="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sym typeface="Cascadia Code Regular Regular"/>
            </a:endParaRPr>
          </a:p>
        </p:txBody>
      </p:sp>
      <p:sp>
        <p:nvSpPr>
          <p:cNvPr id="34" name="TextBox 33">
            <a:extLst>
              <a:ext uri="{FF2B5EF4-FFF2-40B4-BE49-F238E27FC236}">
                <a16:creationId xmlns:a16="http://schemas.microsoft.com/office/drawing/2014/main" id="{AEAFC8DB-AE61-AFD0-01BD-2A9F071AE94A}"/>
              </a:ext>
            </a:extLst>
          </p:cNvPr>
          <p:cNvSpPr txBox="1"/>
          <p:nvPr/>
        </p:nvSpPr>
        <p:spPr>
          <a:xfrm>
            <a:off x="9330609" y="2734649"/>
            <a:ext cx="846413" cy="584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bg1"/>
                </a:solidFill>
                <a:effectLst/>
                <a:uFillTx/>
                <a:latin typeface="+mn-lt"/>
                <a:ea typeface="+mn-ea"/>
                <a:cs typeface="+mn-cs"/>
                <a:sym typeface="Arial"/>
              </a:rPr>
              <a:t>TM</a:t>
            </a:r>
          </a:p>
        </p:txBody>
      </p:sp>
    </p:spTree>
    <p:extLst>
      <p:ext uri="{BB962C8B-B14F-4D97-AF65-F5344CB8AC3E}">
        <p14:creationId xmlns:p14="http://schemas.microsoft.com/office/powerpoint/2010/main" val="300430276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185" name="Rectangle"/>
          <p:cNvSpPr/>
          <p:nvPr/>
        </p:nvSpPr>
        <p:spPr>
          <a:xfrm>
            <a:off x="-8781" y="1395497"/>
            <a:ext cx="12209561" cy="5479783"/>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133;p18"/>
          <p:cNvSpPr txBox="1">
            <a:spLocks noGrp="1"/>
          </p:cNvSpPr>
          <p:nvPr>
            <p:ph type="body" sz="quarter" idx="1"/>
          </p:nvPr>
        </p:nvSpPr>
        <p:spPr>
          <a:xfrm>
            <a:off x="1101016" y="1504666"/>
            <a:ext cx="9989965" cy="714862"/>
          </a:xfrm>
          <a:prstGeom prst="rect">
            <a:avLst/>
          </a:prstGeom>
        </p:spPr>
        <p:txBody>
          <a:bodyPr>
            <a:noAutofit/>
          </a:bodyPr>
          <a:lstStyle/>
          <a:p>
            <a:pPr marL="114300" indent="0">
              <a:lnSpc>
                <a:spcPct val="100000"/>
              </a:lnSpc>
              <a:buNone/>
            </a:pPr>
            <a:r>
              <a:rPr lang="en-IN" sz="1800" kern="100" dirty="0">
                <a:solidFill>
                  <a:schemeClr val="tx1"/>
                </a:solidFill>
                <a:latin typeface="Calibri" panose="020F0502020204030204" pitchFamily="34" charset="0"/>
                <a:ea typeface="Calibri" panose="020F0502020204030204" pitchFamily="34" charset="0"/>
                <a:cs typeface="Calibri" panose="020F0502020204030204" pitchFamily="34" charset="0"/>
              </a:rPr>
              <a:t>Every year in India, preventable diseases claim hundreds of thousands of lives simply because screening happens too late—or not at all!</a:t>
            </a:r>
          </a:p>
        </p:txBody>
      </p:sp>
      <p:sp>
        <p:nvSpPr>
          <p:cNvPr id="192" name="Our vision"/>
          <p:cNvSpPr txBox="1"/>
          <p:nvPr/>
        </p:nvSpPr>
        <p:spPr>
          <a:xfrm>
            <a:off x="499299" y="365125"/>
            <a:ext cx="7715311"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hangingPunct="0">
              <a:defRPr/>
            </a:pPr>
            <a:r>
              <a:rPr lang="en-IN" sz="2800" b="1" kern="100" dirty="0">
                <a:latin typeface="Calibri" panose="020F0502020204030204" pitchFamily="34" charset="0"/>
                <a:ea typeface="Calibri" panose="020F0502020204030204" pitchFamily="34" charset="0"/>
                <a:cs typeface="Calibri" panose="020F0502020204030204" pitchFamily="34" charset="0"/>
              </a:rPr>
              <a:t>The Healthcare Crisis</a:t>
            </a:r>
            <a:endParaRPr lang="en-IN" sz="2800" kern="100" dirty="0">
              <a:latin typeface="Calibri" panose="020F0502020204030204" pitchFamily="34" charset="0"/>
              <a:ea typeface="Calibri" panose="020F0502020204030204" pitchFamily="34" charset="0"/>
              <a:cs typeface="Calibri" panose="020F0502020204030204" pitchFamily="34" charset="0"/>
            </a:endParaRPr>
          </a:p>
        </p:txBody>
      </p:sp>
      <p:sp>
        <p:nvSpPr>
          <p:cNvPr id="193" name="Line"/>
          <p:cNvSpPr/>
          <p:nvPr/>
        </p:nvSpPr>
        <p:spPr>
          <a:xfrm flipV="1">
            <a:off x="499298" y="957943"/>
            <a:ext cx="7904473" cy="21100"/>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000000"/>
              </a:solidFill>
              <a:effectLst/>
              <a:highlight>
                <a:srgbClr val="C0C0C0"/>
              </a:highlight>
              <a:uLnTx/>
              <a:uFillTx/>
              <a:latin typeface="Arial"/>
              <a:cs typeface="Arial"/>
              <a:sym typeface="Arial"/>
            </a:endParaRPr>
          </a:p>
        </p:txBody>
      </p:sp>
      <p:sp>
        <p:nvSpPr>
          <p:cNvPr id="194" name="Slide Number"/>
          <p:cNvSpPr txBox="1">
            <a:spLocks noGrp="1"/>
          </p:cNvSpPr>
          <p:nvPr>
            <p:ph type="sldNum" sz="quarter" idx="4294967295"/>
          </p:nvPr>
        </p:nvSpPr>
        <p:spPr>
          <a:xfrm>
            <a:off x="11172458" y="6414780"/>
            <a:ext cx="181343"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A116E2CF-8354-AD69-1568-5D758E2FDCEA}"/>
              </a:ext>
            </a:extLst>
          </p:cNvPr>
          <p:cNvSpPr txBox="1"/>
          <p:nvPr/>
        </p:nvSpPr>
        <p:spPr>
          <a:xfrm>
            <a:off x="9580586" y="657491"/>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4" name="TextBox 3">
            <a:extLst>
              <a:ext uri="{FF2B5EF4-FFF2-40B4-BE49-F238E27FC236}">
                <a16:creationId xmlns:a16="http://schemas.microsoft.com/office/drawing/2014/main" id="{514AAD7A-63D2-0C56-C2CE-2285EEBAF37D}"/>
              </a:ext>
            </a:extLst>
          </p:cNvPr>
          <p:cNvSpPr txBox="1"/>
          <p:nvPr/>
        </p:nvSpPr>
        <p:spPr>
          <a:xfrm>
            <a:off x="1101016" y="5774714"/>
            <a:ext cx="10071442" cy="10259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Aft>
                <a:spcPts val="800"/>
              </a:spcAft>
              <a:buNone/>
            </a:pPr>
            <a:endParaRPr lang="en-IN" sz="1800" b="1" kern="100" dirty="0">
              <a:effectLst/>
              <a:latin typeface="Calibri" panose="020F0502020204030204" pitchFamily="34" charset="0"/>
              <a:ea typeface="Calibri" panose="020F0502020204030204" pitchFamily="34" charset="0"/>
              <a:cs typeface="Calibri" panose="020F0502020204030204" pitchFamily="34" charset="0"/>
            </a:endParaRPr>
          </a:p>
          <a:p>
            <a:pPr>
              <a:spcAft>
                <a:spcPts val="800"/>
              </a:spcAft>
              <a:buNone/>
            </a:pPr>
            <a:r>
              <a:rPr lang="en-IN" sz="1800" b="1" kern="100" dirty="0">
                <a:effectLst/>
                <a:latin typeface="Calibri" panose="020F0502020204030204" pitchFamily="34" charset="0"/>
                <a:ea typeface="Calibri" panose="020F0502020204030204" pitchFamily="34" charset="0"/>
                <a:cs typeface="Calibri" panose="020F0502020204030204" pitchFamily="34" charset="0"/>
              </a:rPr>
              <a:t>DALYs (Disability-Adjusted Life Years) Lost:</a:t>
            </a:r>
            <a:r>
              <a:rPr lang="en-IN" sz="1800" kern="100" dirty="0">
                <a:effectLst/>
                <a:latin typeface="Calibri" panose="020F0502020204030204" pitchFamily="34" charset="0"/>
                <a:ea typeface="Calibri" panose="020F0502020204030204" pitchFamily="34" charset="0"/>
                <a:cs typeface="Calibri" panose="020F0502020204030204" pitchFamily="34" charset="0"/>
              </a:rPr>
              <a:t> 10-20 million annual loss DALYs due to late detection of screen-able diseases</a:t>
            </a:r>
          </a:p>
        </p:txBody>
      </p:sp>
      <p:graphicFrame>
        <p:nvGraphicFramePr>
          <p:cNvPr id="5" name="Table 4">
            <a:extLst>
              <a:ext uri="{FF2B5EF4-FFF2-40B4-BE49-F238E27FC236}">
                <a16:creationId xmlns:a16="http://schemas.microsoft.com/office/drawing/2014/main" id="{2C5D73F8-9C7F-6E5B-EDFC-E6FDA347A2D0}"/>
              </a:ext>
            </a:extLst>
          </p:cNvPr>
          <p:cNvGraphicFramePr>
            <a:graphicFrameLocks noGrp="1"/>
          </p:cNvGraphicFramePr>
          <p:nvPr>
            <p:extLst>
              <p:ext uri="{D42A27DB-BD31-4B8C-83A1-F6EECF244321}">
                <p14:modId xmlns:p14="http://schemas.microsoft.com/office/powerpoint/2010/main" val="4141806637"/>
              </p:ext>
            </p:extLst>
          </p:nvPr>
        </p:nvGraphicFramePr>
        <p:xfrm>
          <a:off x="1182493" y="2278551"/>
          <a:ext cx="9989965" cy="3421520"/>
        </p:xfrm>
        <a:graphic>
          <a:graphicData uri="http://schemas.openxmlformats.org/drawingml/2006/table">
            <a:tbl>
              <a:tblPr firstRow="1" bandRow="1">
                <a:tableStyleId>{073A0DAA-6AF3-43AB-8588-CEC1D06C72B9}</a:tableStyleId>
              </a:tblPr>
              <a:tblGrid>
                <a:gridCol w="2029038">
                  <a:extLst>
                    <a:ext uri="{9D8B030D-6E8A-4147-A177-3AD203B41FA5}">
                      <a16:colId xmlns:a16="http://schemas.microsoft.com/office/drawing/2014/main" val="1986556049"/>
                    </a:ext>
                  </a:extLst>
                </a:gridCol>
                <a:gridCol w="2029038">
                  <a:extLst>
                    <a:ext uri="{9D8B030D-6E8A-4147-A177-3AD203B41FA5}">
                      <a16:colId xmlns:a16="http://schemas.microsoft.com/office/drawing/2014/main" val="1149241393"/>
                    </a:ext>
                  </a:extLst>
                </a:gridCol>
                <a:gridCol w="1779614">
                  <a:extLst>
                    <a:ext uri="{9D8B030D-6E8A-4147-A177-3AD203B41FA5}">
                      <a16:colId xmlns:a16="http://schemas.microsoft.com/office/drawing/2014/main" val="1080232825"/>
                    </a:ext>
                  </a:extLst>
                </a:gridCol>
                <a:gridCol w="1978701">
                  <a:extLst>
                    <a:ext uri="{9D8B030D-6E8A-4147-A177-3AD203B41FA5}">
                      <a16:colId xmlns:a16="http://schemas.microsoft.com/office/drawing/2014/main" val="1153381686"/>
                    </a:ext>
                  </a:extLst>
                </a:gridCol>
                <a:gridCol w="2173574">
                  <a:extLst>
                    <a:ext uri="{9D8B030D-6E8A-4147-A177-3AD203B41FA5}">
                      <a16:colId xmlns:a16="http://schemas.microsoft.com/office/drawing/2014/main" val="1132455670"/>
                    </a:ext>
                  </a:extLst>
                </a:gridCol>
              </a:tblGrid>
              <a:tr h="724956">
                <a:tc>
                  <a:txBody>
                    <a:bodyPr/>
                    <a:lstStyle/>
                    <a:p>
                      <a:pPr algn="ctr">
                        <a:lnSpc>
                          <a:spcPct val="100000"/>
                        </a:lnSpc>
                      </a:pPr>
                      <a:endParaRPr lang="en-IN" sz="1500" b="1"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endParaRPr>
                    </a:p>
                    <a:p>
                      <a:pPr algn="ctr">
                        <a:lnSpc>
                          <a:spcPct val="100000"/>
                        </a:lnSpc>
                      </a:pPr>
                      <a:r>
                        <a:rPr lang="en-IN" sz="1500" b="1"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rPr>
                        <a:t>Condition</a:t>
                      </a:r>
                      <a:endParaRPr lang="en-IN" sz="1500" dirty="0">
                        <a:latin typeface="Calibri" panose="020F0502020204030204" pitchFamily="34" charset="0"/>
                        <a:ea typeface="Calibri" panose="020F0502020204030204" pitchFamily="34" charset="0"/>
                        <a:cs typeface="Calibri" panose="020F0502020204030204" pitchFamily="34" charset="0"/>
                      </a:endParaRPr>
                    </a:p>
                  </a:txBody>
                  <a:tcPr>
                    <a:solidFill>
                      <a:schemeClr val="accent1">
                        <a:lumMod val="50000"/>
                      </a:schemeClr>
                    </a:solidFill>
                  </a:tcPr>
                </a:tc>
                <a:tc>
                  <a:txBody>
                    <a:bodyPr/>
                    <a:lstStyle/>
                    <a:p>
                      <a:pPr algn="ctr">
                        <a:lnSpc>
                          <a:spcPct val="100000"/>
                        </a:lnSpc>
                      </a:pPr>
                      <a:endParaRPr lang="en-IN" sz="1500" b="1"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endParaRPr>
                    </a:p>
                    <a:p>
                      <a:pPr algn="ctr">
                        <a:lnSpc>
                          <a:spcPct val="100000"/>
                        </a:lnSpc>
                      </a:pPr>
                      <a:r>
                        <a:rPr lang="en-IN" sz="1500" b="1" kern="1200" dirty="0">
                          <a:solidFill>
                            <a:schemeClr val="lt1"/>
                          </a:solidFill>
                          <a:effectLst/>
                          <a:latin typeface="Calibri" panose="020F0502020204030204" pitchFamily="34" charset="0"/>
                          <a:ea typeface="Calibri" panose="020F0502020204030204" pitchFamily="34" charset="0"/>
                          <a:cs typeface="Calibri" panose="020F0502020204030204" pitchFamily="34" charset="0"/>
                        </a:rPr>
                        <a:t>% of Indian Population</a:t>
                      </a:r>
                      <a:endParaRPr lang="en-IN" sz="1500" dirty="0">
                        <a:latin typeface="Calibri" panose="020F0502020204030204" pitchFamily="34" charset="0"/>
                        <a:ea typeface="Calibri" panose="020F0502020204030204" pitchFamily="34" charset="0"/>
                        <a:cs typeface="Calibri" panose="020F0502020204030204" pitchFamily="34" charset="0"/>
                      </a:endParaRPr>
                    </a:p>
                  </a:txBody>
                  <a:tcPr>
                    <a:solidFill>
                      <a:schemeClr val="accent1">
                        <a:lumMod val="50000"/>
                      </a:schemeClr>
                    </a:solidFill>
                  </a:tcPr>
                </a:tc>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Annual Testing</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solidFill>
                      <a:schemeClr val="accent1">
                        <a:lumMod val="50000"/>
                      </a:schemeClr>
                    </a:solidFill>
                  </a:tcPr>
                </a:tc>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Annual Deaths in India</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solidFill>
                      <a:schemeClr val="accent1">
                        <a:lumMod val="50000"/>
                      </a:schemeClr>
                    </a:solidFill>
                  </a:tcPr>
                </a:tc>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Avoidable with Early Screening</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solidFill>
                      <a:schemeClr val="accent1">
                        <a:lumMod val="50000"/>
                      </a:schemeClr>
                    </a:solidFill>
                  </a:tcPr>
                </a:tc>
                <a:extLst>
                  <a:ext uri="{0D108BD9-81ED-4DB2-BD59-A6C34878D82A}">
                    <a16:rowId xmlns:a16="http://schemas.microsoft.com/office/drawing/2014/main" val="2889414313"/>
                  </a:ext>
                </a:extLst>
              </a:tr>
              <a:tr h="524656">
                <a:tc>
                  <a:txBody>
                    <a:bodyPr/>
                    <a:lstStyle/>
                    <a:p>
                      <a:pPr algn="ctr">
                        <a:lnSpc>
                          <a:spcPct val="100000"/>
                        </a:lnSpc>
                      </a:pPr>
                      <a:r>
                        <a:rPr lang="en-IN" sz="1500" b="1" kern="1200" dirty="0">
                          <a:solidFill>
                            <a:schemeClr val="dk1"/>
                          </a:solidFill>
                          <a:effectLst/>
                          <a:latin typeface="Calibri" panose="020F0502020204030204" pitchFamily="34" charset="0"/>
                          <a:ea typeface="Calibri" panose="020F0502020204030204" pitchFamily="34" charset="0"/>
                          <a:cs typeface="Calibri" panose="020F0502020204030204" pitchFamily="34" charset="0"/>
                        </a:rPr>
                        <a:t>Diabetes</a:t>
                      </a:r>
                      <a:endParaRPr lang="en-IN" sz="15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~8-8.3% adults</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20-25%</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~1,000,000</a:t>
                      </a: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400,000-600,000</a:t>
                      </a:r>
                    </a:p>
                  </a:txBody>
                  <a:tcPr marL="9525" marR="9525" marT="9525" marB="9525" anchor="ctr"/>
                </a:tc>
                <a:extLst>
                  <a:ext uri="{0D108BD9-81ED-4DB2-BD59-A6C34878D82A}">
                    <a16:rowId xmlns:a16="http://schemas.microsoft.com/office/drawing/2014/main" val="77470295"/>
                  </a:ext>
                </a:extLst>
              </a:tr>
              <a:tr h="529617">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Chronic Kidney Disease</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~11-16% adults</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&lt;5%</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~175,000+</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150,000-250,000</a:t>
                      </a:r>
                    </a:p>
                  </a:txBody>
                  <a:tcPr marL="9525" marR="9525" marT="9525" marB="9525" anchor="ctr"/>
                </a:tc>
                <a:extLst>
                  <a:ext uri="{0D108BD9-81ED-4DB2-BD59-A6C34878D82A}">
                    <a16:rowId xmlns:a16="http://schemas.microsoft.com/office/drawing/2014/main" val="2804736802"/>
                  </a:ext>
                </a:extLst>
              </a:tr>
              <a:tr h="594646">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UTI</a:t>
                      </a: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~24% (adult women)</a:t>
                      </a:r>
                    </a:p>
                  </a:txBody>
                  <a:tcPr marL="9525" marR="9525" marT="9525" marB="9525" anchor="ctr"/>
                </a:tc>
                <a:tc>
                  <a:txBody>
                    <a:bodyPr/>
                    <a:lstStyle/>
                    <a:p>
                      <a:pPr algn="ctr">
                        <a:lnSpc>
                          <a:spcPct val="100000"/>
                        </a:lnSpc>
                        <a:spcAft>
                          <a:spcPts val="800"/>
                        </a:spcAft>
                        <a:buNone/>
                      </a:pPr>
                      <a:r>
                        <a:rPr lang="en-IN" sz="1500" kern="100">
                          <a:effectLst/>
                          <a:latin typeface="Calibri" panose="020F0502020204030204" pitchFamily="34" charset="0"/>
                          <a:ea typeface="Calibri" panose="020F0502020204030204" pitchFamily="34" charset="0"/>
                          <a:cs typeface="Calibri" panose="020F0502020204030204" pitchFamily="34" charset="0"/>
                        </a:rPr>
                        <a:t>Variable</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IN" sz="1500" kern="100" dirty="0">
                          <a:effectLst/>
                          <a:latin typeface="Calibri" panose="020F0502020204030204" pitchFamily="34" charset="0"/>
                          <a:ea typeface="Calibri" panose="020F0502020204030204" pitchFamily="34" charset="0"/>
                          <a:cs typeface="Calibri" panose="020F0502020204030204" pitchFamily="34" charset="0"/>
                        </a:rPr>
                        <a:t>Not precisely recorded</a:t>
                      </a: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100,000-150,000</a:t>
                      </a:r>
                    </a:p>
                  </a:txBody>
                  <a:tcPr marL="9525" marR="9525" marT="9525" marB="9525" anchor="ctr"/>
                </a:tc>
                <a:extLst>
                  <a:ext uri="{0D108BD9-81ED-4DB2-BD59-A6C34878D82A}">
                    <a16:rowId xmlns:a16="http://schemas.microsoft.com/office/drawing/2014/main" val="3593123720"/>
                  </a:ext>
                </a:extLst>
              </a:tr>
              <a:tr h="626894">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Liver Disease with bilirubinuria</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NAFLD 9-32% (serious disease much lower)</a:t>
                      </a: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&lt;5%</a:t>
                      </a: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IN" sz="1500" kern="100" dirty="0">
                          <a:effectLst/>
                          <a:latin typeface="Calibri" panose="020F0502020204030204" pitchFamily="34" charset="0"/>
                          <a:ea typeface="Calibri" panose="020F0502020204030204" pitchFamily="34" charset="0"/>
                          <a:cs typeface="Calibri" panose="020F0502020204030204" pitchFamily="34" charset="0"/>
                        </a:rPr>
                        <a:t>~268,000</a:t>
                      </a:r>
                    </a:p>
                    <a:p>
                      <a:pPr algn="ctr">
                        <a:lnSpc>
                          <a:spcPct val="100000"/>
                        </a:lnSpc>
                        <a:spcAft>
                          <a:spcPts val="800"/>
                        </a:spcAft>
                        <a:buNone/>
                      </a:pP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r>
                        <a:rPr lang="en-IN" sz="1500" kern="100" dirty="0">
                          <a:effectLst/>
                          <a:latin typeface="Calibri" panose="020F0502020204030204" pitchFamily="34" charset="0"/>
                          <a:ea typeface="Calibri" panose="020F0502020204030204" pitchFamily="34" charset="0"/>
                          <a:cs typeface="Calibri" panose="020F0502020204030204" pitchFamily="34" charset="0"/>
                        </a:rPr>
                        <a:t>10,000-30,000</a:t>
                      </a:r>
                    </a:p>
                  </a:txBody>
                  <a:tcPr marL="9525" marR="9525" marT="9525" marB="9525" anchor="ctr"/>
                </a:tc>
                <a:extLst>
                  <a:ext uri="{0D108BD9-81ED-4DB2-BD59-A6C34878D82A}">
                    <a16:rowId xmlns:a16="http://schemas.microsoft.com/office/drawing/2014/main" val="2733086041"/>
                  </a:ext>
                </a:extLst>
              </a:tr>
              <a:tr h="420751">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TOTAL</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marL="0" marR="0" lvl="0" indent="0" algn="ctr" defTabSz="914400" rtl="0" eaLnBrk="1" fontAlgn="auto" latinLnBrk="0" hangingPunct="1">
                        <a:lnSpc>
                          <a:spcPct val="100000"/>
                        </a:lnSpc>
                        <a:spcBef>
                          <a:spcPts val="0"/>
                        </a:spcBef>
                        <a:spcAft>
                          <a:spcPts val="800"/>
                        </a:spcAft>
                        <a:buClrTx/>
                        <a:buSzTx/>
                        <a:buFontTx/>
                        <a:buNone/>
                        <a:tabLst/>
                        <a:defRPr/>
                      </a:pPr>
                      <a:r>
                        <a:rPr lang="en-IN" sz="1500" b="1" kern="100" dirty="0">
                          <a:effectLst/>
                          <a:latin typeface="Calibri" panose="020F0502020204030204" pitchFamily="34" charset="0"/>
                          <a:ea typeface="Calibri" panose="020F0502020204030204" pitchFamily="34" charset="0"/>
                          <a:cs typeface="Calibri" panose="020F0502020204030204" pitchFamily="34" charset="0"/>
                        </a:rPr>
                        <a:t>&gt;1.4 million</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tc>
                  <a:txBody>
                    <a:bodyPr/>
                    <a:lstStyle/>
                    <a:p>
                      <a:pPr algn="ctr">
                        <a:lnSpc>
                          <a:spcPct val="100000"/>
                        </a:lnSpc>
                        <a:spcAft>
                          <a:spcPts val="800"/>
                        </a:spcAft>
                        <a:buNone/>
                      </a:pPr>
                      <a:r>
                        <a:rPr lang="en-IN" sz="1500" b="1" kern="100" dirty="0">
                          <a:effectLst/>
                          <a:latin typeface="Calibri" panose="020F0502020204030204" pitchFamily="34" charset="0"/>
                          <a:ea typeface="Calibri" panose="020F0502020204030204" pitchFamily="34" charset="0"/>
                          <a:cs typeface="Calibri" panose="020F0502020204030204" pitchFamily="34" charset="0"/>
                        </a:rPr>
                        <a:t>670,000-1,080,000</a:t>
                      </a:r>
                      <a:endParaRPr lang="en-IN" sz="1500" kern="100" dirty="0">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9525" anchor="ctr"/>
                </a:tc>
                <a:extLst>
                  <a:ext uri="{0D108BD9-81ED-4DB2-BD59-A6C34878D82A}">
                    <a16:rowId xmlns:a16="http://schemas.microsoft.com/office/drawing/2014/main" val="2504581891"/>
                  </a:ext>
                </a:extLst>
              </a:tr>
            </a:tbl>
          </a:graphicData>
        </a:graphic>
      </p:graphicFrame>
      <p:sp>
        <p:nvSpPr>
          <p:cNvPr id="8" name="TextBox 7">
            <a:extLst>
              <a:ext uri="{FF2B5EF4-FFF2-40B4-BE49-F238E27FC236}">
                <a16:creationId xmlns:a16="http://schemas.microsoft.com/office/drawing/2014/main" id="{9138F128-FFA7-DBC9-38F6-3E9AD9E47851}"/>
              </a:ext>
            </a:extLst>
          </p:cNvPr>
          <p:cNvSpPr txBox="1"/>
          <p:nvPr/>
        </p:nvSpPr>
        <p:spPr>
          <a:xfrm>
            <a:off x="11526256" y="641170"/>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F37E72E-F172-D7D4-3DA2-3AFA33D83BD2}"/>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5244AF5E-0D6C-E058-D5B9-C912DD89FBE4}"/>
              </a:ext>
            </a:extLst>
          </p:cNvPr>
          <p:cNvSpPr/>
          <p:nvPr/>
        </p:nvSpPr>
        <p:spPr>
          <a:xfrm>
            <a:off x="-1" y="1314459"/>
            <a:ext cx="12192001" cy="5543541"/>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C7201F7E-2F84-D9C2-DB55-4ECB43ED7AA7}"/>
              </a:ext>
            </a:extLst>
          </p:cNvPr>
          <p:cNvSpPr txBox="1"/>
          <p:nvPr/>
        </p:nvSpPr>
        <p:spPr>
          <a:xfrm>
            <a:off x="520668" y="450933"/>
            <a:ext cx="7364158" cy="7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Calibri"/>
                <a:cs typeface="Calibri"/>
                <a:sym typeface="Calibri"/>
              </a:rPr>
              <a:t>Strip based analysis</a:t>
            </a: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98F8E7B9-8F88-22AB-FA43-5BB2C871D51C}"/>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3</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9788F7BE-2654-E237-28A4-A55B50D1EBA2}"/>
              </a:ext>
            </a:extLst>
          </p:cNvPr>
          <p:cNvSpPr txBox="1"/>
          <p:nvPr/>
        </p:nvSpPr>
        <p:spPr>
          <a:xfrm>
            <a:off x="9804700" y="657819"/>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5" name="Rectangle 1">
            <a:extLst>
              <a:ext uri="{FF2B5EF4-FFF2-40B4-BE49-F238E27FC236}">
                <a16:creationId xmlns:a16="http://schemas.microsoft.com/office/drawing/2014/main" id="{BE20316C-E6AF-E7AE-98D8-0180DA81F481}"/>
              </a:ext>
            </a:extLst>
          </p:cNvPr>
          <p:cNvSpPr>
            <a:spLocks noChangeArrowheads="1"/>
          </p:cNvSpPr>
          <p:nvPr/>
        </p:nvSpPr>
        <p:spPr bwMode="auto">
          <a:xfrm>
            <a:off x="259916" y="1487515"/>
            <a:ext cx="1149072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marR="0" lvl="0" indent="0" algn="just"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rPr>
              <a:t>Strip-based analysis is one of the simplest, fastest, and most cost-effective ways to get a preliminary diagnosis of critical health parameters. Yet, despite its potential for scale, current approaches are riddled with challenges that prevent widespread adoption and reliable use, </a:t>
            </a:r>
            <a:r>
              <a:rPr kumimoji="0" lang="en-US" sz="1600" b="1" i="0" u="none" strike="noStrike" kern="120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rPr>
              <a:t>whether for humans, livestock, or pets</a:t>
            </a:r>
            <a:r>
              <a:rPr kumimoji="0" lang="en-US" sz="1600" b="0" i="0" u="none" strike="noStrike" kern="120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rPr>
              <a:t>.</a:t>
            </a:r>
          </a:p>
          <a:p>
            <a:pPr marL="11430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000000">
                  <a:lumMod val="85000"/>
                  <a:lumOff val="15000"/>
                </a:srgbClr>
              </a:solidFill>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effectLst/>
                <a:highlight>
                  <a:srgbClr val="C0C0C0"/>
                </a:highlight>
                <a:uLnTx/>
                <a:uFillTx/>
                <a:latin typeface="Calibri" panose="020F0502020204030204" pitchFamily="34" charset="0"/>
                <a:ea typeface="Calibri" panose="020F0502020204030204" pitchFamily="34" charset="0"/>
                <a:cs typeface="Calibri" panose="020F0502020204030204" pitchFamily="34" charset="0"/>
              </a:rPr>
              <a:t>Challenges with Current Approaches:</a:t>
            </a:r>
          </a:p>
          <a:p>
            <a:pPr marL="11430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C8C1667-8D4F-6962-1B77-7D41702A3A73}"/>
              </a:ext>
            </a:extLst>
          </p:cNvPr>
          <p:cNvSpPr txBox="1"/>
          <p:nvPr/>
        </p:nvSpPr>
        <p:spPr>
          <a:xfrm>
            <a:off x="611390" y="2749514"/>
            <a:ext cx="10969216" cy="279402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numCol="3" spcCol="457200">
            <a:spAutoFit/>
          </a:bodyPr>
          <a:lstStyle/>
          <a:p>
            <a:r>
              <a:rPr lang="en-IN" sz="1600" b="1" dirty="0">
                <a:latin typeface="Calibri" panose="020F0502020204030204" pitchFamily="34" charset="0"/>
                <a:ea typeface="Calibri" panose="020F0502020204030204" pitchFamily="34" charset="0"/>
                <a:cs typeface="Calibri" panose="020F0502020204030204" pitchFamily="34" charset="0"/>
              </a:rPr>
              <a:t>1: Manual Reading</a:t>
            </a:r>
          </a:p>
          <a:p>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Error-prone (depends on lighting, colour perception, human judgment)</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Slow (requires reading strips carefully at precise intervals)</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Requires trained personnel (not scalable for home/field use)</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Not scalable for mass screening programs</a:t>
            </a:r>
          </a:p>
          <a:p>
            <a:pPr lvl="0"/>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b="1" dirty="0">
                <a:latin typeface="Calibri" panose="020F0502020204030204" pitchFamily="34" charset="0"/>
                <a:ea typeface="Calibri" panose="020F0502020204030204" pitchFamily="34" charset="0"/>
                <a:cs typeface="Calibri" panose="020F0502020204030204" pitchFamily="34" charset="0"/>
              </a:rPr>
              <a:t>2: Imported Machines</a:t>
            </a:r>
          </a:p>
          <a:p>
            <a:pPr marL="342900" indent="-342900">
              <a:buFont typeface="+mj-lt"/>
              <a:buAutoNum type="arabicPeriod"/>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Expensive (₹1-2 lakh per analyser)</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Dominated by foreign brands (Siemens, Roche, Abbott, Menarini)</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Usually single-purpose (proprietary strip dependency)</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Lab-bound (require electricity, stable environment)</a:t>
            </a:r>
          </a:p>
          <a:p>
            <a:endParaRPr lang="en-IN" sz="1600" dirty="0">
              <a:latin typeface="Calibri" panose="020F0502020204030204" pitchFamily="34" charset="0"/>
              <a:ea typeface="Calibri" panose="020F0502020204030204" pitchFamily="34" charset="0"/>
              <a:cs typeface="Calibri" panose="020F0502020204030204" pitchFamily="34" charset="0"/>
            </a:endParaRPr>
          </a:p>
          <a:p>
            <a:endParaRPr lang="en-IN" sz="1600" dirty="0">
              <a:latin typeface="Calibri" panose="020F0502020204030204" pitchFamily="34" charset="0"/>
              <a:ea typeface="Calibri" panose="020F0502020204030204" pitchFamily="34" charset="0"/>
              <a:cs typeface="Calibri" panose="020F0502020204030204" pitchFamily="34" charset="0"/>
            </a:endParaRPr>
          </a:p>
          <a:p>
            <a:r>
              <a:rPr lang="en-IN" sz="1600" b="1" dirty="0">
                <a:latin typeface="Calibri" panose="020F0502020204030204" pitchFamily="34" charset="0"/>
                <a:ea typeface="Calibri" panose="020F0502020204030204" pitchFamily="34" charset="0"/>
                <a:cs typeface="Calibri" panose="020F0502020204030204" pitchFamily="34" charset="0"/>
              </a:rPr>
              <a:t>3: Lab-Based Testing</a:t>
            </a:r>
          </a:p>
          <a:p>
            <a:pPr marL="342900" indent="-342900">
              <a:buFont typeface="+mj-lt"/>
              <a:buAutoNum type="arabicPeriod"/>
            </a:pPr>
            <a:endParaRPr lang="en-IN" sz="1600"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Infrastructure-dependent</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24-48 hour delays for results</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Centralized data (no real-time health visibility)</a:t>
            </a:r>
          </a:p>
          <a:p>
            <a:pPr marL="285750" lvl="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High costs for patients</a:t>
            </a:r>
          </a:p>
        </p:txBody>
      </p:sp>
      <p:sp>
        <p:nvSpPr>
          <p:cNvPr id="12" name="Rectangle: Rounded Corners 11">
            <a:extLst>
              <a:ext uri="{FF2B5EF4-FFF2-40B4-BE49-F238E27FC236}">
                <a16:creationId xmlns:a16="http://schemas.microsoft.com/office/drawing/2014/main" id="{22B3F7DF-E12C-722A-EF31-D9C3C27E97C3}"/>
              </a:ext>
            </a:extLst>
          </p:cNvPr>
          <p:cNvSpPr/>
          <p:nvPr/>
        </p:nvSpPr>
        <p:spPr>
          <a:xfrm>
            <a:off x="520668" y="5583783"/>
            <a:ext cx="10923854" cy="830997"/>
          </a:xfrm>
          <a:prstGeom prst="roundRect">
            <a:avLst/>
          </a:prstGeom>
          <a:solidFill>
            <a:schemeClr val="bg1">
              <a:lumMod val="95000"/>
            </a:schemeClr>
          </a:solidFill>
          <a:ln w="25400" cap="flat">
            <a:solidFill>
              <a:schemeClr val="bg1">
                <a:lumMod val="50000"/>
              </a:schemeClr>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chemeClr val="bg1">
                  <a:lumMod val="75000"/>
                </a:schemeClr>
              </a:solidFill>
              <a:effectLst/>
              <a:uFillTx/>
              <a:latin typeface="+mn-lt"/>
              <a:ea typeface="+mn-ea"/>
              <a:cs typeface="+mn-cs"/>
              <a:sym typeface="Arial"/>
            </a:endParaRPr>
          </a:p>
        </p:txBody>
      </p:sp>
      <p:sp>
        <p:nvSpPr>
          <p:cNvPr id="14" name="TextBox 13">
            <a:extLst>
              <a:ext uri="{FF2B5EF4-FFF2-40B4-BE49-F238E27FC236}">
                <a16:creationId xmlns:a16="http://schemas.microsoft.com/office/drawing/2014/main" id="{DB349E6B-097D-76CF-AE71-8C129F07B899}"/>
              </a:ext>
            </a:extLst>
          </p:cNvPr>
          <p:cNvSpPr txBox="1"/>
          <p:nvPr/>
        </p:nvSpPr>
        <p:spPr>
          <a:xfrm>
            <a:off x="747475" y="5563715"/>
            <a:ext cx="10697047"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Impact:</a:t>
            </a:r>
          </a:p>
          <a:p>
            <a:pPr marL="11430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pitchFamily="34" charset="0"/>
                <a:ea typeface="Calibri" panose="020F0502020204030204" pitchFamily="34" charset="0"/>
                <a:cs typeface="Calibri" panose="020F0502020204030204" pitchFamily="34" charset="0"/>
              </a:rPr>
              <a:t>Patients, farmers, and pet owners end up paying more, waiting longer, and health systems lose the chance for real-time, scalable diagnostics.</a:t>
            </a:r>
          </a:p>
        </p:txBody>
      </p:sp>
      <p:sp>
        <p:nvSpPr>
          <p:cNvPr id="7" name="TextBox 6">
            <a:extLst>
              <a:ext uri="{FF2B5EF4-FFF2-40B4-BE49-F238E27FC236}">
                <a16:creationId xmlns:a16="http://schemas.microsoft.com/office/drawing/2014/main" id="{77CA5511-FE81-1473-BD83-78D488101DA2}"/>
              </a:ext>
            </a:extLst>
          </p:cNvPr>
          <p:cNvSpPr txBox="1"/>
          <p:nvPr/>
        </p:nvSpPr>
        <p:spPr>
          <a:xfrm>
            <a:off x="11750370" y="634918"/>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11092864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185" name="Rectangle"/>
          <p:cNvSpPr/>
          <p:nvPr/>
        </p:nvSpPr>
        <p:spPr>
          <a:xfrm>
            <a:off x="-8781" y="3732551"/>
            <a:ext cx="12209561" cy="3142730"/>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Our vision"/>
          <p:cNvSpPr txBox="1"/>
          <p:nvPr/>
        </p:nvSpPr>
        <p:spPr>
          <a:xfrm>
            <a:off x="499300" y="365125"/>
            <a:ext cx="4072700"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fontScale="85000" lnSpcReduction="10000"/>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IN" sz="3200" b="1" i="0" u="none" strike="noStrike" kern="0" cap="none" spc="0" normalizeH="0" baseline="0" noProof="0" dirty="0">
                <a:ln>
                  <a:noFill/>
                </a:ln>
                <a:solidFill>
                  <a:srgbClr val="FFFFFF"/>
                </a:solidFill>
                <a:effectLst/>
                <a:uLnTx/>
                <a:uFillTx/>
                <a:latin typeface="Calibri"/>
                <a:ea typeface="Calibri"/>
                <a:cs typeface="Calibri"/>
                <a:sym typeface="Calibri"/>
              </a:rPr>
              <a:t>BillionTests: Introduction</a:t>
            </a:r>
            <a:endParaRPr kumimoji="0" sz="32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193" name="Line"/>
          <p:cNvSpPr/>
          <p:nvPr/>
        </p:nvSpPr>
        <p:spPr>
          <a:xfrm>
            <a:off x="581876" y="979043"/>
            <a:ext cx="5674700" cy="1"/>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 name="BillionTests">
            <a:extLst>
              <a:ext uri="{FF2B5EF4-FFF2-40B4-BE49-F238E27FC236}">
                <a16:creationId xmlns:a16="http://schemas.microsoft.com/office/drawing/2014/main" id="{A116E2CF-8354-AD69-1568-5D758E2FDCEA}"/>
              </a:ext>
            </a:extLst>
          </p:cNvPr>
          <p:cNvSpPr txBox="1"/>
          <p:nvPr/>
        </p:nvSpPr>
        <p:spPr>
          <a:xfrm>
            <a:off x="9784958" y="609711"/>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3" name="Google Shape;132;p18" descr="Google Shape;132;p18"/>
          <p:cNvPicPr>
            <a:picLocks noChangeAspect="1"/>
          </p:cNvPicPr>
          <p:nvPr/>
        </p:nvPicPr>
        <p:blipFill>
          <a:blip r:embed="rId2"/>
          <a:srcRect l="12947" t="13947" r="9119" b="16439"/>
          <a:stretch>
            <a:fillRect/>
          </a:stretch>
        </p:blipFill>
        <p:spPr>
          <a:xfrm>
            <a:off x="7528316" y="3769457"/>
            <a:ext cx="2256642" cy="2083377"/>
          </a:xfrm>
          <a:prstGeom prst="rect">
            <a:avLst/>
          </a:prstGeom>
          <a:ln w="12700">
            <a:miter lim="400000"/>
          </a:ln>
        </p:spPr>
      </p:pic>
      <p:pic>
        <p:nvPicPr>
          <p:cNvPr id="4" name="Google Shape;137;p18" descr="Google Shape;137;p18"/>
          <p:cNvPicPr>
            <a:picLocks noChangeAspect="1"/>
          </p:cNvPicPr>
          <p:nvPr/>
        </p:nvPicPr>
        <p:blipFill>
          <a:blip r:embed="rId3"/>
          <a:srcRect b="9118"/>
          <a:stretch>
            <a:fillRect/>
          </a:stretch>
        </p:blipFill>
        <p:spPr>
          <a:xfrm>
            <a:off x="2174769" y="3863904"/>
            <a:ext cx="2488914" cy="1988930"/>
          </a:xfrm>
          <a:prstGeom prst="rect">
            <a:avLst/>
          </a:prstGeom>
          <a:ln w="12700">
            <a:miter lim="400000"/>
          </a:ln>
        </p:spPr>
      </p:pic>
      <p:sp>
        <p:nvSpPr>
          <p:cNvPr id="6" name="Google Shape;139;p18"/>
          <p:cNvSpPr txBox="1"/>
          <p:nvPr/>
        </p:nvSpPr>
        <p:spPr>
          <a:xfrm>
            <a:off x="2174768" y="5925331"/>
            <a:ext cx="2488914" cy="646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699" tIns="45699" rIns="45699" bIns="45699">
            <a:spAutoFit/>
          </a:bodyPr>
          <a:lstStyle>
            <a:lvl1pPr>
              <a:defRPr sz="1800">
                <a:solidFill>
                  <a:srgbClr val="222222"/>
                </a:solidFill>
                <a:latin typeface="Calibri"/>
                <a:ea typeface="Calibri"/>
                <a:cs typeface="Calibri"/>
                <a:sym typeface="Calibri"/>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222222"/>
                </a:solidFill>
                <a:effectLst/>
                <a:uLnTx/>
                <a:uFillTx/>
                <a:latin typeface="Calibri"/>
                <a:ea typeface="Calibri"/>
                <a:cs typeface="Calibri"/>
                <a:sym typeface="Calibri"/>
              </a:rPr>
              <a:t>Manual and error-prone </a:t>
            </a:r>
            <a:endParaRPr kumimoji="0" lang="en-IN" sz="1800" b="1" i="0" u="none" strike="noStrike" kern="0" cap="none" spc="0" normalizeH="0" baseline="0" noProof="0" dirty="0">
              <a:ln>
                <a:noFill/>
              </a:ln>
              <a:solidFill>
                <a:srgbClr val="222222"/>
              </a:solidFill>
              <a:effectLst/>
              <a:uLnTx/>
              <a:uFillTx/>
              <a:latin typeface="Calibri"/>
              <a:ea typeface="Calibri"/>
              <a:cs typeface="Calibri"/>
              <a:sym typeface="Calibri"/>
            </a:endParaRPr>
          </a:p>
          <a:p>
            <a:pPr marL="0" marR="0" lvl="0" indent="0" algn="ctr" defTabSz="914400" rtl="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222222"/>
                </a:solidFill>
                <a:effectLst/>
                <a:uLnTx/>
                <a:uFillTx/>
                <a:latin typeface="Calibri"/>
                <a:ea typeface="Calibri"/>
                <a:cs typeface="Calibri"/>
                <a:sym typeface="Calibri"/>
              </a:rPr>
              <a:t>assessment</a:t>
            </a:r>
            <a:endParaRPr kumimoji="0" lang="en-IN" sz="1800" b="1" i="0" u="none" strike="noStrike" kern="0" cap="none" spc="0" normalizeH="0" baseline="0" noProof="0" dirty="0">
              <a:ln>
                <a:noFill/>
              </a:ln>
              <a:solidFill>
                <a:srgbClr val="222222"/>
              </a:solidFill>
              <a:effectLst/>
              <a:uLnTx/>
              <a:uFillTx/>
              <a:latin typeface="Calibri"/>
              <a:ea typeface="Calibri"/>
              <a:cs typeface="Calibri"/>
              <a:sym typeface="Calibri"/>
            </a:endParaRPr>
          </a:p>
        </p:txBody>
      </p:sp>
      <p:sp>
        <p:nvSpPr>
          <p:cNvPr id="7" name="Google Shape;140;p18"/>
          <p:cNvSpPr txBox="1"/>
          <p:nvPr/>
        </p:nvSpPr>
        <p:spPr>
          <a:xfrm>
            <a:off x="7528316" y="5925331"/>
            <a:ext cx="2256642" cy="6462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699" tIns="45699" rIns="45699" bIns="45699">
            <a:spAutoFit/>
          </a:bodyPr>
          <a:lstStyle>
            <a:lvl1pPr>
              <a:defRPr sz="1800">
                <a:solidFill>
                  <a:srgbClr val="222222"/>
                </a:solidFill>
                <a:latin typeface="Calibri"/>
                <a:ea typeface="Calibri"/>
                <a:cs typeface="Calibri"/>
                <a:sym typeface="Calibri"/>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1800" b="1" i="0" u="none" strike="noStrike" kern="0" cap="none" spc="0" normalizeH="0" baseline="0" noProof="0" dirty="0">
                <a:ln>
                  <a:noFill/>
                </a:ln>
                <a:solidFill>
                  <a:srgbClr val="222222"/>
                </a:solidFill>
                <a:effectLst/>
                <a:uLnTx/>
                <a:uFillTx/>
                <a:latin typeface="Calibri"/>
                <a:ea typeface="Calibri"/>
                <a:cs typeface="Calibri"/>
                <a:sym typeface="Calibri"/>
              </a:rPr>
              <a:t>Automated and accurate Assessmen</a:t>
            </a:r>
            <a:r>
              <a:rPr kumimoji="0" lang="en-US" sz="1800" b="1" i="0" u="none" strike="noStrike" kern="0" cap="none" spc="0" normalizeH="0" baseline="0" noProof="0" dirty="0">
                <a:ln>
                  <a:noFill/>
                </a:ln>
                <a:solidFill>
                  <a:srgbClr val="222222"/>
                </a:solidFill>
                <a:effectLst/>
                <a:uLnTx/>
                <a:uFillTx/>
                <a:latin typeface="Calibri"/>
                <a:ea typeface="Calibri"/>
                <a:cs typeface="Calibri"/>
                <a:sym typeface="Calibri"/>
              </a:rPr>
              <a:t>t</a:t>
            </a:r>
            <a:endParaRPr kumimoji="0" sz="1800" b="1" i="0" u="none" strike="noStrike" kern="0" cap="none" spc="0" normalizeH="0" baseline="0" noProof="0" dirty="0">
              <a:ln>
                <a:noFill/>
              </a:ln>
              <a:solidFill>
                <a:srgbClr val="222222"/>
              </a:solidFill>
              <a:effectLst/>
              <a:uLnTx/>
              <a:uFillTx/>
              <a:latin typeface="Calibri"/>
              <a:ea typeface="Calibri"/>
              <a:cs typeface="Calibri"/>
              <a:sym typeface="Calibri"/>
            </a:endParaRPr>
          </a:p>
        </p:txBody>
      </p:sp>
      <p:sp>
        <p:nvSpPr>
          <p:cNvPr id="8" name="Google Shape;141;p18"/>
          <p:cNvSpPr txBox="1"/>
          <p:nvPr/>
        </p:nvSpPr>
        <p:spPr>
          <a:xfrm>
            <a:off x="6169786" y="5925331"/>
            <a:ext cx="520438" cy="3692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spAutoFit/>
          </a:bodyPr>
          <a:lstStyle>
            <a:lvl1pPr>
              <a:defRPr sz="1800">
                <a:solidFill>
                  <a:srgbClr val="222222"/>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1800" b="0" i="0" u="none" strike="noStrike" kern="0" cap="none" spc="0" normalizeH="0" baseline="0" noProof="0" dirty="0">
                <a:ln>
                  <a:noFill/>
                </a:ln>
                <a:solidFill>
                  <a:srgbClr val="222222"/>
                </a:solidFill>
                <a:effectLst/>
                <a:uLnTx/>
                <a:uFillTx/>
                <a:latin typeface="Calibri"/>
                <a:ea typeface="Calibri"/>
                <a:cs typeface="Calibri"/>
                <a:sym typeface="Calibri"/>
              </a:rPr>
              <a:t>   </a:t>
            </a:r>
            <a:r>
              <a:rPr kumimoji="0" sz="1800" b="0" i="0" u="none" strike="noStrike" kern="0" cap="none" spc="0" normalizeH="0" baseline="0" noProof="0" dirty="0">
                <a:ln>
                  <a:noFill/>
                </a:ln>
                <a:solidFill>
                  <a:srgbClr val="222222"/>
                </a:solidFill>
                <a:effectLst/>
                <a:uLnTx/>
                <a:uFillTx/>
                <a:latin typeface="Calibri"/>
                <a:ea typeface="Calibri"/>
                <a:cs typeface="Calibri"/>
                <a:sym typeface="Calibri"/>
              </a:rPr>
              <a:t>to</a:t>
            </a:r>
          </a:p>
        </p:txBody>
      </p:sp>
      <p:pic>
        <p:nvPicPr>
          <p:cNvPr id="9" name="Screenshot 2024-09-30 at 12.33.50 PM.png" descr="Screenshot 2024-09-30 at 12.33.50 PM.png"/>
          <p:cNvPicPr>
            <a:picLocks noChangeAspect="1"/>
          </p:cNvPicPr>
          <p:nvPr/>
        </p:nvPicPr>
        <p:blipFill>
          <a:blip r:embed="rId4">
            <a:alphaModFix amt="51628"/>
          </a:blip>
          <a:stretch>
            <a:fillRect/>
          </a:stretch>
        </p:blipFill>
        <p:spPr>
          <a:xfrm>
            <a:off x="6035039" y="4810498"/>
            <a:ext cx="861497" cy="417954"/>
          </a:xfrm>
          <a:prstGeom prst="rect">
            <a:avLst/>
          </a:prstGeom>
          <a:ln w="12700">
            <a:miter lim="400000"/>
          </a:ln>
        </p:spPr>
      </p:pic>
      <p:sp>
        <p:nvSpPr>
          <p:cNvPr id="10" name="TextBox 9">
            <a:extLst>
              <a:ext uri="{FF2B5EF4-FFF2-40B4-BE49-F238E27FC236}">
                <a16:creationId xmlns:a16="http://schemas.microsoft.com/office/drawing/2014/main" id="{4CDC86C7-7418-EED6-A7D1-49E7D0A97D2C}"/>
              </a:ext>
            </a:extLst>
          </p:cNvPr>
          <p:cNvSpPr txBox="1"/>
          <p:nvPr/>
        </p:nvSpPr>
        <p:spPr>
          <a:xfrm>
            <a:off x="4828723" y="3966812"/>
            <a:ext cx="3202565" cy="646331"/>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IN" sz="1800" b="1" i="0" u="none" strike="noStrike" kern="0" cap="none" spc="0" normalizeH="0" baseline="0" noProof="0" dirty="0">
                <a:ln>
                  <a:noFill/>
                </a:ln>
                <a:solidFill>
                  <a:srgbClr val="000000">
                    <a:lumMod val="85000"/>
                    <a:lumOff val="15000"/>
                  </a:srgbClr>
                </a:solidFill>
                <a:effectLst/>
                <a:uLnTx/>
                <a:uFillTx/>
                <a:latin typeface="Calibri" panose="020F0502020204030204" pitchFamily="34" charset="0"/>
                <a:ea typeface="Calibri" panose="020F0502020204030204" pitchFamily="34" charset="0"/>
                <a:cs typeface="Calibri" panose="020F0502020204030204" pitchFamily="34" charset="0"/>
                <a:sym typeface="Arial"/>
              </a:rPr>
              <a:t>Transformation of strip based testing  </a:t>
            </a:r>
          </a:p>
        </p:txBody>
      </p:sp>
      <p:sp>
        <p:nvSpPr>
          <p:cNvPr id="5" name="Content Placeholder 2">
            <a:extLst>
              <a:ext uri="{FF2B5EF4-FFF2-40B4-BE49-F238E27FC236}">
                <a16:creationId xmlns:a16="http://schemas.microsoft.com/office/drawing/2014/main" id="{22F78C2A-0B57-0653-7502-584C6864304D}"/>
              </a:ext>
            </a:extLst>
          </p:cNvPr>
          <p:cNvSpPr>
            <a:spLocks noGrp="1"/>
          </p:cNvSpPr>
          <p:nvPr>
            <p:ph type="body" idx="1"/>
          </p:nvPr>
        </p:nvSpPr>
        <p:spPr>
          <a:xfrm>
            <a:off x="506423" y="1242422"/>
            <a:ext cx="10983212" cy="2027511"/>
          </a:xfrm>
        </p:spPr>
        <p:txBody>
          <a:bodyPr>
            <a:noAutofit/>
          </a:bodyPr>
          <a:lstStyle/>
          <a:p>
            <a:pPr marL="114300" indent="0">
              <a:buNone/>
            </a:pPr>
            <a:r>
              <a:rPr lang="en-IN" sz="1600" dirty="0">
                <a:solidFill>
                  <a:schemeClr val="bg1"/>
                </a:solidFill>
              </a:rPr>
              <a:t>BillionTests.AI is India's first </a:t>
            </a:r>
            <a:r>
              <a:rPr lang="en-IN" sz="1600" b="1" dirty="0">
                <a:solidFill>
                  <a:schemeClr val="bg1"/>
                </a:solidFill>
              </a:rPr>
              <a:t>universal, AI-powered automated test-strip reading platform</a:t>
            </a:r>
            <a:r>
              <a:rPr lang="en-IN" sz="1600" dirty="0">
                <a:solidFill>
                  <a:schemeClr val="bg1"/>
                </a:solidFill>
              </a:rPr>
              <a:t> that combines:</a:t>
            </a:r>
          </a:p>
          <a:p>
            <a:pPr>
              <a:buClr>
                <a:schemeClr val="bg1"/>
              </a:buClr>
            </a:pPr>
            <a:r>
              <a:rPr lang="en-IN" sz="1600" b="1" dirty="0">
                <a:solidFill>
                  <a:schemeClr val="bg1"/>
                </a:solidFill>
              </a:rPr>
              <a:t>Computer Vision AI + </a:t>
            </a:r>
            <a:r>
              <a:rPr lang="en-US" altLang="en-US" sz="1600" b="1" dirty="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rPr>
              <a:t>classical image processing</a:t>
            </a:r>
            <a:r>
              <a:rPr lang="en-IN" sz="1600" dirty="0">
                <a:solidFill>
                  <a:schemeClr val="bg1"/>
                </a:solidFill>
              </a:rPr>
              <a:t> – Trained on 100,000+ images for 98%+ accuracy</a:t>
            </a:r>
          </a:p>
          <a:p>
            <a:pPr>
              <a:buClr>
                <a:schemeClr val="bg1"/>
              </a:buClr>
            </a:pPr>
            <a:r>
              <a:rPr lang="en-IN" sz="1600" b="1" dirty="0">
                <a:solidFill>
                  <a:schemeClr val="bg1"/>
                </a:solidFill>
              </a:rPr>
              <a:t>IoT Connectivity</a:t>
            </a:r>
            <a:r>
              <a:rPr lang="en-IN" sz="1600" dirty="0">
                <a:solidFill>
                  <a:schemeClr val="bg1"/>
                </a:solidFill>
              </a:rPr>
              <a:t> – Real-time data sync with health systems</a:t>
            </a:r>
          </a:p>
          <a:p>
            <a:pPr>
              <a:buClr>
                <a:schemeClr val="bg1"/>
              </a:buClr>
            </a:pPr>
            <a:r>
              <a:rPr lang="en-IN" sz="1600" b="1" dirty="0">
                <a:solidFill>
                  <a:schemeClr val="bg1"/>
                </a:solidFill>
              </a:rPr>
              <a:t>Blockchain Security</a:t>
            </a:r>
            <a:r>
              <a:rPr lang="en-IN" sz="1600" dirty="0">
                <a:solidFill>
                  <a:schemeClr val="bg1"/>
                </a:solidFill>
              </a:rPr>
              <a:t> – Tamper-proof, verifiable test records</a:t>
            </a:r>
          </a:p>
        </p:txBody>
      </p:sp>
      <p:sp>
        <p:nvSpPr>
          <p:cNvPr id="12" name="TextBox 11">
            <a:extLst>
              <a:ext uri="{FF2B5EF4-FFF2-40B4-BE49-F238E27FC236}">
                <a16:creationId xmlns:a16="http://schemas.microsoft.com/office/drawing/2014/main" id="{7C6C5612-56DF-B07D-5839-938E6FF08E1E}"/>
              </a:ext>
            </a:extLst>
          </p:cNvPr>
          <p:cNvSpPr txBox="1"/>
          <p:nvPr/>
        </p:nvSpPr>
        <p:spPr>
          <a:xfrm>
            <a:off x="11730628" y="609711"/>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3694550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BF5AA8C-C0FF-5F2F-03BC-FD0BDFC81BA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DB3CA48-E5ED-D1ED-691C-F792D19C879B}"/>
              </a:ext>
            </a:extLst>
          </p:cNvPr>
          <p:cNvSpPr/>
          <p:nvPr/>
        </p:nvSpPr>
        <p:spPr>
          <a:xfrm>
            <a:off x="729260" y="5521386"/>
            <a:ext cx="5466078" cy="355844"/>
          </a:xfrm>
          <a:prstGeom prst="roundRect">
            <a:avLst/>
          </a:prstGeom>
          <a:solidFill>
            <a:srgbClr val="4B2269"/>
          </a:solidFill>
          <a:ln w="25400" cap="flat">
            <a:solidFill>
              <a:schemeClr val="bg1">
                <a:lumMod val="50000"/>
              </a:schemeClr>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a:ln>
                <a:noFill/>
              </a:ln>
              <a:solidFill>
                <a:srgbClr val="000000"/>
              </a:solidFill>
              <a:effectLst/>
              <a:uFillTx/>
              <a:latin typeface="+mn-lt"/>
              <a:ea typeface="+mn-ea"/>
              <a:cs typeface="+mn-cs"/>
              <a:sym typeface="Arial"/>
            </a:endParaRPr>
          </a:p>
        </p:txBody>
      </p:sp>
      <p:sp>
        <p:nvSpPr>
          <p:cNvPr id="272" name="Rectangle">
            <a:extLst>
              <a:ext uri="{FF2B5EF4-FFF2-40B4-BE49-F238E27FC236}">
                <a16:creationId xmlns:a16="http://schemas.microsoft.com/office/drawing/2014/main" id="{8CA16AE3-A7D5-888C-EA97-4EF042BF9104}"/>
              </a:ext>
            </a:extLst>
          </p:cNvPr>
          <p:cNvSpPr/>
          <p:nvPr/>
        </p:nvSpPr>
        <p:spPr>
          <a:xfrm>
            <a:off x="7062762" y="-1"/>
            <a:ext cx="5120272" cy="6858002"/>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4" name="Solution Overview">
            <a:extLst>
              <a:ext uri="{FF2B5EF4-FFF2-40B4-BE49-F238E27FC236}">
                <a16:creationId xmlns:a16="http://schemas.microsoft.com/office/drawing/2014/main" id="{08B28878-09A6-C2BE-49F0-15D04EB2FCA2}"/>
              </a:ext>
            </a:extLst>
          </p:cNvPr>
          <p:cNvSpPr txBox="1"/>
          <p:nvPr/>
        </p:nvSpPr>
        <p:spPr>
          <a:xfrm>
            <a:off x="506422" y="420673"/>
            <a:ext cx="4970145" cy="555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lvl="0" hangingPunct="0">
              <a:defRPr/>
            </a:pPr>
            <a:r>
              <a:rPr lang="en-IN" sz="3200" b="1" dirty="0"/>
              <a:t>BillionTests.AI: Introduction</a:t>
            </a:r>
            <a:endParaRPr kumimoji="0" sz="32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276" name="Line">
            <a:extLst>
              <a:ext uri="{FF2B5EF4-FFF2-40B4-BE49-F238E27FC236}">
                <a16:creationId xmlns:a16="http://schemas.microsoft.com/office/drawing/2014/main" id="{DE1EA1FA-374C-EAD7-3F60-6519D19A81BB}"/>
              </a:ext>
            </a:extLst>
          </p:cNvPr>
          <p:cNvSpPr/>
          <p:nvPr/>
        </p:nvSpPr>
        <p:spPr>
          <a:xfrm flipV="1">
            <a:off x="527587" y="976059"/>
            <a:ext cx="4948980" cy="4711"/>
          </a:xfrm>
          <a:prstGeom prst="line">
            <a:avLst/>
          </a:prstGeom>
          <a:ln w="25400">
            <a:solidFill>
              <a:schemeClr val="bg2"/>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8" name="Slide Number">
            <a:extLst>
              <a:ext uri="{FF2B5EF4-FFF2-40B4-BE49-F238E27FC236}">
                <a16:creationId xmlns:a16="http://schemas.microsoft.com/office/drawing/2014/main" id="{FA484B66-3006-9D85-6C1B-90FF4046005D}"/>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5</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80" name="Use our intuitive mobile app to guide users in performing the test correctly.">
            <a:extLst>
              <a:ext uri="{FF2B5EF4-FFF2-40B4-BE49-F238E27FC236}">
                <a16:creationId xmlns:a16="http://schemas.microsoft.com/office/drawing/2014/main" id="{5EF90571-F187-44FC-F463-4B4FF6293785}"/>
              </a:ext>
            </a:extLst>
          </p:cNvPr>
          <p:cNvSpPr txBox="1"/>
          <p:nvPr/>
        </p:nvSpPr>
        <p:spPr>
          <a:xfrm>
            <a:off x="729260" y="2576821"/>
            <a:ext cx="4038881"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spcBef>
                <a:spcPts val="1000"/>
              </a:spcBef>
              <a:buClr>
                <a:srgbClr val="000000"/>
              </a:buClr>
              <a:buFont typeface="Arial"/>
              <a:defRPr sz="2000">
                <a:solidFill>
                  <a:srgbClr val="EBEBEB"/>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1000"/>
              </a:spcBef>
              <a:spcAft>
                <a:spcPts val="0"/>
              </a:spcAft>
              <a:buClr>
                <a:srgbClr val="000000"/>
              </a:buClr>
              <a:buSzTx/>
              <a:buFont typeface="Arial"/>
              <a:buNone/>
              <a:tabLst/>
              <a:defRPr/>
            </a:pPr>
            <a:endParaRPr kumimoji="0" sz="2000" b="0" i="0" u="none" strike="noStrike" kern="0" cap="none" spc="0" normalizeH="0" baseline="0" noProof="0" dirty="0">
              <a:ln>
                <a:noFill/>
              </a:ln>
              <a:solidFill>
                <a:srgbClr val="EBEBEB"/>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91DFBC8F-BC05-717C-0DAD-924FFADCF671}"/>
              </a:ext>
            </a:extLst>
          </p:cNvPr>
          <p:cNvSpPr txBox="1"/>
          <p:nvPr/>
        </p:nvSpPr>
        <p:spPr>
          <a:xfrm>
            <a:off x="9931816" y="540428"/>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7" name="Content Placeholder 2">
            <a:extLst>
              <a:ext uri="{FF2B5EF4-FFF2-40B4-BE49-F238E27FC236}">
                <a16:creationId xmlns:a16="http://schemas.microsoft.com/office/drawing/2014/main" id="{25062089-5322-DB73-062B-91AEAE98663C}"/>
              </a:ext>
            </a:extLst>
          </p:cNvPr>
          <p:cNvSpPr>
            <a:spLocks noGrp="1"/>
          </p:cNvSpPr>
          <p:nvPr>
            <p:ph type="body" idx="1"/>
          </p:nvPr>
        </p:nvSpPr>
        <p:spPr>
          <a:xfrm>
            <a:off x="506423" y="1242422"/>
            <a:ext cx="5863464" cy="5003717"/>
          </a:xfrm>
        </p:spPr>
        <p:txBody>
          <a:bodyPr>
            <a:noAutofit/>
          </a:bodyPr>
          <a:lstStyle/>
          <a:p>
            <a:pPr marL="114300" indent="0">
              <a:buNone/>
            </a:pPr>
            <a:r>
              <a:rPr lang="en-IN" sz="1600" dirty="0">
                <a:solidFill>
                  <a:schemeClr val="bg1"/>
                </a:solidFill>
              </a:rPr>
              <a:t>The platform delivers lab-grade accuracy at field-level affordability, addressing critical gaps in India's preventive healthcare infrastructure.</a:t>
            </a:r>
          </a:p>
          <a:p>
            <a:pPr marL="114300" indent="0">
              <a:buNone/>
            </a:pPr>
            <a:endParaRPr lang="en-IN" sz="1600" dirty="0">
              <a:solidFill>
                <a:schemeClr val="bg1"/>
              </a:solidFill>
            </a:endParaRPr>
          </a:p>
        </p:txBody>
      </p:sp>
      <p:sp>
        <p:nvSpPr>
          <p:cNvPr id="8" name="TextBox 7">
            <a:extLst>
              <a:ext uri="{FF2B5EF4-FFF2-40B4-BE49-F238E27FC236}">
                <a16:creationId xmlns:a16="http://schemas.microsoft.com/office/drawing/2014/main" id="{4F917AB9-C1B4-BF03-35EB-D68ABA9AB074}"/>
              </a:ext>
            </a:extLst>
          </p:cNvPr>
          <p:cNvSpPr txBox="1"/>
          <p:nvPr/>
        </p:nvSpPr>
        <p:spPr>
          <a:xfrm>
            <a:off x="7230829" y="1051236"/>
            <a:ext cx="4784138" cy="538609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indent="0">
              <a:buNone/>
            </a:pPr>
            <a:r>
              <a:rPr lang="en-IN" sz="2000" b="1" dirty="0">
                <a:latin typeface="Calibri" panose="020F0502020204030204" pitchFamily="34" charset="0"/>
                <a:ea typeface="Calibri" panose="020F0502020204030204" pitchFamily="34" charset="0"/>
                <a:cs typeface="Calibri" panose="020F0502020204030204" pitchFamily="34" charset="0"/>
              </a:rPr>
              <a:t>Key Differentiators:</a:t>
            </a:r>
            <a:endParaRPr lang="en-IN" sz="2000"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Works with all standard urine test strips licensed under CDSCO</a:t>
            </a:r>
          </a:p>
          <a:p>
            <a:pPr marL="285750" lvl="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98% accuracy through AI-powered image analysis</a:t>
            </a:r>
          </a:p>
          <a:p>
            <a:pPr marL="285750" lvl="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Low cost scan (mobile app) or ₹1,999 portable device (vs  ₹40k–₹2L imported analysers)</a:t>
            </a:r>
          </a:p>
          <a:p>
            <a:pPr lvl="0"/>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Completely Made in India</a:t>
            </a:r>
          </a:p>
          <a:p>
            <a:pPr marL="285750" lvl="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Portable, offline-capable, electricity-free operation, field ready</a:t>
            </a:r>
          </a:p>
          <a:p>
            <a:pPr marL="285750" lvl="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Blockchain-secured, tamper-proof results for data trust </a:t>
            </a:r>
          </a:p>
          <a:p>
            <a:pPr marL="285750" lvl="0" indent="-285750">
              <a:buFont typeface="Arial" panose="020B0604020202020204" pitchFamily="34" charset="0"/>
              <a:buChar char="•"/>
            </a:pPr>
            <a:endParaRPr lang="en-IN" dirty="0">
              <a:latin typeface="Calibri" panose="020F0502020204030204" pitchFamily="34" charset="0"/>
              <a:ea typeface="Calibri" panose="020F0502020204030204" pitchFamily="34" charset="0"/>
              <a:cs typeface="Calibri" panose="020F0502020204030204" pitchFamily="34" charset="0"/>
            </a:endParaRPr>
          </a:p>
          <a:p>
            <a:pPr marL="285750" lvl="0" indent="-285750">
              <a:buFont typeface="Arial" panose="020B0604020202020204" pitchFamily="34" charset="0"/>
              <a:buChar char="•"/>
            </a:pPr>
            <a:r>
              <a:rPr lang="en-IN" dirty="0">
                <a:latin typeface="Calibri" panose="020F0502020204030204" pitchFamily="34" charset="0"/>
                <a:ea typeface="Calibri" panose="020F0502020204030204" pitchFamily="34" charset="0"/>
                <a:cs typeface="Calibri" panose="020F0502020204030204" pitchFamily="34" charset="0"/>
              </a:rPr>
              <a:t>Compatible with all govt.- approved strips</a:t>
            </a:r>
          </a:p>
        </p:txBody>
      </p:sp>
      <p:sp>
        <p:nvSpPr>
          <p:cNvPr id="3" name="Rounded Rectangle">
            <a:extLst>
              <a:ext uri="{FF2B5EF4-FFF2-40B4-BE49-F238E27FC236}">
                <a16:creationId xmlns:a16="http://schemas.microsoft.com/office/drawing/2014/main" id="{5F2FD0D6-A3EA-429E-BDC4-1BC289418D04}"/>
              </a:ext>
            </a:extLst>
          </p:cNvPr>
          <p:cNvSpPr/>
          <p:nvPr/>
        </p:nvSpPr>
        <p:spPr>
          <a:xfrm>
            <a:off x="729260" y="2631251"/>
            <a:ext cx="5486482" cy="2474150"/>
          </a:xfrm>
          <a:prstGeom prst="roundRect">
            <a:avLst>
              <a:gd name="adj" fmla="val 8411"/>
            </a:avLst>
          </a:prstGeom>
          <a:solidFill>
            <a:schemeClr val="bg1"/>
          </a:solidFill>
          <a:ln w="25400">
            <a:solidFill>
              <a:srgbClr val="FFFFFF">
                <a:alpha val="41324"/>
              </a:srgbClr>
            </a:solidFill>
          </a:ln>
          <a:effectLst>
            <a:outerShdw blurRad="38100" dist="23000" dir="5400000" rotWithShape="0">
              <a:srgbClr val="000000">
                <a:alpha val="35000"/>
              </a:srgbClr>
            </a:outerShdw>
          </a:effectLst>
        </p:spPr>
        <p:txBody>
          <a:bodyPr lIns="45719" rIns="45719" anchor="ctr"/>
          <a:lstStyle/>
          <a:p>
            <a:pPr marL="114300" indent="0">
              <a:buNone/>
            </a:pPr>
            <a:r>
              <a:rPr lang="en-IN" b="1"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Why Urine-Based Screening Is Powerful in India</a:t>
            </a:r>
          </a:p>
          <a:p>
            <a:pPr marL="114300" indent="0">
              <a:buNone/>
            </a:pPr>
            <a:endPar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Clr>
                <a:schemeClr val="bg1"/>
              </a:buClr>
              <a:buFont typeface="Arial" panose="020B0604020202020204" pitchFamily="34" charset="0"/>
              <a:buChar char="•"/>
            </a:pPr>
            <a:r>
              <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Low cost, non-invasive</a:t>
            </a:r>
          </a:p>
          <a:p>
            <a:pPr marL="742950" lvl="1" indent="-285750">
              <a:buClr>
                <a:schemeClr val="bg1"/>
              </a:buClr>
              <a:buFont typeface="Arial" panose="020B0604020202020204" pitchFamily="34" charset="0"/>
              <a:buChar char="•"/>
            </a:pPr>
            <a:r>
              <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No lab dependency</a:t>
            </a:r>
          </a:p>
          <a:p>
            <a:pPr marL="742950" lvl="1" indent="-285750">
              <a:buClr>
                <a:schemeClr val="bg1"/>
              </a:buClr>
              <a:buFont typeface="Arial" panose="020B0604020202020204" pitchFamily="34" charset="0"/>
              <a:buChar char="•"/>
            </a:pPr>
            <a:r>
              <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Results in 1–2 minutes</a:t>
            </a:r>
          </a:p>
          <a:p>
            <a:pPr marL="742950" lvl="1" indent="-285750">
              <a:buClr>
                <a:schemeClr val="bg1"/>
              </a:buClr>
              <a:buFont typeface="Arial" panose="020B0604020202020204" pitchFamily="34" charset="0"/>
              <a:buChar char="•"/>
            </a:pPr>
            <a:r>
              <a:rPr lang="en-IN" dirty="0">
                <a:solidFill>
                  <a:schemeClr val="tx1">
                    <a:lumMod val="95000"/>
                    <a:lumOff val="5000"/>
                  </a:schemeClr>
                </a:solidFill>
                <a:latin typeface="Calibri" panose="020F0502020204030204" pitchFamily="34" charset="0"/>
                <a:ea typeface="Calibri" panose="020F0502020204030204" pitchFamily="34" charset="0"/>
                <a:cs typeface="Calibri" panose="020F0502020204030204" pitchFamily="34" charset="0"/>
              </a:rPr>
              <a:t>Ideal for rural areas, elderly care, mass screening</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b="0" i="0" u="none" strike="noStrike" kern="0" cap="none" spc="0" normalizeH="0" baseline="0" noProof="0" dirty="0">
              <a:ln>
                <a:noFill/>
              </a:ln>
              <a:solidFill>
                <a:schemeClr val="tx1">
                  <a:lumMod val="95000"/>
                  <a:lumOff val="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grpSp>
        <p:nvGrpSpPr>
          <p:cNvPr id="151" name="Group"/>
          <p:cNvGrpSpPr/>
          <p:nvPr/>
        </p:nvGrpSpPr>
        <p:grpSpPr>
          <a:xfrm>
            <a:off x="0" y="6720278"/>
            <a:ext cx="12222906" cy="275443"/>
            <a:chOff x="0" y="0"/>
            <a:chExt cx="12222905" cy="275441"/>
          </a:xfrm>
        </p:grpSpPr>
        <p:sp>
          <p:nvSpPr>
            <p:cNvPr id="145" name="Rounded Rectangle"/>
            <p:cNvSpPr/>
            <p:nvPr/>
          </p:nvSpPr>
          <p:spPr>
            <a:xfrm>
              <a:off x="0" y="0"/>
              <a:ext cx="2582268" cy="275442"/>
            </a:xfrm>
            <a:prstGeom prst="roundRect">
              <a:avLst>
                <a:gd name="adj" fmla="val 50000"/>
              </a:avLst>
            </a:prstGeom>
            <a:solidFill>
              <a:srgbClr val="FFFF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Rectangle"/>
            <p:cNvSpPr/>
            <p:nvPr/>
          </p:nvSpPr>
          <p:spPr>
            <a:xfrm>
              <a:off x="2039343" y="0"/>
              <a:ext cx="2582269" cy="275442"/>
            </a:xfrm>
            <a:prstGeom prst="rect">
              <a:avLst/>
            </a:prstGeom>
            <a:solidFill>
              <a:srgbClr val="FFB5A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Rectangle"/>
            <p:cNvSpPr/>
            <p:nvPr/>
          </p:nvSpPr>
          <p:spPr>
            <a:xfrm>
              <a:off x="4604859" y="0"/>
              <a:ext cx="2582269" cy="275442"/>
            </a:xfrm>
            <a:prstGeom prst="rect">
              <a:avLst/>
            </a:prstGeom>
            <a:solidFill>
              <a:srgbClr val="FFD9A8"/>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Rectangle"/>
            <p:cNvSpPr/>
            <p:nvPr/>
          </p:nvSpPr>
          <p:spPr>
            <a:xfrm>
              <a:off x="7187127" y="0"/>
              <a:ext cx="2582268" cy="275442"/>
            </a:xfrm>
            <a:prstGeom prst="rect">
              <a:avLst/>
            </a:prstGeom>
            <a:solidFill>
              <a:srgbClr val="EAF28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Rounded Rectangle"/>
            <p:cNvSpPr/>
            <p:nvPr/>
          </p:nvSpPr>
          <p:spPr>
            <a:xfrm>
              <a:off x="9640637" y="0"/>
              <a:ext cx="2582269" cy="275442"/>
            </a:xfrm>
            <a:prstGeom prst="roundRect">
              <a:avLst>
                <a:gd name="adj" fmla="val 50000"/>
              </a:avLst>
            </a:prstGeom>
            <a:solidFill>
              <a:srgbClr val="CBF0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Rectangle"/>
            <p:cNvSpPr/>
            <p:nvPr/>
          </p:nvSpPr>
          <p:spPr>
            <a:xfrm>
              <a:off x="8640681" y="0"/>
              <a:ext cx="2582268" cy="275442"/>
            </a:xfrm>
            <a:prstGeom prst="rect">
              <a:avLst/>
            </a:prstGeom>
            <a:solidFill>
              <a:srgbClr val="D9C9FE"/>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52" name="Slide Number"/>
          <p:cNvSpPr txBox="1">
            <a:spLocks/>
          </p:cNvSpPr>
          <p:nvPr/>
        </p:nvSpPr>
        <p:spPr>
          <a:xfrm>
            <a:off x="11172458" y="6414780"/>
            <a:ext cx="181343"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699" tIns="45699" rIns="45699" bIns="45699" anchor="ctr">
            <a:spAutoFit/>
          </a:bodyPr>
          <a:lstStyle>
            <a:defPPr>
              <a:defRPr lang="en-US"/>
            </a:defPPr>
            <a:lvl1pPr marL="0" algn="r" defTabSz="914400" rtl="0" eaLnBrk="1" latinLnBrk="0" hangingPunct="1">
              <a:defRPr sz="1200" kern="1200">
                <a:solidFill>
                  <a:srgbClr val="888888"/>
                </a:solidFill>
                <a:latin typeface="Calibri"/>
                <a:ea typeface="Calibri"/>
                <a:cs typeface="Calibri"/>
                <a:sym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defRPr/>
            </a:pPr>
            <a:fld id="{86CB4B4D-7CA3-9044-876B-883B54F8677D}" type="slidenum">
              <a:rPr lang="en-IN" kern="0" smtClean="0"/>
              <a:pPr hangingPunct="0">
                <a:defRPr/>
              </a:pPr>
              <a:t>5</a:t>
            </a:fld>
            <a:endParaRPr lang="en-IN" kern="0"/>
          </a:p>
        </p:txBody>
      </p:sp>
      <p:sp>
        <p:nvSpPr>
          <p:cNvPr id="5" name="TextBox 4">
            <a:extLst>
              <a:ext uri="{FF2B5EF4-FFF2-40B4-BE49-F238E27FC236}">
                <a16:creationId xmlns:a16="http://schemas.microsoft.com/office/drawing/2014/main" id="{DE607853-439A-ED7E-3789-25C11EA532BC}"/>
              </a:ext>
            </a:extLst>
          </p:cNvPr>
          <p:cNvSpPr txBox="1"/>
          <p:nvPr/>
        </p:nvSpPr>
        <p:spPr>
          <a:xfrm>
            <a:off x="1038304" y="5521386"/>
            <a:ext cx="5057696"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a:r>
              <a:rPr lang="en-IN" b="1" dirty="0">
                <a:solidFill>
                  <a:schemeClr val="bg1"/>
                </a:solidFill>
                <a:latin typeface="Calibri" panose="020F0502020204030204" pitchFamily="34" charset="0"/>
                <a:ea typeface="Calibri" panose="020F0502020204030204" pitchFamily="34" charset="0"/>
                <a:cs typeface="Calibri" panose="020F0502020204030204" pitchFamily="34" charset="0"/>
              </a:rPr>
              <a:t>No education needed – single click operation </a:t>
            </a:r>
          </a:p>
        </p:txBody>
      </p:sp>
      <p:sp>
        <p:nvSpPr>
          <p:cNvPr id="9" name="TextBox 8">
            <a:extLst>
              <a:ext uri="{FF2B5EF4-FFF2-40B4-BE49-F238E27FC236}">
                <a16:creationId xmlns:a16="http://schemas.microsoft.com/office/drawing/2014/main" id="{3A3AA748-564D-6128-FA18-BAE1D66AAC50}"/>
              </a:ext>
            </a:extLst>
          </p:cNvPr>
          <p:cNvSpPr txBox="1"/>
          <p:nvPr/>
        </p:nvSpPr>
        <p:spPr>
          <a:xfrm>
            <a:off x="11877486" y="494262"/>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74956385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3FFF770-F64F-0772-7E0E-6AFB2779922F}"/>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F6F58995-0B19-C924-3A58-227D8F743E7C}"/>
              </a:ext>
            </a:extLst>
          </p:cNvPr>
          <p:cNvSpPr/>
          <p:nvPr/>
        </p:nvSpPr>
        <p:spPr>
          <a:xfrm>
            <a:off x="-1" y="1329247"/>
            <a:ext cx="12192001" cy="5549608"/>
          </a:xfrm>
          <a:prstGeom prst="rect">
            <a:avLst/>
          </a:prstGeom>
          <a:solidFill>
            <a:schemeClr val="bg1"/>
          </a:solidFill>
          <a:ln w="12700">
            <a:miter lim="400000"/>
          </a:ln>
        </p:spPr>
        <p:txBody>
          <a:bodyPr lIns="45719" rIns="45719" anchor="ctr"/>
          <a:lstStyle/>
          <a:p>
            <a:pPr lvl="0" eaLnBrk="0" fontAlgn="base" hangingPunct="0">
              <a:spcBef>
                <a:spcPct val="0"/>
              </a:spcBef>
              <a:spcAft>
                <a:spcPct val="0"/>
              </a:spcAft>
            </a:pPr>
            <a:endParaRPr lang="en-US" altLang="en-US" sz="1400" dirty="0">
              <a:latin typeface="Arial" panose="020B0604020202020204" pitchFamily="34" charset="0"/>
            </a:endParaRPr>
          </a:p>
        </p:txBody>
      </p:sp>
      <p:sp>
        <p:nvSpPr>
          <p:cNvPr id="418" name="AI Model">
            <a:extLst>
              <a:ext uri="{FF2B5EF4-FFF2-40B4-BE49-F238E27FC236}">
                <a16:creationId xmlns:a16="http://schemas.microsoft.com/office/drawing/2014/main" id="{1F279596-400B-5F9A-32B6-61F3F9DAA05F}"/>
              </a:ext>
            </a:extLst>
          </p:cNvPr>
          <p:cNvSpPr txBox="1"/>
          <p:nvPr/>
        </p:nvSpPr>
        <p:spPr>
          <a:xfrm>
            <a:off x="520668" y="450933"/>
            <a:ext cx="7364158"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88F736E4-B52E-07DD-201D-6A121A6536A4}"/>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6</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0F229D99-CC3D-B2AA-7308-2FCDAA8E0F50}"/>
              </a:ext>
            </a:extLst>
          </p:cNvPr>
          <p:cNvSpPr txBox="1"/>
          <p:nvPr/>
        </p:nvSpPr>
        <p:spPr>
          <a:xfrm>
            <a:off x="9811811" y="558654"/>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6" name="TextBox 5">
            <a:extLst>
              <a:ext uri="{FF2B5EF4-FFF2-40B4-BE49-F238E27FC236}">
                <a16:creationId xmlns:a16="http://schemas.microsoft.com/office/drawing/2014/main" id="{C70A47AB-33B5-8182-5D48-C8334519F2E3}"/>
              </a:ext>
            </a:extLst>
          </p:cNvPr>
          <p:cNvSpPr txBox="1"/>
          <p:nvPr/>
        </p:nvSpPr>
        <p:spPr>
          <a:xfrm>
            <a:off x="520668" y="450933"/>
            <a:ext cx="6093500"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hangingPunct="0"/>
            <a:r>
              <a:rPr lang="en-US" sz="3200" b="1" dirty="0">
                <a:solidFill>
                  <a:schemeClr val="bg1"/>
                </a:solidFill>
                <a:latin typeface="Calibri" panose="020F0502020204030204" pitchFamily="34" charset="0"/>
                <a:ea typeface="Calibri" panose="020F0502020204030204" pitchFamily="34" charset="0"/>
                <a:cs typeface="Calibri" panose="020F0502020204030204" pitchFamily="34" charset="0"/>
              </a:rPr>
              <a:t>Blockchain &amp; Data Privacy</a:t>
            </a:r>
          </a:p>
        </p:txBody>
      </p:sp>
      <p:sp>
        <p:nvSpPr>
          <p:cNvPr id="4" name="Rectangle: Rounded Corners 3">
            <a:extLst>
              <a:ext uri="{FF2B5EF4-FFF2-40B4-BE49-F238E27FC236}">
                <a16:creationId xmlns:a16="http://schemas.microsoft.com/office/drawing/2014/main" id="{38A0889B-1669-4B69-31AD-B5E412DF32F8}"/>
              </a:ext>
            </a:extLst>
          </p:cNvPr>
          <p:cNvSpPr/>
          <p:nvPr/>
        </p:nvSpPr>
        <p:spPr>
          <a:xfrm>
            <a:off x="655765" y="1499775"/>
            <a:ext cx="10212104" cy="998853"/>
          </a:xfrm>
          <a:prstGeom prst="roundRect">
            <a:avLst/>
          </a:prstGeom>
          <a:solidFill>
            <a:srgbClr val="FFFFFF"/>
          </a:solidFill>
          <a:ln w="25400" cap="flat">
            <a:solidFill>
              <a:schemeClr val="tx2"/>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114300" marR="0" lvl="0" algn="l" defTabSz="914400" rtl="0" eaLnBrk="1" fontAlgn="auto" latinLnBrk="0" hangingPunct="1">
              <a:lnSpc>
                <a:spcPct val="90000"/>
              </a:lnSpc>
              <a:spcBef>
                <a:spcPts val="1000"/>
              </a:spcBef>
              <a:spcAft>
                <a:spcPts val="0"/>
              </a:spcAft>
              <a:buClr>
                <a:srgbClr val="000000"/>
              </a:buClr>
              <a:buSzPts val="2800"/>
              <a:tabLst/>
              <a:defRPr/>
            </a:pPr>
            <a:r>
              <a:rPr kumimoji="0" lang="en-US" sz="2000" b="1"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Tamper-Proof Results</a:t>
            </a:r>
          </a:p>
          <a:p>
            <a:pPr marL="114300" marR="0" lvl="0" algn="l" defTabSz="914400" rtl="0" eaLnBrk="1" fontAlgn="auto" latinLnBrk="0" hangingPunct="1">
              <a:lnSpc>
                <a:spcPct val="90000"/>
              </a:lnSpc>
              <a:spcBef>
                <a:spcPts val="1000"/>
              </a:spcBef>
              <a:spcAft>
                <a:spcPts val="0"/>
              </a:spcAft>
              <a:buClr>
                <a:srgbClr val="000000"/>
              </a:buClr>
              <a:buSzPts val="2800"/>
              <a:tabLst/>
              <a:defRPr/>
            </a:pPr>
            <a:r>
              <a:rPr lang="en-US" sz="2000" kern="0" noProof="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t>
            </a:r>
            <a:r>
              <a:rPr kumimoji="0" lang="en-US"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Each test result is securely linked to time, device ID, and strip type, ensuring full traceability.</a:t>
            </a:r>
          </a:p>
        </p:txBody>
      </p:sp>
      <p:sp>
        <p:nvSpPr>
          <p:cNvPr id="5" name="Rectangle: Rounded Corners 4">
            <a:extLst>
              <a:ext uri="{FF2B5EF4-FFF2-40B4-BE49-F238E27FC236}">
                <a16:creationId xmlns:a16="http://schemas.microsoft.com/office/drawing/2014/main" id="{63C219CE-EC98-8FB6-A74C-DE5C62F56BA1}"/>
              </a:ext>
            </a:extLst>
          </p:cNvPr>
          <p:cNvSpPr/>
          <p:nvPr/>
        </p:nvSpPr>
        <p:spPr>
          <a:xfrm>
            <a:off x="655766" y="4430313"/>
            <a:ext cx="10212104" cy="2079432"/>
          </a:xfrm>
          <a:prstGeom prst="roundRect">
            <a:avLst/>
          </a:prstGeom>
          <a:solidFill>
            <a:srgbClr val="FFFFFF"/>
          </a:solidFill>
          <a:ln w="25400" cap="flat">
            <a:solidFill>
              <a:schemeClr val="tx2"/>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114300" lvl="0">
              <a:lnSpc>
                <a:spcPct val="90000"/>
              </a:lnSpc>
              <a:spcBef>
                <a:spcPts val="1000"/>
              </a:spcBef>
              <a:buClr>
                <a:srgbClr val="000000"/>
              </a:buClr>
              <a:buSzPts val="2800"/>
              <a:defRPr/>
            </a:pPr>
            <a:r>
              <a:rPr lang="en-US" sz="2000" b="1"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Immutable Blockchain Ledger</a:t>
            </a:r>
            <a:b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Test records are permanently stored on the blockchain, making them fraud-proof and verifiable for:</a:t>
            </a:r>
          </a:p>
          <a:p>
            <a:pPr marL="857250" lvl="1" indent="-285750">
              <a:lnSpc>
                <a:spcPct val="90000"/>
              </a:lnSpc>
              <a:spcBef>
                <a:spcPts val="1000"/>
              </a:spcBef>
              <a:buClr>
                <a:srgbClr val="000000"/>
              </a:buClr>
              <a:buSzPts val="2800"/>
              <a:buFont typeface="Arial" panose="020B0604020202020204" pitchFamily="34" charset="0"/>
              <a:buChar cha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Insurance claims (no fake reports)</a:t>
            </a:r>
          </a:p>
          <a:p>
            <a:pPr marL="857250" lvl="1" indent="-285750">
              <a:lnSpc>
                <a:spcPct val="90000"/>
              </a:lnSpc>
              <a:spcBef>
                <a:spcPts val="1000"/>
              </a:spcBef>
              <a:buClr>
                <a:srgbClr val="000000"/>
              </a:buClr>
              <a:buSzPts val="2800"/>
              <a:buFont typeface="Arial" panose="020B0604020202020204" pitchFamily="34" charset="0"/>
              <a:buChar cha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CSR/NGO programs (impact validation)</a:t>
            </a:r>
          </a:p>
          <a:p>
            <a:pPr marL="857250" lvl="1" indent="-285750">
              <a:lnSpc>
                <a:spcPct val="90000"/>
              </a:lnSpc>
              <a:spcBef>
                <a:spcPts val="1000"/>
              </a:spcBef>
              <a:buClr>
                <a:srgbClr val="000000"/>
              </a:buClr>
              <a:buSzPts val="2800"/>
              <a:buFont typeface="Arial" panose="020B0604020202020204" pitchFamily="34" charset="0"/>
              <a:buChar char="•"/>
              <a:defRPr/>
            </a:pPr>
            <a:r>
              <a:rPr lang="en-US" kern="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Regulatory compliance (auditable history)</a:t>
            </a:r>
          </a:p>
        </p:txBody>
      </p:sp>
      <p:sp>
        <p:nvSpPr>
          <p:cNvPr id="7" name="Rectangle: Rounded Corners 6">
            <a:extLst>
              <a:ext uri="{FF2B5EF4-FFF2-40B4-BE49-F238E27FC236}">
                <a16:creationId xmlns:a16="http://schemas.microsoft.com/office/drawing/2014/main" id="{0BD6E7F3-F1AD-B6C9-87F6-107D7E502AD5}"/>
              </a:ext>
            </a:extLst>
          </p:cNvPr>
          <p:cNvSpPr/>
          <p:nvPr/>
        </p:nvSpPr>
        <p:spPr>
          <a:xfrm>
            <a:off x="655766" y="2730937"/>
            <a:ext cx="10212104" cy="1396125"/>
          </a:xfrm>
          <a:prstGeom prst="roundRect">
            <a:avLst/>
          </a:prstGeom>
          <a:solidFill>
            <a:srgbClr val="FFFFFF"/>
          </a:solidFill>
          <a:ln w="25400" cap="flat">
            <a:solidFill>
              <a:schemeClr val="tx2"/>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User-Centric Data Privacy</a:t>
            </a:r>
            <a:br>
              <a:rPr lang="en-US" sz="2000" dirty="0">
                <a:latin typeface="Calibri" panose="020F0502020204030204" pitchFamily="34" charset="0"/>
                <a:ea typeface="Calibri" panose="020F0502020204030204" pitchFamily="34" charset="0"/>
                <a:cs typeface="Calibri" panose="020F0502020204030204" pitchFamily="34" charset="0"/>
              </a:rPr>
            </a:br>
            <a:r>
              <a:rPr lang="en-US" sz="2000"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Patients retain ownership of their health data:</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Results are encrypted &amp; stored privately.</a:t>
            </a:r>
          </a:p>
          <a:p>
            <a:pPr marL="742950" lvl="1"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Sharing is consent-based → only doctors, labs, or insurers chosen by the user can access.</a:t>
            </a:r>
          </a:p>
        </p:txBody>
      </p:sp>
      <p:sp>
        <p:nvSpPr>
          <p:cNvPr id="9" name="TextBox 8">
            <a:extLst>
              <a:ext uri="{FF2B5EF4-FFF2-40B4-BE49-F238E27FC236}">
                <a16:creationId xmlns:a16="http://schemas.microsoft.com/office/drawing/2014/main" id="{4D4A60F2-8986-CD53-956A-B7B8B2CF5440}"/>
              </a:ext>
            </a:extLst>
          </p:cNvPr>
          <p:cNvSpPr txBox="1"/>
          <p:nvPr/>
        </p:nvSpPr>
        <p:spPr>
          <a:xfrm>
            <a:off x="11757481" y="512488"/>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173720737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423" name="Innovation Highlights"/>
          <p:cNvSpPr txBox="1"/>
          <p:nvPr/>
        </p:nvSpPr>
        <p:spPr>
          <a:xfrm>
            <a:off x="482066" y="365124"/>
            <a:ext cx="5166351" cy="72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sz="3600" b="0" i="0" u="none" strike="noStrike" kern="0" cap="none" spc="0" normalizeH="0" baseline="0" noProof="0" dirty="0">
                <a:ln>
                  <a:noFill/>
                </a:ln>
                <a:solidFill>
                  <a:srgbClr val="FFFFFF"/>
                </a:solidFill>
                <a:effectLst/>
                <a:uLnTx/>
                <a:uFillTx/>
                <a:latin typeface="Calibri"/>
                <a:ea typeface="Calibri"/>
                <a:cs typeface="Calibri"/>
                <a:sym typeface="Calibri"/>
              </a:rPr>
              <a:t>Innovation</a:t>
            </a:r>
            <a:r>
              <a:rPr kumimoji="0" lang="en-IN" sz="3600" b="0" i="0" u="none" strike="noStrike" kern="0" cap="none" spc="0" normalizeH="0" baseline="0" noProof="0" dirty="0">
                <a:ln>
                  <a:noFill/>
                </a:ln>
                <a:solidFill>
                  <a:srgbClr val="FFFFFF"/>
                </a:solidFill>
                <a:effectLst/>
                <a:uLnTx/>
                <a:uFillTx/>
                <a:latin typeface="Calibri"/>
                <a:ea typeface="Calibri"/>
                <a:cs typeface="Calibri"/>
                <a:sym typeface="Calibri"/>
              </a:rPr>
              <a:t> and novelty</a:t>
            </a:r>
            <a:endParaRPr kumimoji="0" sz="36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24" name="Line"/>
          <p:cNvSpPr/>
          <p:nvPr/>
        </p:nvSpPr>
        <p:spPr>
          <a:xfrm flipV="1">
            <a:off x="554838" y="934789"/>
            <a:ext cx="9094565" cy="44255"/>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5" name="Slide Number"/>
          <p:cNvSpPr txBox="1">
            <a:spLocks noGrp="1"/>
          </p:cNvSpPr>
          <p:nvPr>
            <p:ph type="sldNum" sz="quarter" idx="4294967295"/>
          </p:nvPr>
        </p:nvSpPr>
        <p:spPr>
          <a:xfrm>
            <a:off x="11095216" y="6375024"/>
            <a:ext cx="258585" cy="2482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7</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01D4AB28-9EA3-46A0-9EBB-67301B7BA12E}"/>
              </a:ext>
            </a:extLst>
          </p:cNvPr>
          <p:cNvSpPr txBox="1"/>
          <p:nvPr/>
        </p:nvSpPr>
        <p:spPr>
          <a:xfrm>
            <a:off x="9880198" y="540458"/>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5" name="Rectangle 3">
            <a:extLst>
              <a:ext uri="{FF2B5EF4-FFF2-40B4-BE49-F238E27FC236}">
                <a16:creationId xmlns:a16="http://schemas.microsoft.com/office/drawing/2014/main" id="{6908507C-314C-DCAD-5D9F-515A5CF8CE3A}"/>
              </a:ext>
            </a:extLst>
          </p:cNvPr>
          <p:cNvSpPr>
            <a:spLocks noGrp="1" noChangeArrowheads="1"/>
          </p:cNvSpPr>
          <p:nvPr>
            <p:ph type="body" idx="1"/>
          </p:nvPr>
        </p:nvSpPr>
        <p:spPr bwMode="auto">
          <a:xfrm>
            <a:off x="593011" y="1248783"/>
            <a:ext cx="10606156"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1. Radically Affordable</a:t>
            </a:r>
          </a:p>
          <a:p>
            <a:pPr marL="285750" indent="-285750" eaLnBrk="0" fontAlgn="base" hangingPunct="0">
              <a:lnSpc>
                <a:spcPct val="100000"/>
              </a:lnSpc>
              <a:spcBef>
                <a:spcPct val="0"/>
              </a:spcBef>
              <a:spcAft>
                <a:spcPct val="0"/>
              </a:spcAft>
              <a:buClrTx/>
              <a:buSzTx/>
            </a:pPr>
            <a:r>
              <a:rPr kumimoji="0" lang="en-US" altLang="en-US" sz="14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100x lower cost than standard diagnostic labs</a:t>
            </a:r>
            <a:endPar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Truly universal - works with ALL govt-approved strips—no vendor lock-in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Leverages mature supply chains instead of reinventing hardware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2. AI-Powered Accuracy</a:t>
            </a:r>
          </a:p>
          <a:p>
            <a:pPr marL="285750" indent="-285750" eaLnBrk="0" fontAlgn="base" hangingPunct="0">
              <a:lnSpc>
                <a:spcPct val="100000"/>
              </a:lnSpc>
              <a:spcBef>
                <a:spcPct val="0"/>
              </a:spcBef>
              <a:spcAft>
                <a:spcPct val="0"/>
              </a:spcAft>
              <a:buClrTx/>
              <a:buSzTx/>
            </a:pPr>
            <a:r>
              <a:rPr kumimoji="0" lang="en-US" altLang="en-US" sz="14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98% accuracy</a:t>
            </a: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 validated on 200+ samples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Trained on 100,000+ diverse images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Eliminates human reading errors and subjective interpretation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Continuous learning from real-world data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3. Zero-Friction Testing</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Single-click smartphone app (Android/iOS)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BT Cards handle lighting/environmental variations automatically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No medical training required </a:t>
            </a:r>
          </a:p>
          <a:p>
            <a:pPr marL="285750" indent="-285750" eaLnBrk="0" fontAlgn="base" hangingPunct="0">
              <a:lnSpc>
                <a:spcPct val="100000"/>
              </a:lnSpc>
              <a:spcBef>
                <a:spcPct val="0"/>
              </a:spcBef>
              <a:spcAft>
                <a:spcPct val="0"/>
              </a:spcAft>
              <a:buClrTx/>
              <a:buSzTx/>
            </a:pPr>
            <a:r>
              <a:rPr kumimoji="0" lang="en-US" altLang="en-US" sz="14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Works anywhere—home, clinic, or remote village </a:t>
            </a:r>
          </a:p>
          <a:p>
            <a:pPr marL="285750" indent="-285750" eaLnBrk="0" fontAlgn="base" hangingPunct="0">
              <a:lnSpc>
                <a:spcPct val="100000"/>
              </a:lnSpc>
              <a:spcBef>
                <a:spcPct val="0"/>
              </a:spcBef>
              <a:spcAft>
                <a:spcPct val="0"/>
              </a:spcAft>
              <a:buClrTx/>
              <a:buSzTx/>
            </a:pPr>
            <a:endParaRPr lang="en-US" altLang="en-US" sz="1600"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0" indent="0" eaLnBrk="0" fontAlgn="base" hangingPunct="0">
              <a:lnSpc>
                <a:spcPct val="100000"/>
              </a:lnSpc>
              <a:spcBef>
                <a:spcPct val="0"/>
              </a:spcBef>
              <a:spcAft>
                <a:spcPct val="0"/>
              </a:spcAft>
              <a:buClrTx/>
              <a:buSzTx/>
              <a:buNone/>
            </a:pPr>
            <a:r>
              <a:rPr kumimoji="0" lang="en-US" altLang="en-US" sz="1600" b="1"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Lean-by-design architecture </a:t>
            </a:r>
            <a:r>
              <a:rPr kumimoji="0" lang="en-US" altLang="en-US" sz="1600" b="0" i="0" u="none" strike="noStrike" cap="none" normalizeH="0" baseline="0" dirty="0">
                <a:ln>
                  <a:noFill/>
                </a:ln>
                <a:solidFill>
                  <a:schemeClr val="bg1">
                    <a:lumMod val="95000"/>
                  </a:schemeClr>
                </a:solidFill>
                <a:effectLst/>
                <a:latin typeface="Calibri" panose="020F0502020204030204" pitchFamily="34" charset="0"/>
                <a:ea typeface="Calibri" panose="020F0502020204030204" pitchFamily="34" charset="0"/>
                <a:cs typeface="Calibri" panose="020F0502020204030204" pitchFamily="34" charset="0"/>
              </a:rPr>
              <a:t>– Uses existing strips, smartphones, and mature supply chains instead of reinventing hardware, enabling massive cost reduction and rapid scale.</a:t>
            </a:r>
          </a:p>
        </p:txBody>
      </p:sp>
      <p:grpSp>
        <p:nvGrpSpPr>
          <p:cNvPr id="3" name="Group">
            <a:extLst>
              <a:ext uri="{FF2B5EF4-FFF2-40B4-BE49-F238E27FC236}">
                <a16:creationId xmlns:a16="http://schemas.microsoft.com/office/drawing/2014/main" id="{A8FC0DD9-FD6B-F78F-7D5F-01D63FEFAC90}"/>
              </a:ext>
            </a:extLst>
          </p:cNvPr>
          <p:cNvGrpSpPr/>
          <p:nvPr/>
        </p:nvGrpSpPr>
        <p:grpSpPr>
          <a:xfrm>
            <a:off x="593011" y="5921822"/>
            <a:ext cx="10528720" cy="535931"/>
            <a:chOff x="4554" y="727898"/>
            <a:chExt cx="1795190" cy="2718186"/>
          </a:xfrm>
        </p:grpSpPr>
        <p:sp>
          <p:nvSpPr>
            <p:cNvPr id="6" name="Rounded Rectangle">
              <a:extLst>
                <a:ext uri="{FF2B5EF4-FFF2-40B4-BE49-F238E27FC236}">
                  <a16:creationId xmlns:a16="http://schemas.microsoft.com/office/drawing/2014/main" id="{0C6BBE38-CD75-A998-4903-82C0C2B9BA1E}"/>
                </a:ext>
              </a:extLst>
            </p:cNvPr>
            <p:cNvSpPr/>
            <p:nvPr/>
          </p:nvSpPr>
          <p:spPr>
            <a:xfrm>
              <a:off x="4554" y="727898"/>
              <a:ext cx="1795190" cy="2718186"/>
            </a:xfrm>
            <a:prstGeom prst="roundRect">
              <a:avLst>
                <a:gd name="adj" fmla="val 10816"/>
              </a:avLst>
            </a:prstGeom>
            <a:gradFill flip="none" rotWithShape="1">
              <a:gsLst>
                <a:gs pos="0">
                  <a:srgbClr val="FFC2F2"/>
                </a:gs>
                <a:gs pos="100000">
                  <a:srgbClr val="CBCDFF"/>
                </a:gs>
              </a:gsLst>
              <a:lin ang="12802050" scaled="0"/>
            </a:gradFill>
            <a:ln w="25400" cap="flat">
              <a:solidFill>
                <a:schemeClr val="accent1"/>
              </a:solidFill>
              <a:prstDash val="solid"/>
              <a:round/>
            </a:ln>
            <a:effectLst>
              <a:outerShdw blurRad="190500" dist="12700" dir="5400000" rotWithShape="0">
                <a:srgbClr val="000000">
                  <a:alpha val="24264"/>
                </a:srgbClr>
              </a:outerShdw>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Google Shape;371;p32">
              <a:extLst>
                <a:ext uri="{FF2B5EF4-FFF2-40B4-BE49-F238E27FC236}">
                  <a16:creationId xmlns:a16="http://schemas.microsoft.com/office/drawing/2014/main" id="{CD4E57C4-B2C6-1635-44CF-87C99E720761}"/>
                </a:ext>
              </a:extLst>
            </p:cNvPr>
            <p:cNvSpPr/>
            <p:nvPr/>
          </p:nvSpPr>
          <p:spPr>
            <a:xfrm>
              <a:off x="20134" y="1321042"/>
              <a:ext cx="1775056" cy="1495694"/>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699" tIns="45699" rIns="45699" bIns="45699" numCol="1" anchor="t">
              <a:spAutoFit/>
            </a:bodyPr>
            <a:lstStyle/>
            <a:p>
              <a:r>
                <a:rPr lang="en-US" altLang="en-US" b="1" dirty="0">
                  <a:solidFill>
                    <a:schemeClr val="tx1">
                      <a:lumMod val="75000"/>
                      <a:lumOff val="25000"/>
                    </a:schemeClr>
                  </a:solidFill>
                  <a:latin typeface="Arial" panose="020B0604020202020204" pitchFamily="34" charset="0"/>
                </a:rPr>
                <a:t>The Bottom Line:</a:t>
              </a:r>
              <a:r>
                <a:rPr lang="en-US" altLang="en-US" dirty="0">
                  <a:solidFill>
                    <a:schemeClr val="tx1">
                      <a:lumMod val="75000"/>
                      <a:lumOff val="25000"/>
                    </a:schemeClr>
                  </a:solidFill>
                  <a:latin typeface="Arial" panose="020B0604020202020204" pitchFamily="34" charset="0"/>
                </a:rPr>
                <a:t> Lab-grade diagnostics at 1% of the cost, accessible to anyone with a smartphone</a:t>
              </a:r>
            </a:p>
          </p:txBody>
        </p:sp>
      </p:grpSp>
      <p:grpSp>
        <p:nvGrpSpPr>
          <p:cNvPr id="15" name="Group">
            <a:extLst>
              <a:ext uri="{FF2B5EF4-FFF2-40B4-BE49-F238E27FC236}">
                <a16:creationId xmlns:a16="http://schemas.microsoft.com/office/drawing/2014/main" id="{FFD63042-1CCF-F6CE-F501-0F9C5CF476C0}"/>
              </a:ext>
            </a:extLst>
          </p:cNvPr>
          <p:cNvGrpSpPr/>
          <p:nvPr/>
        </p:nvGrpSpPr>
        <p:grpSpPr>
          <a:xfrm>
            <a:off x="0" y="6720278"/>
            <a:ext cx="12222906" cy="275443"/>
            <a:chOff x="0" y="0"/>
            <a:chExt cx="12222905" cy="275441"/>
          </a:xfrm>
        </p:grpSpPr>
        <p:sp>
          <p:nvSpPr>
            <p:cNvPr id="16" name="Rounded Rectangle">
              <a:extLst>
                <a:ext uri="{FF2B5EF4-FFF2-40B4-BE49-F238E27FC236}">
                  <a16:creationId xmlns:a16="http://schemas.microsoft.com/office/drawing/2014/main" id="{F044AB42-DB5A-A81C-5CE2-8C8C15FC313D}"/>
                </a:ext>
              </a:extLst>
            </p:cNvPr>
            <p:cNvSpPr/>
            <p:nvPr/>
          </p:nvSpPr>
          <p:spPr>
            <a:xfrm>
              <a:off x="0" y="0"/>
              <a:ext cx="2582268" cy="275442"/>
            </a:xfrm>
            <a:prstGeom prst="roundRect">
              <a:avLst>
                <a:gd name="adj" fmla="val 50000"/>
              </a:avLst>
            </a:prstGeom>
            <a:solidFill>
              <a:srgbClr val="FFFF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 name="Rectangle">
              <a:extLst>
                <a:ext uri="{FF2B5EF4-FFF2-40B4-BE49-F238E27FC236}">
                  <a16:creationId xmlns:a16="http://schemas.microsoft.com/office/drawing/2014/main" id="{BA2D2BD2-6A76-2D69-53AC-3DE69D65D12A}"/>
                </a:ext>
              </a:extLst>
            </p:cNvPr>
            <p:cNvSpPr/>
            <p:nvPr/>
          </p:nvSpPr>
          <p:spPr>
            <a:xfrm>
              <a:off x="2039343" y="0"/>
              <a:ext cx="2582269" cy="275442"/>
            </a:xfrm>
            <a:prstGeom prst="rect">
              <a:avLst/>
            </a:prstGeom>
            <a:solidFill>
              <a:srgbClr val="FFB5A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 name="Rectangle">
              <a:extLst>
                <a:ext uri="{FF2B5EF4-FFF2-40B4-BE49-F238E27FC236}">
                  <a16:creationId xmlns:a16="http://schemas.microsoft.com/office/drawing/2014/main" id="{933D6A8D-FA1B-71FD-F7D0-743075DE9C6F}"/>
                </a:ext>
              </a:extLst>
            </p:cNvPr>
            <p:cNvSpPr/>
            <p:nvPr/>
          </p:nvSpPr>
          <p:spPr>
            <a:xfrm>
              <a:off x="4604859" y="0"/>
              <a:ext cx="2582269" cy="275442"/>
            </a:xfrm>
            <a:prstGeom prst="rect">
              <a:avLst/>
            </a:prstGeom>
            <a:solidFill>
              <a:srgbClr val="FFD9A8"/>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 name="Rectangle">
              <a:extLst>
                <a:ext uri="{FF2B5EF4-FFF2-40B4-BE49-F238E27FC236}">
                  <a16:creationId xmlns:a16="http://schemas.microsoft.com/office/drawing/2014/main" id="{E6E5DE48-6DFF-CD79-8A9A-7A7B210B7DAA}"/>
                </a:ext>
              </a:extLst>
            </p:cNvPr>
            <p:cNvSpPr/>
            <p:nvPr/>
          </p:nvSpPr>
          <p:spPr>
            <a:xfrm>
              <a:off x="7187127" y="0"/>
              <a:ext cx="2582268" cy="275442"/>
            </a:xfrm>
            <a:prstGeom prst="rect">
              <a:avLst/>
            </a:prstGeom>
            <a:solidFill>
              <a:srgbClr val="EAF28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 name="Rounded Rectangle">
              <a:extLst>
                <a:ext uri="{FF2B5EF4-FFF2-40B4-BE49-F238E27FC236}">
                  <a16:creationId xmlns:a16="http://schemas.microsoft.com/office/drawing/2014/main" id="{2BCBA26F-BDCD-60E1-A3C6-73CACC327FE6}"/>
                </a:ext>
              </a:extLst>
            </p:cNvPr>
            <p:cNvSpPr/>
            <p:nvPr/>
          </p:nvSpPr>
          <p:spPr>
            <a:xfrm>
              <a:off x="9640637" y="0"/>
              <a:ext cx="2582269" cy="275442"/>
            </a:xfrm>
            <a:prstGeom prst="roundRect">
              <a:avLst>
                <a:gd name="adj" fmla="val 50000"/>
              </a:avLst>
            </a:prstGeom>
            <a:solidFill>
              <a:srgbClr val="CBF0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 name="Rectangle">
              <a:extLst>
                <a:ext uri="{FF2B5EF4-FFF2-40B4-BE49-F238E27FC236}">
                  <a16:creationId xmlns:a16="http://schemas.microsoft.com/office/drawing/2014/main" id="{19046073-7BC4-1BAE-7162-D3BE5E9809F1}"/>
                </a:ext>
              </a:extLst>
            </p:cNvPr>
            <p:cNvSpPr/>
            <p:nvPr/>
          </p:nvSpPr>
          <p:spPr>
            <a:xfrm>
              <a:off x="8640681" y="0"/>
              <a:ext cx="2582268" cy="275442"/>
            </a:xfrm>
            <a:prstGeom prst="rect">
              <a:avLst/>
            </a:prstGeom>
            <a:solidFill>
              <a:srgbClr val="D9C9FE"/>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2" name="Slide Number">
            <a:extLst>
              <a:ext uri="{FF2B5EF4-FFF2-40B4-BE49-F238E27FC236}">
                <a16:creationId xmlns:a16="http://schemas.microsoft.com/office/drawing/2014/main" id="{784FEA82-79D5-A03B-24A4-D0E9CFBBADF1}"/>
              </a:ext>
            </a:extLst>
          </p:cNvPr>
          <p:cNvSpPr txBox="1">
            <a:spLocks/>
          </p:cNvSpPr>
          <p:nvPr/>
        </p:nvSpPr>
        <p:spPr>
          <a:xfrm>
            <a:off x="11172458" y="6414780"/>
            <a:ext cx="181343"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699" tIns="45699" rIns="45699" bIns="45699" anchor="ctr">
            <a:spAutoFit/>
          </a:bodyPr>
          <a:lstStyle>
            <a:defPPr>
              <a:defRPr lang="en-US"/>
            </a:defPPr>
            <a:lvl1pPr marL="0" algn="r" defTabSz="914400" rtl="0" eaLnBrk="1" latinLnBrk="0" hangingPunct="1">
              <a:defRPr sz="1200" kern="1200">
                <a:solidFill>
                  <a:srgbClr val="888888"/>
                </a:solidFill>
                <a:latin typeface="Calibri"/>
                <a:ea typeface="Calibri"/>
                <a:cs typeface="Calibri"/>
                <a:sym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defRPr/>
            </a:pPr>
            <a:fld id="{86CB4B4D-7CA3-9044-876B-883B54F8677D}" type="slidenum">
              <a:rPr lang="en-IN" kern="0" smtClean="0"/>
              <a:pPr hangingPunct="0">
                <a:defRPr/>
              </a:pPr>
              <a:t>7</a:t>
            </a:fld>
            <a:endParaRPr lang="en-IN" kern="0"/>
          </a:p>
        </p:txBody>
      </p:sp>
      <p:sp>
        <p:nvSpPr>
          <p:cNvPr id="8" name="TextBox 7">
            <a:extLst>
              <a:ext uri="{FF2B5EF4-FFF2-40B4-BE49-F238E27FC236}">
                <a16:creationId xmlns:a16="http://schemas.microsoft.com/office/drawing/2014/main" id="{A0DD6886-D683-D590-84BD-BF8AA1A8335B}"/>
              </a:ext>
            </a:extLst>
          </p:cNvPr>
          <p:cNvSpPr txBox="1"/>
          <p:nvPr/>
        </p:nvSpPr>
        <p:spPr>
          <a:xfrm>
            <a:off x="11825868" y="494292"/>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72852517-A282-E165-9182-F8C6820E0ACB}"/>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D07C2774-E781-42CA-E946-F9609B08FE51}"/>
              </a:ext>
            </a:extLst>
          </p:cNvPr>
          <p:cNvSpPr/>
          <p:nvPr/>
        </p:nvSpPr>
        <p:spPr>
          <a:xfrm>
            <a:off x="0" y="1133504"/>
            <a:ext cx="12192001" cy="5706627"/>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7" name="Line">
            <a:extLst>
              <a:ext uri="{FF2B5EF4-FFF2-40B4-BE49-F238E27FC236}">
                <a16:creationId xmlns:a16="http://schemas.microsoft.com/office/drawing/2014/main" id="{0613903F-D5B5-212A-FBE3-151D87E93C83}"/>
              </a:ext>
            </a:extLst>
          </p:cNvPr>
          <p:cNvSpPr/>
          <p:nvPr/>
        </p:nvSpPr>
        <p:spPr>
          <a:xfrm flipV="1">
            <a:off x="567538" y="934789"/>
            <a:ext cx="9094565" cy="44255"/>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5455F627-921D-4264-0BD7-FE696D529966}"/>
              </a:ext>
            </a:extLst>
          </p:cNvPr>
          <p:cNvSpPr txBox="1"/>
          <p:nvPr/>
        </p:nvSpPr>
        <p:spPr>
          <a:xfrm>
            <a:off x="520667" y="365125"/>
            <a:ext cx="8173627"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a:ea typeface="Calibri"/>
                <a:cs typeface="Calibri"/>
                <a:sym typeface="Calibri"/>
              </a:rPr>
              <a:t>Quick Health Clues from Urine Test Parameters</a:t>
            </a:r>
            <a:endParaRPr kumimoji="0" sz="32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29C598FD-9EDB-0BCA-D256-88BB2BF11E05}"/>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8</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6951432B-B473-AF8F-9875-40FF9AD75CB3}"/>
              </a:ext>
            </a:extLst>
          </p:cNvPr>
          <p:cNvSpPr txBox="1"/>
          <p:nvPr/>
        </p:nvSpPr>
        <p:spPr>
          <a:xfrm>
            <a:off x="9824900" y="443572"/>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graphicFrame>
        <p:nvGraphicFramePr>
          <p:cNvPr id="4" name="Table 3">
            <a:extLst>
              <a:ext uri="{FF2B5EF4-FFF2-40B4-BE49-F238E27FC236}">
                <a16:creationId xmlns:a16="http://schemas.microsoft.com/office/drawing/2014/main" id="{63BAC653-EC55-B409-C7BC-C0588C6BF204}"/>
              </a:ext>
            </a:extLst>
          </p:cNvPr>
          <p:cNvGraphicFramePr>
            <a:graphicFrameLocks noGrp="1"/>
          </p:cNvGraphicFramePr>
          <p:nvPr>
            <p:extLst>
              <p:ext uri="{D42A27DB-BD31-4B8C-83A1-F6EECF244321}">
                <p14:modId xmlns:p14="http://schemas.microsoft.com/office/powerpoint/2010/main" val="3424214387"/>
              </p:ext>
            </p:extLst>
          </p:nvPr>
        </p:nvGraphicFramePr>
        <p:xfrm>
          <a:off x="567538" y="1389929"/>
          <a:ext cx="10786264" cy="5260137"/>
        </p:xfrm>
        <a:graphic>
          <a:graphicData uri="http://schemas.openxmlformats.org/drawingml/2006/table">
            <a:tbl>
              <a:tblPr>
                <a:tableStyleId>{793D81CF-94F2-401A-BA57-92F5A7B2D0C5}</a:tableStyleId>
              </a:tblPr>
              <a:tblGrid>
                <a:gridCol w="4828921">
                  <a:extLst>
                    <a:ext uri="{9D8B030D-6E8A-4147-A177-3AD203B41FA5}">
                      <a16:colId xmlns:a16="http://schemas.microsoft.com/office/drawing/2014/main" val="2577793351"/>
                    </a:ext>
                  </a:extLst>
                </a:gridCol>
                <a:gridCol w="5957343">
                  <a:extLst>
                    <a:ext uri="{9D8B030D-6E8A-4147-A177-3AD203B41FA5}">
                      <a16:colId xmlns:a16="http://schemas.microsoft.com/office/drawing/2014/main" val="2821527188"/>
                    </a:ext>
                  </a:extLst>
                </a:gridCol>
              </a:tblGrid>
              <a:tr h="387864">
                <a:tc>
                  <a:txBody>
                    <a:bodyPr/>
                    <a:lstStyle/>
                    <a:p>
                      <a:pPr algn="l"/>
                      <a:r>
                        <a:rPr lang="en-US" sz="1800" b="1" dirty="0">
                          <a:solidFill>
                            <a:schemeClr val="tx1">
                              <a:lumMod val="85000"/>
                              <a:lumOff val="15000"/>
                            </a:schemeClr>
                          </a:solidFill>
                        </a:rPr>
                        <a:t>Parameter</a:t>
                      </a:r>
                      <a:endParaRPr lang="en-US" sz="1800" dirty="0">
                        <a:solidFill>
                          <a:schemeClr val="tx1">
                            <a:lumMod val="85000"/>
                            <a:lumOff val="15000"/>
                          </a:schemeClr>
                        </a:solidFill>
                      </a:endParaRPr>
                    </a:p>
                  </a:txBody>
                  <a:tcPr anchor="ctr"/>
                </a:tc>
                <a:tc>
                  <a:txBody>
                    <a:bodyPr/>
                    <a:lstStyle/>
                    <a:p>
                      <a:pPr algn="l"/>
                      <a:r>
                        <a:rPr lang="en-US" sz="1800" b="1" dirty="0">
                          <a:solidFill>
                            <a:schemeClr val="tx1">
                              <a:lumMod val="85000"/>
                              <a:lumOff val="15000"/>
                            </a:schemeClr>
                          </a:solidFill>
                        </a:rPr>
                        <a:t>Indicates Possible</a:t>
                      </a:r>
                      <a:endParaRPr lang="en-US" sz="1800" dirty="0">
                        <a:solidFill>
                          <a:schemeClr val="tx1">
                            <a:lumMod val="85000"/>
                            <a:lumOff val="15000"/>
                          </a:schemeClr>
                        </a:solidFill>
                      </a:endParaRPr>
                    </a:p>
                  </a:txBody>
                  <a:tcPr anchor="ctr"/>
                </a:tc>
                <a:extLst>
                  <a:ext uri="{0D108BD9-81ED-4DB2-BD59-A6C34878D82A}">
                    <a16:rowId xmlns:a16="http://schemas.microsoft.com/office/drawing/2014/main" val="1754599227"/>
                  </a:ext>
                </a:extLst>
              </a:tr>
              <a:tr h="678762">
                <a:tc>
                  <a:txBody>
                    <a:bodyPr/>
                    <a:lstStyle/>
                    <a:p>
                      <a:pPr algn="l"/>
                      <a:r>
                        <a:rPr lang="en-US" sz="1800" b="1" dirty="0">
                          <a:solidFill>
                            <a:schemeClr val="tx1">
                              <a:lumMod val="85000"/>
                              <a:lumOff val="15000"/>
                            </a:schemeClr>
                          </a:solidFill>
                        </a:rPr>
                        <a:t>Protein</a:t>
                      </a:r>
                      <a:endParaRPr lang="en-US" sz="1800" dirty="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Urinary Tract Infections(UTI), Kidney disease, Kidney Stones, diabetes, dehydration and liver or bile duct problems</a:t>
                      </a:r>
                    </a:p>
                  </a:txBody>
                  <a:tcPr anchor="ctr"/>
                </a:tc>
                <a:extLst>
                  <a:ext uri="{0D108BD9-81ED-4DB2-BD59-A6C34878D82A}">
                    <a16:rowId xmlns:a16="http://schemas.microsoft.com/office/drawing/2014/main" val="2460261331"/>
                  </a:ext>
                </a:extLst>
              </a:tr>
              <a:tr h="387864">
                <a:tc>
                  <a:txBody>
                    <a:bodyPr/>
                    <a:lstStyle/>
                    <a:p>
                      <a:pPr algn="l"/>
                      <a:r>
                        <a:rPr lang="en-US" sz="1800" b="1" dirty="0">
                          <a:solidFill>
                            <a:schemeClr val="tx1">
                              <a:lumMod val="85000"/>
                              <a:lumOff val="15000"/>
                            </a:schemeClr>
                          </a:solidFill>
                        </a:rPr>
                        <a:t>Leukocytes (WBC)</a:t>
                      </a:r>
                      <a:endParaRPr lang="en-US" sz="1800" dirty="0">
                        <a:solidFill>
                          <a:schemeClr val="tx1">
                            <a:lumMod val="85000"/>
                            <a:lumOff val="15000"/>
                          </a:schemeClr>
                        </a:solidFill>
                      </a:endParaRPr>
                    </a:p>
                  </a:txBody>
                  <a:tcPr anchor="ctr"/>
                </a:tc>
                <a:tc>
                  <a:txBody>
                    <a:bodyPr/>
                    <a:lstStyle/>
                    <a:p>
                      <a:pPr algn="l"/>
                      <a:r>
                        <a:rPr lang="en-US" sz="1800">
                          <a:solidFill>
                            <a:schemeClr val="tx1">
                              <a:lumMod val="85000"/>
                              <a:lumOff val="15000"/>
                            </a:schemeClr>
                          </a:solidFill>
                        </a:rPr>
                        <a:t>Infection, UTI, kidney stones</a:t>
                      </a:r>
                    </a:p>
                  </a:txBody>
                  <a:tcPr anchor="ctr"/>
                </a:tc>
                <a:extLst>
                  <a:ext uri="{0D108BD9-81ED-4DB2-BD59-A6C34878D82A}">
                    <a16:rowId xmlns:a16="http://schemas.microsoft.com/office/drawing/2014/main" val="900781844"/>
                  </a:ext>
                </a:extLst>
              </a:tr>
              <a:tr h="596365">
                <a:tc>
                  <a:txBody>
                    <a:bodyPr/>
                    <a:lstStyle/>
                    <a:p>
                      <a:pPr algn="l"/>
                      <a:r>
                        <a:rPr lang="en-US" sz="1800" b="1" dirty="0">
                          <a:solidFill>
                            <a:schemeClr val="tx1">
                              <a:lumMod val="85000"/>
                              <a:lumOff val="15000"/>
                            </a:schemeClr>
                          </a:solidFill>
                        </a:rPr>
                        <a:t>Ketones</a:t>
                      </a:r>
                      <a:endParaRPr lang="en-US" sz="1800" dirty="0">
                        <a:solidFill>
                          <a:schemeClr val="tx1">
                            <a:lumMod val="85000"/>
                            <a:lumOff val="15000"/>
                          </a:schemeClr>
                        </a:solidFill>
                      </a:endParaRPr>
                    </a:p>
                  </a:txBody>
                  <a:tcPr anchor="ctr"/>
                </a:tc>
                <a:tc>
                  <a:txBody>
                    <a:bodyPr/>
                    <a:lstStyle/>
                    <a:p>
                      <a:pPr algn="l"/>
                      <a:r>
                        <a:rPr lang="en-US" sz="1800">
                          <a:solidFill>
                            <a:schemeClr val="tx1">
                              <a:lumMod val="85000"/>
                              <a:lumOff val="15000"/>
                            </a:schemeClr>
                          </a:solidFill>
                        </a:rPr>
                        <a:t>Low-carb diet, diabetes</a:t>
                      </a:r>
                    </a:p>
                  </a:txBody>
                  <a:tcPr anchor="ctr"/>
                </a:tc>
                <a:extLst>
                  <a:ext uri="{0D108BD9-81ED-4DB2-BD59-A6C34878D82A}">
                    <a16:rowId xmlns:a16="http://schemas.microsoft.com/office/drawing/2014/main" val="3001673565"/>
                  </a:ext>
                </a:extLst>
              </a:tr>
              <a:tr h="387864">
                <a:tc>
                  <a:txBody>
                    <a:bodyPr/>
                    <a:lstStyle/>
                    <a:p>
                      <a:pPr algn="l"/>
                      <a:r>
                        <a:rPr lang="en-US" sz="1800" b="1" dirty="0">
                          <a:solidFill>
                            <a:schemeClr val="tx1">
                              <a:lumMod val="85000"/>
                              <a:lumOff val="15000"/>
                            </a:schemeClr>
                          </a:solidFill>
                        </a:rPr>
                        <a:t>Glucose</a:t>
                      </a:r>
                      <a:endParaRPr lang="en-US" sz="1800" dirty="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Diabetes (if &gt;180 mg/dL)</a:t>
                      </a:r>
                    </a:p>
                  </a:txBody>
                  <a:tcPr anchor="ctr"/>
                </a:tc>
                <a:extLst>
                  <a:ext uri="{0D108BD9-81ED-4DB2-BD59-A6C34878D82A}">
                    <a16:rowId xmlns:a16="http://schemas.microsoft.com/office/drawing/2014/main" val="2111635155"/>
                  </a:ext>
                </a:extLst>
              </a:tr>
              <a:tr h="387864">
                <a:tc>
                  <a:txBody>
                    <a:bodyPr/>
                    <a:lstStyle/>
                    <a:p>
                      <a:pPr algn="l"/>
                      <a:r>
                        <a:rPr lang="en-US" sz="1800" b="1" dirty="0">
                          <a:solidFill>
                            <a:schemeClr val="tx1">
                              <a:lumMod val="85000"/>
                              <a:lumOff val="15000"/>
                            </a:schemeClr>
                          </a:solidFill>
                        </a:rPr>
                        <a:t>Nitrites</a:t>
                      </a:r>
                      <a:endParaRPr lang="en-US" sz="1800" dirty="0">
                        <a:solidFill>
                          <a:schemeClr val="tx1">
                            <a:lumMod val="85000"/>
                            <a:lumOff val="15000"/>
                          </a:schemeClr>
                        </a:solidFill>
                      </a:endParaRPr>
                    </a:p>
                  </a:txBody>
                  <a:tcPr anchor="ctr"/>
                </a:tc>
                <a:tc>
                  <a:txBody>
                    <a:bodyPr/>
                    <a:lstStyle/>
                    <a:p>
                      <a:pPr algn="l"/>
                      <a:r>
                        <a:rPr lang="en-US" sz="1800">
                          <a:solidFill>
                            <a:schemeClr val="tx1">
                              <a:lumMod val="85000"/>
                              <a:lumOff val="15000"/>
                            </a:schemeClr>
                          </a:solidFill>
                        </a:rPr>
                        <a:t>Bacterial infection (E. coli, Gonorrhea)</a:t>
                      </a:r>
                    </a:p>
                  </a:txBody>
                  <a:tcPr anchor="ctr"/>
                </a:tc>
                <a:extLst>
                  <a:ext uri="{0D108BD9-81ED-4DB2-BD59-A6C34878D82A}">
                    <a16:rowId xmlns:a16="http://schemas.microsoft.com/office/drawing/2014/main" val="3510619596"/>
                  </a:ext>
                </a:extLst>
              </a:tr>
              <a:tr h="387864">
                <a:tc>
                  <a:txBody>
                    <a:bodyPr/>
                    <a:lstStyle/>
                    <a:p>
                      <a:pPr algn="l"/>
                      <a:r>
                        <a:rPr lang="en-US" sz="1800" b="1" dirty="0">
                          <a:solidFill>
                            <a:schemeClr val="tx1">
                              <a:lumMod val="85000"/>
                              <a:lumOff val="15000"/>
                            </a:schemeClr>
                          </a:solidFill>
                        </a:rPr>
                        <a:t>Blood</a:t>
                      </a:r>
                      <a:endParaRPr lang="en-US" sz="1800" dirty="0">
                        <a:solidFill>
                          <a:schemeClr val="tx1">
                            <a:lumMod val="85000"/>
                            <a:lumOff val="15000"/>
                          </a:schemeClr>
                        </a:solidFill>
                      </a:endParaRPr>
                    </a:p>
                  </a:txBody>
                  <a:tcPr anchor="ctr"/>
                </a:tc>
                <a:tc>
                  <a:txBody>
                    <a:bodyPr/>
                    <a:lstStyle/>
                    <a:p>
                      <a:pPr algn="l"/>
                      <a:r>
                        <a:rPr lang="en-US" sz="1800">
                          <a:solidFill>
                            <a:schemeClr val="tx1">
                              <a:lumMod val="85000"/>
                              <a:lumOff val="15000"/>
                            </a:schemeClr>
                          </a:solidFill>
                        </a:rPr>
                        <a:t>UTI, intense exercise, kidney stones</a:t>
                      </a:r>
                    </a:p>
                  </a:txBody>
                  <a:tcPr anchor="ctr"/>
                </a:tc>
                <a:extLst>
                  <a:ext uri="{0D108BD9-81ED-4DB2-BD59-A6C34878D82A}">
                    <a16:rowId xmlns:a16="http://schemas.microsoft.com/office/drawing/2014/main" val="1877145158"/>
                  </a:ext>
                </a:extLst>
              </a:tr>
              <a:tr h="646460">
                <a:tc>
                  <a:txBody>
                    <a:bodyPr/>
                    <a:lstStyle/>
                    <a:p>
                      <a:pPr algn="l"/>
                      <a:r>
                        <a:rPr lang="en-US" sz="1800" b="1">
                          <a:solidFill>
                            <a:schemeClr val="tx1">
                              <a:lumMod val="85000"/>
                              <a:lumOff val="15000"/>
                            </a:schemeClr>
                          </a:solidFill>
                        </a:rPr>
                        <a:t>Urobilinogen</a:t>
                      </a:r>
                      <a:endParaRPr lang="en-US" sz="180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Liver disease, cirrhosis, hepatitis, liver damage</a:t>
                      </a:r>
                    </a:p>
                  </a:txBody>
                  <a:tcPr anchor="ctr"/>
                </a:tc>
                <a:extLst>
                  <a:ext uri="{0D108BD9-81ED-4DB2-BD59-A6C34878D82A}">
                    <a16:rowId xmlns:a16="http://schemas.microsoft.com/office/drawing/2014/main" val="2836239989"/>
                  </a:ext>
                </a:extLst>
              </a:tr>
              <a:tr h="387864">
                <a:tc>
                  <a:txBody>
                    <a:bodyPr/>
                    <a:lstStyle/>
                    <a:p>
                      <a:pPr algn="l"/>
                      <a:r>
                        <a:rPr lang="en-US" sz="1800" b="1">
                          <a:solidFill>
                            <a:schemeClr val="tx1">
                              <a:lumMod val="85000"/>
                              <a:lumOff val="15000"/>
                            </a:schemeClr>
                          </a:solidFill>
                        </a:rPr>
                        <a:t>pH (6.7–7.5)</a:t>
                      </a:r>
                      <a:endParaRPr lang="en-US" sz="180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Uric acid stones, excess protein intake</a:t>
                      </a:r>
                    </a:p>
                  </a:txBody>
                  <a:tcPr anchor="ctr"/>
                </a:tc>
                <a:extLst>
                  <a:ext uri="{0D108BD9-81ED-4DB2-BD59-A6C34878D82A}">
                    <a16:rowId xmlns:a16="http://schemas.microsoft.com/office/drawing/2014/main" val="739275803"/>
                  </a:ext>
                </a:extLst>
              </a:tr>
              <a:tr h="387864">
                <a:tc>
                  <a:txBody>
                    <a:bodyPr/>
                    <a:lstStyle/>
                    <a:p>
                      <a:pPr algn="l"/>
                      <a:r>
                        <a:rPr lang="en-US" sz="1800" b="1">
                          <a:solidFill>
                            <a:schemeClr val="tx1">
                              <a:lumMod val="85000"/>
                              <a:lumOff val="15000"/>
                            </a:schemeClr>
                          </a:solidFill>
                        </a:rPr>
                        <a:t>Specific Gravity</a:t>
                      </a:r>
                      <a:endParaRPr lang="en-US" sz="180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Dehydration, urine concentration issues</a:t>
                      </a:r>
                    </a:p>
                  </a:txBody>
                  <a:tcPr anchor="ctr"/>
                </a:tc>
                <a:extLst>
                  <a:ext uri="{0D108BD9-81ED-4DB2-BD59-A6C34878D82A}">
                    <a16:rowId xmlns:a16="http://schemas.microsoft.com/office/drawing/2014/main" val="1425861118"/>
                  </a:ext>
                </a:extLst>
              </a:tr>
              <a:tr h="387864">
                <a:tc>
                  <a:txBody>
                    <a:bodyPr/>
                    <a:lstStyle/>
                    <a:p>
                      <a:pPr algn="l"/>
                      <a:r>
                        <a:rPr lang="en-US" sz="1800" b="1" dirty="0">
                          <a:solidFill>
                            <a:schemeClr val="tx1">
                              <a:lumMod val="85000"/>
                              <a:lumOff val="15000"/>
                            </a:schemeClr>
                          </a:solidFill>
                        </a:rPr>
                        <a:t>Bilirubin</a:t>
                      </a:r>
                      <a:endParaRPr lang="en-US" sz="1800" dirty="0">
                        <a:solidFill>
                          <a:schemeClr val="tx1">
                            <a:lumMod val="85000"/>
                            <a:lumOff val="15000"/>
                          </a:schemeClr>
                        </a:solidFill>
                      </a:endParaRPr>
                    </a:p>
                  </a:txBody>
                  <a:tcPr anchor="ctr"/>
                </a:tc>
                <a:tc>
                  <a:txBody>
                    <a:bodyPr/>
                    <a:lstStyle/>
                    <a:p>
                      <a:pPr algn="l"/>
                      <a:r>
                        <a:rPr lang="en-US" sz="1800" dirty="0">
                          <a:solidFill>
                            <a:schemeClr val="tx1">
                              <a:lumMod val="85000"/>
                              <a:lumOff val="15000"/>
                            </a:schemeClr>
                          </a:solidFill>
                        </a:rPr>
                        <a:t>Early liver disease, blocked bile duct</a:t>
                      </a:r>
                    </a:p>
                  </a:txBody>
                  <a:tcPr anchor="ctr"/>
                </a:tc>
                <a:extLst>
                  <a:ext uri="{0D108BD9-81ED-4DB2-BD59-A6C34878D82A}">
                    <a16:rowId xmlns:a16="http://schemas.microsoft.com/office/drawing/2014/main" val="423603035"/>
                  </a:ext>
                </a:extLst>
              </a:tr>
            </a:tbl>
          </a:graphicData>
        </a:graphic>
      </p:graphicFrame>
      <p:sp>
        <p:nvSpPr>
          <p:cNvPr id="6" name="TextBox 5">
            <a:extLst>
              <a:ext uri="{FF2B5EF4-FFF2-40B4-BE49-F238E27FC236}">
                <a16:creationId xmlns:a16="http://schemas.microsoft.com/office/drawing/2014/main" id="{6569B4A1-3F6F-C69F-D510-BFCD781D38E2}"/>
              </a:ext>
            </a:extLst>
          </p:cNvPr>
          <p:cNvSpPr txBox="1"/>
          <p:nvPr/>
        </p:nvSpPr>
        <p:spPr>
          <a:xfrm>
            <a:off x="11770570" y="421491"/>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264128793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72" name="Rectangle"/>
          <p:cNvSpPr/>
          <p:nvPr/>
        </p:nvSpPr>
        <p:spPr>
          <a:xfrm>
            <a:off x="7062762" y="-1"/>
            <a:ext cx="5120272" cy="6858002"/>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208;p21"/>
          <p:cNvSpPr txBox="1">
            <a:spLocks noGrp="1"/>
          </p:cNvSpPr>
          <p:nvPr>
            <p:ph type="body" sz="quarter" idx="1"/>
          </p:nvPr>
        </p:nvSpPr>
        <p:spPr>
          <a:xfrm>
            <a:off x="728774" y="5084557"/>
            <a:ext cx="1292094" cy="398530"/>
          </a:xfrm>
          <a:prstGeom prst="rect">
            <a:avLst/>
          </a:prstGeom>
        </p:spPr>
        <p:txBody>
          <a:bodyPr/>
          <a:lstStyle/>
          <a:p>
            <a:pPr marL="0" indent="0">
              <a:buSzTx/>
              <a:buNone/>
              <a:defRPr sz="2000">
                <a:solidFill>
                  <a:srgbClr val="EBEBEB"/>
                </a:solidFill>
              </a:defRPr>
            </a:pPr>
            <a:r>
              <a:rPr b="1" dirty="0"/>
              <a:t>3. Action</a:t>
            </a:r>
            <a:r>
              <a:rPr dirty="0"/>
              <a:t>:</a:t>
            </a:r>
          </a:p>
        </p:txBody>
      </p:sp>
      <p:sp>
        <p:nvSpPr>
          <p:cNvPr id="274" name="Solution Overview"/>
          <p:cNvSpPr txBox="1"/>
          <p:nvPr/>
        </p:nvSpPr>
        <p:spPr>
          <a:xfrm>
            <a:off x="506423" y="420673"/>
            <a:ext cx="4622816" cy="5553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sz="3200" b="1" i="0" u="none" strike="noStrike" kern="0" cap="none" spc="0" normalizeH="0" baseline="0" noProof="0" dirty="0">
                <a:ln>
                  <a:noFill/>
                </a:ln>
                <a:solidFill>
                  <a:srgbClr val="FFFFFF"/>
                </a:solidFill>
                <a:effectLst/>
                <a:uLnTx/>
                <a:uFillTx/>
                <a:latin typeface="Calibri"/>
                <a:ea typeface="Calibri"/>
                <a:cs typeface="Calibri"/>
                <a:sym typeface="Calibri"/>
              </a:rPr>
              <a:t>Solution</a:t>
            </a:r>
            <a:r>
              <a:rPr kumimoji="0" lang="en-US" sz="3200" b="1" i="0" u="none" strike="noStrike" kern="0" cap="none" spc="0" normalizeH="0" baseline="0" noProof="0" dirty="0">
                <a:ln>
                  <a:noFill/>
                </a:ln>
                <a:solidFill>
                  <a:srgbClr val="FFFFFF"/>
                </a:solidFill>
                <a:effectLst/>
                <a:uLnTx/>
                <a:uFillTx/>
                <a:latin typeface="Calibri"/>
                <a:ea typeface="Calibri"/>
                <a:cs typeface="Calibri"/>
                <a:sym typeface="Calibri"/>
              </a:rPr>
              <a:t> 1 </a:t>
            </a:r>
            <a:r>
              <a:rPr lang="en-US" sz="3200" b="1" kern="0" dirty="0"/>
              <a:t>- </a:t>
            </a:r>
            <a:r>
              <a:rPr kumimoji="0" lang="en-US" sz="3200" b="1" i="0" u="none" strike="noStrike" kern="0" cap="none" spc="0" normalizeH="0" baseline="0" noProof="0" dirty="0">
                <a:ln>
                  <a:noFill/>
                </a:ln>
                <a:solidFill>
                  <a:srgbClr val="FFFFFF"/>
                </a:solidFill>
                <a:effectLst/>
                <a:uLnTx/>
                <a:uFillTx/>
                <a:latin typeface="Calibri"/>
                <a:ea typeface="Calibri"/>
                <a:cs typeface="Calibri"/>
                <a:sym typeface="Calibri"/>
              </a:rPr>
              <a:t>Mobile App</a:t>
            </a:r>
            <a:endParaRPr kumimoji="0" sz="32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275" name="Google Shape;214;p21"/>
          <p:cNvSpPr txBox="1"/>
          <p:nvPr/>
        </p:nvSpPr>
        <p:spPr>
          <a:xfrm>
            <a:off x="8302069" y="5784948"/>
            <a:ext cx="3268899" cy="3330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spAutoFit/>
          </a:bodyPr>
          <a:lstStyle>
            <a:lvl1pPr>
              <a:defRPr sz="1800" i="1">
                <a:solidFill>
                  <a:srgbClr val="222222"/>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1" u="none" strike="noStrike" kern="0" cap="none" spc="0" normalizeH="0" baseline="0" noProof="0" dirty="0">
                <a:ln>
                  <a:noFill/>
                </a:ln>
                <a:solidFill>
                  <a:srgbClr val="222222"/>
                </a:solidFill>
                <a:effectLst/>
                <a:uLnTx/>
                <a:uFillTx/>
                <a:latin typeface="Calibri"/>
                <a:ea typeface="Calibri"/>
                <a:cs typeface="Calibri"/>
                <a:sym typeface="Calibri"/>
              </a:rPr>
              <a:t>Click above to play the animation</a:t>
            </a:r>
          </a:p>
        </p:txBody>
      </p:sp>
      <p:sp>
        <p:nvSpPr>
          <p:cNvPr id="276" name="Line"/>
          <p:cNvSpPr/>
          <p:nvPr/>
        </p:nvSpPr>
        <p:spPr>
          <a:xfrm>
            <a:off x="527587" y="980770"/>
            <a:ext cx="4329001" cy="1"/>
          </a:xfrm>
          <a:prstGeom prst="line">
            <a:avLst/>
          </a:prstGeom>
          <a:ln w="25400">
            <a:solidFill>
              <a:schemeClr val="bg2"/>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77" name="Our cutting-edge AI technology simplifies the diagnostic process into three streamlined steps :"/>
          <p:cNvSpPr txBox="1"/>
          <p:nvPr/>
        </p:nvSpPr>
        <p:spPr>
          <a:xfrm>
            <a:off x="506423" y="1276830"/>
            <a:ext cx="5621239" cy="6201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buClr>
                <a:srgbClr val="000000"/>
              </a:buClr>
              <a:buFont typeface="Arial"/>
              <a:defRPr sz="2000">
                <a:solidFill>
                  <a:srgbClr val="EBEBEB"/>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
                <a:srgbClr val="000000"/>
              </a:buClr>
              <a:buSzTx/>
              <a:buFont typeface="Arial"/>
              <a:buNone/>
              <a:tabLst/>
              <a:defRPr/>
            </a:pPr>
            <a:r>
              <a:rPr kumimoji="0" sz="2000" b="0" i="0" u="none" strike="noStrike" kern="0" cap="none" spc="0" normalizeH="0" baseline="0" noProof="0">
                <a:ln>
                  <a:noFill/>
                </a:ln>
                <a:solidFill>
                  <a:srgbClr val="EBEBEB"/>
                </a:solidFill>
                <a:effectLst/>
                <a:uLnTx/>
                <a:uFillTx/>
                <a:latin typeface="Calibri"/>
                <a:ea typeface="Calibri"/>
                <a:cs typeface="Calibri"/>
                <a:sym typeface="Calibri"/>
              </a:rPr>
              <a:t>Our cutting-edge AI technology simplifies the diagnostic process into three streamlined steps :</a:t>
            </a:r>
          </a:p>
        </p:txBody>
      </p:sp>
      <p:sp>
        <p:nvSpPr>
          <p:cNvPr id="278" name="Slide Numbe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9</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79" name="Scan"/>
          <p:cNvSpPr txBox="1"/>
          <p:nvPr/>
        </p:nvSpPr>
        <p:spPr>
          <a:xfrm>
            <a:off x="729260" y="2180297"/>
            <a:ext cx="887761" cy="340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marL="297076" indent="-297076">
              <a:lnSpc>
                <a:spcPct val="90000"/>
              </a:lnSpc>
              <a:spcBef>
                <a:spcPts val="1000"/>
              </a:spcBef>
              <a:buSzPct val="100000"/>
              <a:buAutoNum type="arabicPeriod"/>
              <a:defRPr sz="2000" b="1">
                <a:solidFill>
                  <a:srgbClr val="EBEBEB"/>
                </a:solidFill>
                <a:latin typeface="Calibri"/>
                <a:ea typeface="Calibri"/>
                <a:cs typeface="Calibri"/>
                <a:sym typeface="Calibri"/>
              </a:defRPr>
            </a:lvl1pPr>
          </a:lstStyle>
          <a:p>
            <a:pPr marL="297076" marR="0" lvl="0" indent="-297076" algn="l" defTabSz="914400" rtl="0" eaLnBrk="1" fontAlgn="auto" latinLnBrk="0" hangingPunct="0">
              <a:lnSpc>
                <a:spcPct val="90000"/>
              </a:lnSpc>
              <a:spcBef>
                <a:spcPts val="1000"/>
              </a:spcBef>
              <a:spcAft>
                <a:spcPts val="0"/>
              </a:spcAft>
              <a:buClrTx/>
              <a:buSzPct val="100000"/>
              <a:buFontTx/>
              <a:buAutoNum type="arabicPeriod"/>
              <a:tabLst/>
              <a:defRPr b="0"/>
            </a:pPr>
            <a:r>
              <a:rPr kumimoji="0" sz="2000" b="1" i="0" u="none" strike="noStrike" kern="0" cap="none" spc="0" normalizeH="0" baseline="0" noProof="0">
                <a:ln>
                  <a:noFill/>
                </a:ln>
                <a:solidFill>
                  <a:srgbClr val="EBEBEB"/>
                </a:solidFill>
                <a:effectLst/>
                <a:uLnTx/>
                <a:uFillTx/>
                <a:latin typeface="Calibri"/>
                <a:ea typeface="Calibri"/>
                <a:cs typeface="Calibri"/>
                <a:sym typeface="Calibri"/>
              </a:rPr>
              <a:t>Scan</a:t>
            </a:r>
          </a:p>
        </p:txBody>
      </p:sp>
      <p:sp>
        <p:nvSpPr>
          <p:cNvPr id="280" name="Use our intuitive mobile app to guide users in performing the test correctly."/>
          <p:cNvSpPr txBox="1"/>
          <p:nvPr/>
        </p:nvSpPr>
        <p:spPr>
          <a:xfrm>
            <a:off x="729260" y="2576821"/>
            <a:ext cx="4038881" cy="6201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spcBef>
                <a:spcPts val="1000"/>
              </a:spcBef>
              <a:buClr>
                <a:srgbClr val="000000"/>
              </a:buClr>
              <a:buFont typeface="Arial"/>
              <a:defRPr sz="2000">
                <a:solidFill>
                  <a:srgbClr val="EBEBEB"/>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1000"/>
              </a:spcBef>
              <a:spcAft>
                <a:spcPts val="0"/>
              </a:spcAft>
              <a:buClr>
                <a:srgbClr val="000000"/>
              </a:buClr>
              <a:buSzTx/>
              <a:buFont typeface="Arial"/>
              <a:buNone/>
              <a:tabLst/>
              <a:defRPr/>
            </a:pPr>
            <a:r>
              <a:rPr kumimoji="0" sz="2000" b="0" i="0" u="none" strike="noStrike" kern="0" cap="none" spc="0" normalizeH="0" baseline="0" noProof="0" dirty="0">
                <a:ln>
                  <a:noFill/>
                </a:ln>
                <a:solidFill>
                  <a:srgbClr val="EBEBEB"/>
                </a:solidFill>
                <a:effectLst/>
                <a:uLnTx/>
                <a:uFillTx/>
                <a:latin typeface="Calibri"/>
                <a:ea typeface="Calibri"/>
                <a:cs typeface="Calibri"/>
                <a:sym typeface="Calibri"/>
              </a:rPr>
              <a:t>Use our intuitive mobile app to guide users in performing the test correctly.</a:t>
            </a:r>
          </a:p>
        </p:txBody>
      </p:sp>
      <p:sp>
        <p:nvSpPr>
          <p:cNvPr id="281" name="2. Analyze:"/>
          <p:cNvSpPr txBox="1"/>
          <p:nvPr/>
        </p:nvSpPr>
        <p:spPr>
          <a:xfrm>
            <a:off x="728774" y="3442739"/>
            <a:ext cx="1254509"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marL="0" marR="0" lvl="0" indent="0" algn="l" defTabSz="914400" rtl="0" eaLnBrk="1" fontAlgn="auto" latinLnBrk="0" hangingPunct="0">
              <a:lnSpc>
                <a:spcPct val="90000"/>
              </a:lnSpc>
              <a:spcBef>
                <a:spcPts val="1000"/>
              </a:spcBef>
              <a:spcAft>
                <a:spcPts val="0"/>
              </a:spcAft>
              <a:buClr>
                <a:srgbClr val="000000"/>
              </a:buClr>
              <a:buSzTx/>
              <a:buFont typeface="Arial"/>
              <a:buNone/>
              <a:tabLst/>
              <a:defRPr sz="2000">
                <a:solidFill>
                  <a:srgbClr val="EBEBEB"/>
                </a:solidFill>
                <a:latin typeface="Calibri"/>
                <a:ea typeface="Calibri"/>
                <a:cs typeface="Calibri"/>
                <a:sym typeface="Calibri"/>
              </a:defRPr>
            </a:pPr>
            <a:r>
              <a:rPr kumimoji="0" sz="2000" b="1" i="0" u="none" strike="noStrike" kern="0" cap="none" spc="0" normalizeH="0" baseline="0" noProof="0" dirty="0">
                <a:ln>
                  <a:noFill/>
                </a:ln>
                <a:solidFill>
                  <a:srgbClr val="EBEBEB"/>
                </a:solidFill>
                <a:effectLst/>
                <a:uLnTx/>
                <a:uFillTx/>
                <a:latin typeface="Calibri"/>
                <a:ea typeface="Calibri"/>
                <a:cs typeface="Calibri"/>
                <a:sym typeface="Calibri"/>
              </a:rPr>
              <a:t>2. Analyze</a:t>
            </a:r>
            <a:r>
              <a:rPr kumimoji="0" sz="2000" b="0" i="0" u="none" strike="noStrike" kern="0" cap="none" spc="0" normalizeH="0" baseline="0" noProof="0" dirty="0">
                <a:ln>
                  <a:noFill/>
                </a:ln>
                <a:solidFill>
                  <a:srgbClr val="EBEBEB"/>
                </a:solidFill>
                <a:effectLst/>
                <a:uLnTx/>
                <a:uFillTx/>
                <a:latin typeface="Calibri"/>
                <a:ea typeface="Calibri"/>
                <a:cs typeface="Calibri"/>
                <a:sym typeface="Calibri"/>
              </a:rPr>
              <a:t>:</a:t>
            </a:r>
          </a:p>
        </p:txBody>
      </p:sp>
      <p:sp>
        <p:nvSpPr>
          <p:cNvPr id="282" name="Our sophisticated AI software instantly generates accurate test results within 20 seconds."/>
          <p:cNvSpPr txBox="1"/>
          <p:nvPr/>
        </p:nvSpPr>
        <p:spPr>
          <a:xfrm>
            <a:off x="729260" y="3750028"/>
            <a:ext cx="4523466" cy="117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0" marR="0" lvl="0" indent="0" algn="l" defTabSz="914400" rtl="0" eaLnBrk="1" fontAlgn="auto" latinLnBrk="0" hangingPunct="0">
              <a:lnSpc>
                <a:spcPct val="90000"/>
              </a:lnSpc>
              <a:spcBef>
                <a:spcPts val="1000"/>
              </a:spcBef>
              <a:spcAft>
                <a:spcPts val="0"/>
              </a:spcAft>
              <a:buClr>
                <a:srgbClr val="000000"/>
              </a:buClr>
              <a:buSzTx/>
              <a:buFont typeface="Arial"/>
              <a:buNone/>
              <a:tabLst/>
              <a:defRPr sz="2000">
                <a:solidFill>
                  <a:srgbClr val="EBEBEB"/>
                </a:solidFill>
                <a:latin typeface="Calibri"/>
                <a:ea typeface="Calibri"/>
                <a:cs typeface="Calibri"/>
                <a:sym typeface="Calibri"/>
              </a:defRPr>
            </a:pPr>
            <a:r>
              <a:rPr kumimoji="0" sz="2000" b="0" i="0" u="none" strike="noStrike" kern="0" cap="none" spc="0" normalizeH="0" baseline="0" noProof="0">
                <a:ln>
                  <a:noFill/>
                </a:ln>
                <a:solidFill>
                  <a:srgbClr val="EBEBEB"/>
                </a:solidFill>
                <a:effectLst/>
                <a:uLnTx/>
                <a:uFillTx/>
                <a:latin typeface="Calibri"/>
                <a:ea typeface="Calibri"/>
                <a:cs typeface="Calibri"/>
                <a:sym typeface="Calibri"/>
              </a:rPr>
              <a:t>Our sophisticated AI software instantly generates accurate test results within 20 seconds.</a:t>
            </a:r>
            <a:br>
              <a:rPr kumimoji="0" sz="2000" b="0" i="0" u="none" strike="noStrike" kern="0" cap="none" spc="0" normalizeH="0" baseline="0" noProof="0">
                <a:ln>
                  <a:noFill/>
                </a:ln>
                <a:solidFill>
                  <a:srgbClr val="EBEBEB"/>
                </a:solidFill>
                <a:effectLst/>
                <a:uLnTx/>
                <a:uFillTx/>
                <a:latin typeface="Calibri"/>
                <a:ea typeface="Calibri"/>
                <a:cs typeface="Calibri"/>
                <a:sym typeface="Calibri"/>
              </a:rPr>
            </a:br>
            <a:endParaRPr kumimoji="0" sz="2000" b="0" i="0" u="none" strike="noStrike" kern="0" cap="none" spc="0" normalizeH="0" baseline="0" noProof="0">
              <a:ln>
                <a:noFill/>
              </a:ln>
              <a:solidFill>
                <a:srgbClr val="EBEBEB"/>
              </a:solidFill>
              <a:effectLst/>
              <a:uLnTx/>
              <a:uFillTx/>
              <a:latin typeface="Calibri"/>
              <a:ea typeface="Calibri"/>
              <a:cs typeface="Calibri"/>
              <a:sym typeface="Calibri"/>
            </a:endParaRPr>
          </a:p>
        </p:txBody>
      </p:sp>
      <p:sp>
        <p:nvSpPr>
          <p:cNvPr id="283" name="Get easy to interpret results and contacts of medical experts for further action via digital platform."/>
          <p:cNvSpPr txBox="1"/>
          <p:nvPr/>
        </p:nvSpPr>
        <p:spPr>
          <a:xfrm>
            <a:off x="728774" y="5483085"/>
            <a:ext cx="4364461" cy="117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marL="0" marR="0" lvl="0" indent="0" algn="l" defTabSz="914400" rtl="0" eaLnBrk="1" fontAlgn="auto" latinLnBrk="0" hangingPunct="0">
              <a:lnSpc>
                <a:spcPct val="90000"/>
              </a:lnSpc>
              <a:spcBef>
                <a:spcPts val="1000"/>
              </a:spcBef>
              <a:spcAft>
                <a:spcPts val="0"/>
              </a:spcAft>
              <a:buClr>
                <a:srgbClr val="000000"/>
              </a:buClr>
              <a:buSzTx/>
              <a:buFont typeface="Arial"/>
              <a:buNone/>
              <a:tabLst/>
              <a:defRPr sz="2000">
                <a:solidFill>
                  <a:srgbClr val="EBEBEB"/>
                </a:solidFill>
                <a:latin typeface="Calibri"/>
                <a:ea typeface="Calibri"/>
                <a:cs typeface="Calibri"/>
                <a:sym typeface="Calibri"/>
              </a:defRPr>
            </a:pPr>
            <a:r>
              <a:rPr kumimoji="0" sz="2000" b="0" i="0" u="none" strike="noStrike" kern="0" cap="none" spc="0" normalizeH="0" baseline="0" noProof="0">
                <a:ln>
                  <a:noFill/>
                </a:ln>
                <a:solidFill>
                  <a:srgbClr val="EBEBEB"/>
                </a:solidFill>
                <a:effectLst/>
                <a:uLnTx/>
                <a:uFillTx/>
                <a:latin typeface="Calibri"/>
                <a:ea typeface="Calibri"/>
                <a:cs typeface="Calibri"/>
                <a:sym typeface="Calibri"/>
              </a:rPr>
              <a:t>Get easy to interpret results and contacts of medical experts for further action via digital platform.</a:t>
            </a:r>
            <a:br>
              <a:rPr kumimoji="0" sz="2000" b="0" i="0" u="none" strike="noStrike" kern="0" cap="none" spc="0" normalizeH="0" baseline="0" noProof="0">
                <a:ln>
                  <a:noFill/>
                </a:ln>
                <a:solidFill>
                  <a:srgbClr val="EBEBEB"/>
                </a:solidFill>
                <a:effectLst/>
                <a:uLnTx/>
                <a:uFillTx/>
                <a:latin typeface="Calibri"/>
                <a:ea typeface="Calibri"/>
                <a:cs typeface="Calibri"/>
                <a:sym typeface="Calibri"/>
              </a:rPr>
            </a:br>
            <a:endParaRPr kumimoji="0" sz="2000" b="0" i="0" u="none" strike="noStrike" kern="0" cap="none" spc="0" normalizeH="0" baseline="0" noProof="0">
              <a:ln>
                <a:noFill/>
              </a:ln>
              <a:solidFill>
                <a:srgbClr val="EBEBEB"/>
              </a:solidFill>
              <a:effectLst/>
              <a:uLnTx/>
              <a:uFillTx/>
              <a:latin typeface="Calibri"/>
              <a:ea typeface="Calibri"/>
              <a:cs typeface="Calibri"/>
              <a:sym typeface="Calibri"/>
            </a:endParaRPr>
          </a:p>
        </p:txBody>
      </p:sp>
      <p:sp>
        <p:nvSpPr>
          <p:cNvPr id="284" name="Rectangle"/>
          <p:cNvSpPr/>
          <p:nvPr/>
        </p:nvSpPr>
        <p:spPr>
          <a:xfrm>
            <a:off x="527587" y="2192997"/>
            <a:ext cx="18939" cy="991232"/>
          </a:xfrm>
          <a:prstGeom prst="rect">
            <a:avLst/>
          </a:prstGeom>
          <a:gradFill>
            <a:gsLst>
              <a:gs pos="0">
                <a:srgbClr val="6DBC38"/>
              </a:gs>
              <a:gs pos="100000">
                <a:srgbClr val="BAFD9D"/>
              </a:gs>
            </a:gsLst>
            <a:lin ang="16200000"/>
          </a:gradFill>
          <a:ln w="12700">
            <a:miter lim="400000"/>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285" name="Rectangle"/>
          <p:cNvSpPr/>
          <p:nvPr/>
        </p:nvSpPr>
        <p:spPr>
          <a:xfrm>
            <a:off x="527587" y="3492744"/>
            <a:ext cx="18939" cy="1195142"/>
          </a:xfrm>
          <a:prstGeom prst="rect">
            <a:avLst/>
          </a:prstGeom>
          <a:gradFill>
            <a:gsLst>
              <a:gs pos="0">
                <a:schemeClr val="accent4">
                  <a:hueOff val="-617933"/>
                  <a:lumOff val="36487"/>
                </a:schemeClr>
              </a:gs>
              <a:gs pos="35000">
                <a:srgbClr val="FFEACF"/>
              </a:gs>
              <a:gs pos="100000">
                <a:schemeClr val="accent4">
                  <a:hueOff val="-742744"/>
                  <a:lumOff val="46439"/>
                </a:schemeClr>
              </a:gs>
            </a:gsLst>
            <a:lin ang="16200000"/>
          </a:gradFill>
          <a:ln w="12700">
            <a:miter lim="400000"/>
          </a:ln>
          <a:effectLst>
            <a:outerShdw blurRad="38100" dist="20000" dir="5400000" rotWithShape="0">
              <a:srgbClr val="000000">
                <a:alpha val="38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6" name="Rectangle"/>
          <p:cNvSpPr/>
          <p:nvPr/>
        </p:nvSpPr>
        <p:spPr>
          <a:xfrm>
            <a:off x="532349" y="5089319"/>
            <a:ext cx="13691" cy="1226738"/>
          </a:xfrm>
          <a:prstGeom prst="rect">
            <a:avLst/>
          </a:prstGeom>
          <a:gradFill>
            <a:gsLst>
              <a:gs pos="0">
                <a:srgbClr val="499CE7"/>
              </a:gs>
              <a:gs pos="100000">
                <a:schemeClr val="accent5">
                  <a:hueOff val="329330"/>
                  <a:satOff val="40776"/>
                  <a:lumOff val="24655"/>
                </a:schemeClr>
              </a:gs>
            </a:gsLst>
            <a:lin ang="16200000"/>
          </a:gradFill>
          <a:ln>
            <a:solidFill>
              <a:srgbClr val="5698D3"/>
            </a:solidFill>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pic>
        <p:nvPicPr>
          <p:cNvPr id="287" name="3 steps of using the tool kit .mp4" descr="3 steps of using the tool kit .mp4"/>
          <p:cNvPicPr>
            <a:picLocks/>
          </p:cNvPicPr>
          <p:nvPr>
            <a:videoFile r:link="rId2"/>
            <p:extLst>
              <p:ext uri="{DAA4B4D4-6D71-4841-9C94-3DE7FCFB9230}">
                <p14:media xmlns:p14="http://schemas.microsoft.com/office/powerpoint/2010/main" r:embed="rId1"/>
              </p:ext>
            </p:extLst>
          </p:nvPr>
        </p:nvPicPr>
        <p:blipFill>
          <a:blip r:embed="rId4"/>
          <a:stretch>
            <a:fillRect/>
          </a:stretch>
        </p:blipFill>
        <p:spPr>
          <a:xfrm>
            <a:off x="7406484" y="1485378"/>
            <a:ext cx="4769158" cy="3772969"/>
          </a:xfrm>
          <a:prstGeom prst="rect">
            <a:avLst/>
          </a:prstGeom>
          <a:ln w="12700">
            <a:miter lim="400000"/>
          </a:ln>
        </p:spPr>
      </p:pic>
      <p:sp>
        <p:nvSpPr>
          <p:cNvPr id="2" name="BillionTests">
            <a:extLst>
              <a:ext uri="{FF2B5EF4-FFF2-40B4-BE49-F238E27FC236}">
                <a16:creationId xmlns:a16="http://schemas.microsoft.com/office/drawing/2014/main" id="{A44CF449-B858-1E7F-BF7F-915CBCF50B9C}"/>
              </a:ext>
            </a:extLst>
          </p:cNvPr>
          <p:cNvSpPr txBox="1"/>
          <p:nvPr/>
        </p:nvSpPr>
        <p:spPr>
          <a:xfrm>
            <a:off x="9936518" y="420673"/>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4" name="TextBox 3">
            <a:extLst>
              <a:ext uri="{FF2B5EF4-FFF2-40B4-BE49-F238E27FC236}">
                <a16:creationId xmlns:a16="http://schemas.microsoft.com/office/drawing/2014/main" id="{BFF0D8BD-8DBD-51FB-33C3-B1022417484F}"/>
              </a:ext>
            </a:extLst>
          </p:cNvPr>
          <p:cNvSpPr txBox="1"/>
          <p:nvPr/>
        </p:nvSpPr>
        <p:spPr>
          <a:xfrm>
            <a:off x="11882188" y="305257"/>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998" fill="hold"/>
                                        <p:tgtEl>
                                          <p:spTgt spid="28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287"/>
                </p:tgtEl>
              </p:cMediaNode>
            </p:video>
            <p:seq concurrent="1" prevAc="none" nextAc="seek">
              <p:cTn id="8" restart="whenNotActive" fill="hold" evtFilter="cancelBubble" nodeType="interactiveSeq">
                <p:stCondLst>
                  <p:cond evt="onClick" delay="0">
                    <p:tgtEl>
                      <p:spTgt spid="28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87"/>
                                        </p:tgtEl>
                                      </p:cBhvr>
                                    </p:cmd>
                                  </p:childTnLst>
                                </p:cTn>
                              </p:par>
                            </p:childTnLst>
                          </p:cTn>
                        </p:par>
                      </p:childTnLst>
                    </p:cTn>
                  </p:par>
                </p:childTnLst>
              </p:cTn>
              <p:nextCondLst>
                <p:cond evt="onClick" delay="0">
                  <p:tgtEl>
                    <p:spTgt spid="287"/>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BCEFFDF-1A3C-8EAC-5694-39EED5B15EB0}"/>
            </a:ext>
          </a:extLst>
        </p:cNvPr>
        <p:cNvGrpSpPr/>
        <p:nvPr/>
      </p:nvGrpSpPr>
      <p:grpSpPr>
        <a:xfrm>
          <a:off x="0" y="0"/>
          <a:ext cx="0" cy="0"/>
          <a:chOff x="0" y="0"/>
          <a:chExt cx="0" cy="0"/>
        </a:xfrm>
      </p:grpSpPr>
      <p:sp>
        <p:nvSpPr>
          <p:cNvPr id="428" name="Rectangle">
            <a:extLst>
              <a:ext uri="{FF2B5EF4-FFF2-40B4-BE49-F238E27FC236}">
                <a16:creationId xmlns:a16="http://schemas.microsoft.com/office/drawing/2014/main" id="{45E41597-7241-0F28-620A-1F9DBF8DC24F}"/>
              </a:ext>
            </a:extLst>
          </p:cNvPr>
          <p:cNvSpPr/>
          <p:nvPr/>
        </p:nvSpPr>
        <p:spPr>
          <a:xfrm>
            <a:off x="0" y="1133504"/>
            <a:ext cx="12192001" cy="5723681"/>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9" name="Google Shape;324;p28">
            <a:extLst>
              <a:ext uri="{FF2B5EF4-FFF2-40B4-BE49-F238E27FC236}">
                <a16:creationId xmlns:a16="http://schemas.microsoft.com/office/drawing/2014/main" id="{B975467A-87EC-1787-238F-5E6291BBEE31}"/>
              </a:ext>
            </a:extLst>
          </p:cNvPr>
          <p:cNvSpPr txBox="1"/>
          <p:nvPr/>
        </p:nvSpPr>
        <p:spPr>
          <a:xfrm>
            <a:off x="518159" y="5626825"/>
            <a:ext cx="2801734" cy="6462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lvl1pPr algn="ctr">
              <a:defRPr sz="1800">
                <a:latin typeface="Calibri"/>
                <a:ea typeface="Calibri"/>
                <a:cs typeface="Calibri"/>
                <a:sym typeface="Calibri"/>
              </a:defRPr>
            </a:lvl1p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000000"/>
                </a:solidFill>
                <a:effectLst/>
                <a:uLnTx/>
                <a:uFillTx/>
                <a:latin typeface="Calibri"/>
                <a:ea typeface="Calibri"/>
                <a:cs typeface="Calibri"/>
                <a:sym typeface="Calibri"/>
              </a:rPr>
              <a:t>Ready made and </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well-established</a:t>
            </a:r>
            <a:r>
              <a:rPr kumimoji="0" sz="1800" b="0" i="0" u="none" strike="noStrike" kern="0" cap="none" spc="0" normalizeH="0" baseline="0" noProof="0" dirty="0">
                <a:ln>
                  <a:noFill/>
                </a:ln>
                <a:solidFill>
                  <a:srgbClr val="000000"/>
                </a:solidFill>
                <a:effectLst/>
                <a:uLnTx/>
                <a:uFillTx/>
                <a:latin typeface="Calibri"/>
                <a:ea typeface="Calibri"/>
                <a:cs typeface="Calibri"/>
                <a:sym typeface="Calibri"/>
              </a:rPr>
              <a:t> diagnostic strips </a:t>
            </a:r>
          </a:p>
        </p:txBody>
      </p:sp>
      <p:sp>
        <p:nvSpPr>
          <p:cNvPr id="430" name="Logistics Snap">
            <a:extLst>
              <a:ext uri="{FF2B5EF4-FFF2-40B4-BE49-F238E27FC236}">
                <a16:creationId xmlns:a16="http://schemas.microsoft.com/office/drawing/2014/main" id="{FF34A7F8-3539-1AAC-10E5-BD05299CDC21}"/>
              </a:ext>
            </a:extLst>
          </p:cNvPr>
          <p:cNvSpPr txBox="1"/>
          <p:nvPr/>
        </p:nvSpPr>
        <p:spPr>
          <a:xfrm>
            <a:off x="482600" y="365124"/>
            <a:ext cx="5166351" cy="72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sz="3600" b="0" i="0" u="none" strike="noStrike" kern="0" cap="none" spc="0" normalizeH="0" baseline="0" noProof="0">
                <a:ln>
                  <a:noFill/>
                </a:ln>
                <a:solidFill>
                  <a:srgbClr val="FFFFFF"/>
                </a:solidFill>
                <a:effectLst/>
                <a:uLnTx/>
                <a:uFillTx/>
                <a:latin typeface="Calibri"/>
                <a:ea typeface="Calibri"/>
                <a:cs typeface="Calibri"/>
                <a:sym typeface="Calibri"/>
              </a:rPr>
              <a:t>Logistics Snap</a:t>
            </a:r>
          </a:p>
        </p:txBody>
      </p:sp>
      <p:grpSp>
        <p:nvGrpSpPr>
          <p:cNvPr id="437" name="Group">
            <a:extLst>
              <a:ext uri="{FF2B5EF4-FFF2-40B4-BE49-F238E27FC236}">
                <a16:creationId xmlns:a16="http://schemas.microsoft.com/office/drawing/2014/main" id="{FA1F533A-B16A-16CE-D842-44766C50D66E}"/>
              </a:ext>
            </a:extLst>
          </p:cNvPr>
          <p:cNvGrpSpPr/>
          <p:nvPr/>
        </p:nvGrpSpPr>
        <p:grpSpPr>
          <a:xfrm>
            <a:off x="543140" y="1518510"/>
            <a:ext cx="2801774" cy="3820980"/>
            <a:chOff x="0" y="0"/>
            <a:chExt cx="2801772" cy="3820978"/>
          </a:xfrm>
        </p:grpSpPr>
        <p:sp>
          <p:nvSpPr>
            <p:cNvPr id="431" name="Rectangle">
              <a:extLst>
                <a:ext uri="{FF2B5EF4-FFF2-40B4-BE49-F238E27FC236}">
                  <a16:creationId xmlns:a16="http://schemas.microsoft.com/office/drawing/2014/main" id="{24F46D66-4A77-BA89-5EFB-71B857AD492E}"/>
                </a:ext>
              </a:extLst>
            </p:cNvPr>
            <p:cNvSpPr/>
            <p:nvPr/>
          </p:nvSpPr>
          <p:spPr>
            <a:xfrm>
              <a:off x="0" y="0"/>
              <a:ext cx="2801773" cy="3820979"/>
            </a:xfrm>
            <a:prstGeom prst="rect">
              <a:avLst/>
            </a:prstGeom>
            <a:solidFill>
              <a:srgbClr val="DDDDDD"/>
            </a:solidFill>
            <a:ln w="12700" cap="flat">
              <a:noFill/>
              <a:miter lim="400000"/>
            </a:ln>
            <a:effectLst>
              <a:outerShdw blurRad="38100" dist="23000" dir="5400000" rotWithShape="0">
                <a:srgbClr val="000000">
                  <a:alpha val="35000"/>
                </a:srgbClr>
              </a:outerShdw>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432" name="Google Shape;161;p19">
              <a:extLst>
                <a:ext uri="{FF2B5EF4-FFF2-40B4-BE49-F238E27FC236}">
                  <a16:creationId xmlns:a16="http://schemas.microsoft.com/office/drawing/2014/main" id="{C75E01A1-0E10-9519-2AE8-81EBBAC16F3F}"/>
                </a:ext>
              </a:extLst>
            </p:cNvPr>
            <p:cNvSpPr txBox="1"/>
            <p:nvPr/>
          </p:nvSpPr>
          <p:spPr>
            <a:xfrm>
              <a:off x="320040" y="3344956"/>
              <a:ext cx="2058702" cy="4019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700">
                  <a:solidFill>
                    <a:schemeClr val="accent1">
                      <a:satOff val="-3547"/>
                      <a:lumOff val="-10352"/>
                    </a:schemeClr>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700" b="0" i="0" u="none" strike="noStrike" kern="0" cap="none" spc="0" normalizeH="0" baseline="0" noProof="0" dirty="0">
                  <a:ln>
                    <a:noFill/>
                  </a:ln>
                  <a:solidFill>
                    <a:srgbClr val="4472C4">
                      <a:satOff val="-3547"/>
                      <a:lumOff val="-10352"/>
                    </a:srgbClr>
                  </a:solidFill>
                  <a:effectLst/>
                  <a:uLnTx/>
                  <a:uFillTx/>
                  <a:latin typeface="Calibri"/>
                  <a:ea typeface="Calibri"/>
                  <a:cs typeface="Calibri"/>
                  <a:sym typeface="Calibri"/>
                </a:rPr>
                <a:t>Diagnostic test strips </a:t>
              </a:r>
            </a:p>
          </p:txBody>
        </p:sp>
        <p:grpSp>
          <p:nvGrpSpPr>
            <p:cNvPr id="436" name="Group">
              <a:extLst>
                <a:ext uri="{FF2B5EF4-FFF2-40B4-BE49-F238E27FC236}">
                  <a16:creationId xmlns:a16="http://schemas.microsoft.com/office/drawing/2014/main" id="{7CF5B44E-DDCC-4082-8095-2F02D8A30E80}"/>
                </a:ext>
              </a:extLst>
            </p:cNvPr>
            <p:cNvGrpSpPr/>
            <p:nvPr/>
          </p:nvGrpSpPr>
          <p:grpSpPr>
            <a:xfrm>
              <a:off x="177122" y="264706"/>
              <a:ext cx="2447488" cy="2925995"/>
              <a:chOff x="0" y="0"/>
              <a:chExt cx="2447487" cy="2925994"/>
            </a:xfrm>
          </p:grpSpPr>
          <p:pic>
            <p:nvPicPr>
              <p:cNvPr id="433" name="Google Shape;155;p19" descr="Google Shape;155;p19">
                <a:extLst>
                  <a:ext uri="{FF2B5EF4-FFF2-40B4-BE49-F238E27FC236}">
                    <a16:creationId xmlns:a16="http://schemas.microsoft.com/office/drawing/2014/main" id="{CA7B4EE7-7728-8B94-BF1A-DE6D607CCEFC}"/>
                  </a:ext>
                </a:extLst>
              </p:cNvPr>
              <p:cNvPicPr>
                <a:picLocks noChangeAspect="1"/>
              </p:cNvPicPr>
              <p:nvPr/>
            </p:nvPicPr>
            <p:blipFill>
              <a:blip r:embed="rId2"/>
              <a:srcRect l="1868" r="36621"/>
              <a:stretch>
                <a:fillRect/>
              </a:stretch>
            </p:blipFill>
            <p:spPr>
              <a:xfrm>
                <a:off x="0" y="1993261"/>
                <a:ext cx="2447488" cy="932734"/>
              </a:xfrm>
              <a:prstGeom prst="rect">
                <a:avLst/>
              </a:prstGeom>
              <a:ln w="12700" cap="flat">
                <a:noFill/>
                <a:miter lim="400000"/>
              </a:ln>
              <a:effectLst/>
            </p:spPr>
          </p:pic>
          <p:pic>
            <p:nvPicPr>
              <p:cNvPr id="434" name="Google Shape;156;p19" descr="Google Shape;156;p19">
                <a:extLst>
                  <a:ext uri="{FF2B5EF4-FFF2-40B4-BE49-F238E27FC236}">
                    <a16:creationId xmlns:a16="http://schemas.microsoft.com/office/drawing/2014/main" id="{24BABFA6-8DFC-BD4D-BE29-F7E88BA11323}"/>
                  </a:ext>
                </a:extLst>
              </p:cNvPr>
              <p:cNvPicPr>
                <a:picLocks noChangeAspect="1"/>
              </p:cNvPicPr>
              <p:nvPr/>
            </p:nvPicPr>
            <p:blipFill>
              <a:blip r:embed="rId3"/>
              <a:srcRect l="147" t="760" r="26977" b="55557"/>
              <a:stretch>
                <a:fillRect/>
              </a:stretch>
            </p:blipFill>
            <p:spPr>
              <a:xfrm>
                <a:off x="0" y="1169249"/>
                <a:ext cx="2447420" cy="832262"/>
              </a:xfrm>
              <a:prstGeom prst="rect">
                <a:avLst/>
              </a:prstGeom>
              <a:ln w="12700" cap="flat">
                <a:noFill/>
                <a:miter lim="400000"/>
              </a:ln>
              <a:effectLst/>
            </p:spPr>
          </p:pic>
          <p:pic>
            <p:nvPicPr>
              <p:cNvPr id="435" name="Google Shape;157;p19" descr="Google Shape;157;p19">
                <a:extLst>
                  <a:ext uri="{FF2B5EF4-FFF2-40B4-BE49-F238E27FC236}">
                    <a16:creationId xmlns:a16="http://schemas.microsoft.com/office/drawing/2014/main" id="{BE2C190B-2D31-B9AC-8F03-B3B32E9091C6}"/>
                  </a:ext>
                </a:extLst>
              </p:cNvPr>
              <p:cNvPicPr>
                <a:picLocks noChangeAspect="1"/>
              </p:cNvPicPr>
              <p:nvPr/>
            </p:nvPicPr>
            <p:blipFill>
              <a:blip r:embed="rId3"/>
              <a:srcRect l="1963" t="56555" r="46792"/>
              <a:stretch>
                <a:fillRect/>
              </a:stretch>
            </p:blipFill>
            <p:spPr>
              <a:xfrm>
                <a:off x="0" y="0"/>
                <a:ext cx="2447383" cy="1177103"/>
              </a:xfrm>
              <a:prstGeom prst="rect">
                <a:avLst/>
              </a:prstGeom>
              <a:ln w="12700" cap="flat">
                <a:noFill/>
                <a:miter lim="400000"/>
              </a:ln>
              <a:effectLst/>
            </p:spPr>
          </p:pic>
        </p:grpSp>
      </p:grpSp>
      <p:sp>
        <p:nvSpPr>
          <p:cNvPr id="438" name="Google Shape;325;p28">
            <a:extLst>
              <a:ext uri="{FF2B5EF4-FFF2-40B4-BE49-F238E27FC236}">
                <a16:creationId xmlns:a16="http://schemas.microsoft.com/office/drawing/2014/main" id="{5C95F184-EAFA-67F0-0A7D-3BB14F480442}"/>
              </a:ext>
            </a:extLst>
          </p:cNvPr>
          <p:cNvSpPr txBox="1"/>
          <p:nvPr/>
        </p:nvSpPr>
        <p:spPr>
          <a:xfrm>
            <a:off x="5243274" y="5626825"/>
            <a:ext cx="1705453" cy="9232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800">
                <a:latin typeface="Calibri"/>
                <a:ea typeface="Calibri"/>
                <a:cs typeface="Calibri"/>
                <a:sym typeface="Calibri"/>
              </a:defRPr>
            </a:pPr>
            <a:r>
              <a:rPr kumimoji="0" sz="1800" b="0" i="0" u="none" strike="noStrike" kern="0" cap="none" spc="0" normalizeH="0" baseline="0" noProof="0" dirty="0">
                <a:ln>
                  <a:noFill/>
                </a:ln>
                <a:solidFill>
                  <a:srgbClr val="000000"/>
                </a:solidFill>
                <a:effectLst/>
                <a:uLnTx/>
                <a:uFillTx/>
                <a:latin typeface="Calibri"/>
                <a:ea typeface="Calibri"/>
                <a:cs typeface="Calibri"/>
                <a:sym typeface="Calibri"/>
              </a:rPr>
              <a:t>BillionTests</a:t>
            </a:r>
            <a:r>
              <a:rPr kumimoji="0" lang="en-US" sz="1800" b="0" i="0" u="none" strike="noStrike" kern="0" cap="none" spc="0" normalizeH="0" baseline="0" noProof="0" dirty="0">
                <a:ln>
                  <a:noFill/>
                </a:ln>
                <a:solidFill>
                  <a:srgbClr val="000000"/>
                </a:solidFill>
                <a:effectLst/>
                <a:uLnTx/>
                <a:uFillTx/>
                <a:latin typeface="Calibri"/>
                <a:ea typeface="Calibri"/>
                <a:cs typeface="Calibri"/>
                <a:sym typeface="Calibri"/>
              </a:rPr>
              <a:t>.AI</a:t>
            </a:r>
            <a:r>
              <a:rPr kumimoji="0" sz="1800" b="0" i="0" u="none" strike="noStrike" kern="0" cap="none" spc="0" normalizeH="0" baseline="0" noProof="0" dirty="0">
                <a:ln>
                  <a:noFill/>
                </a:ln>
                <a:solidFill>
                  <a:srgbClr val="000000"/>
                </a:solidFill>
                <a:effectLst/>
                <a:uLnTx/>
                <a:uFillTx/>
                <a:latin typeface="Calibri"/>
                <a:ea typeface="Calibri"/>
                <a:cs typeface="Calibri"/>
                <a:sym typeface="Calibri"/>
              </a:rPr>
              <a:t> </a:t>
            </a:r>
          </a:p>
          <a:p>
            <a:pPr marL="0" marR="0" lvl="0" indent="0" algn="ctr" defTabSz="914400" rtl="0" eaLnBrk="1" fontAlgn="auto" latinLnBrk="0" hangingPunct="0">
              <a:lnSpc>
                <a:spcPct val="100000"/>
              </a:lnSpc>
              <a:spcBef>
                <a:spcPts val="0"/>
              </a:spcBef>
              <a:spcAft>
                <a:spcPts val="0"/>
              </a:spcAft>
              <a:buClrTx/>
              <a:buSzTx/>
              <a:buFontTx/>
              <a:buNone/>
              <a:tabLst/>
              <a:defRPr sz="1800">
                <a:latin typeface="Calibri"/>
                <a:ea typeface="Calibri"/>
                <a:cs typeface="Calibri"/>
                <a:sym typeface="Calibri"/>
              </a:defRPr>
            </a:pPr>
            <a:r>
              <a:rPr kumimoji="0" sz="1800" b="0" i="0" u="none" strike="noStrike" kern="0" cap="none" spc="0" normalizeH="0" baseline="0" noProof="0" dirty="0">
                <a:ln>
                  <a:noFill/>
                </a:ln>
                <a:solidFill>
                  <a:srgbClr val="000000"/>
                </a:solidFill>
                <a:effectLst/>
                <a:uLnTx/>
                <a:uFillTx/>
                <a:latin typeface="Calibri"/>
                <a:ea typeface="Calibri"/>
                <a:cs typeface="Calibri"/>
                <a:sym typeface="Calibri"/>
              </a:rPr>
              <a:t>Technology Layer</a:t>
            </a:r>
          </a:p>
        </p:txBody>
      </p:sp>
      <p:sp>
        <p:nvSpPr>
          <p:cNvPr id="439" name="Arrow">
            <a:extLst>
              <a:ext uri="{FF2B5EF4-FFF2-40B4-BE49-F238E27FC236}">
                <a16:creationId xmlns:a16="http://schemas.microsoft.com/office/drawing/2014/main" id="{439E621D-1AF6-7F5E-813D-29611C3D104B}"/>
              </a:ext>
            </a:extLst>
          </p:cNvPr>
          <p:cNvSpPr/>
          <p:nvPr/>
        </p:nvSpPr>
        <p:spPr>
          <a:xfrm>
            <a:off x="3463206" y="3464394"/>
            <a:ext cx="462981" cy="193958"/>
          </a:xfrm>
          <a:prstGeom prst="rightArrow">
            <a:avLst>
              <a:gd name="adj1" fmla="val 35800"/>
              <a:gd name="adj2" fmla="val 127301"/>
            </a:avLst>
          </a:prstGeom>
          <a:solidFill>
            <a:schemeClr val="accent5">
              <a:alpha val="39854"/>
            </a:scheme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0" name="Arrow">
            <a:extLst>
              <a:ext uri="{FF2B5EF4-FFF2-40B4-BE49-F238E27FC236}">
                <a16:creationId xmlns:a16="http://schemas.microsoft.com/office/drawing/2014/main" id="{DC25EC2C-1181-63C9-C1E2-275A2949C8EC}"/>
              </a:ext>
            </a:extLst>
          </p:cNvPr>
          <p:cNvSpPr/>
          <p:nvPr/>
        </p:nvSpPr>
        <p:spPr>
          <a:xfrm>
            <a:off x="8063838" y="3326648"/>
            <a:ext cx="462981" cy="193958"/>
          </a:xfrm>
          <a:prstGeom prst="rightArrow">
            <a:avLst>
              <a:gd name="adj1" fmla="val 35800"/>
              <a:gd name="adj2" fmla="val 127301"/>
            </a:avLst>
          </a:prstGeom>
          <a:solidFill>
            <a:schemeClr val="accent5">
              <a:alpha val="39854"/>
            </a:scheme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1" name="Google Shape;326;p28">
            <a:extLst>
              <a:ext uri="{FF2B5EF4-FFF2-40B4-BE49-F238E27FC236}">
                <a16:creationId xmlns:a16="http://schemas.microsoft.com/office/drawing/2014/main" id="{C3861018-E4FE-DF35-4928-B5C7FE4514B4}"/>
              </a:ext>
            </a:extLst>
          </p:cNvPr>
          <p:cNvSpPr txBox="1"/>
          <p:nvPr/>
        </p:nvSpPr>
        <p:spPr>
          <a:xfrm>
            <a:off x="8872107" y="5626825"/>
            <a:ext cx="2686619" cy="9172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800">
                <a:latin typeface="Calibri"/>
                <a:ea typeface="Calibri"/>
                <a:cs typeface="Calibri"/>
                <a:sym typeface="Calibri"/>
              </a:defRPr>
            </a:pPr>
            <a:r>
              <a:rPr kumimoji="0" sz="1800" b="0" i="0" u="none" strike="noStrike" kern="0" cap="none" spc="0" normalizeH="0" baseline="0" noProof="0">
                <a:ln>
                  <a:noFill/>
                </a:ln>
                <a:solidFill>
                  <a:srgbClr val="000000"/>
                </a:solidFill>
                <a:effectLst/>
                <a:uLnTx/>
                <a:uFillTx/>
                <a:latin typeface="Calibri"/>
                <a:ea typeface="Calibri"/>
                <a:cs typeface="Calibri"/>
                <a:sym typeface="Calibri"/>
              </a:rPr>
              <a:t>User does self assessment</a:t>
            </a:r>
          </a:p>
          <a:p>
            <a:pPr marL="0" marR="0" lvl="0" indent="0" algn="ctr" defTabSz="914400" rtl="0" eaLnBrk="1" fontAlgn="auto" latinLnBrk="0" hangingPunct="0">
              <a:lnSpc>
                <a:spcPct val="100000"/>
              </a:lnSpc>
              <a:spcBef>
                <a:spcPts val="0"/>
              </a:spcBef>
              <a:spcAft>
                <a:spcPts val="0"/>
              </a:spcAft>
              <a:buClrTx/>
              <a:buSzTx/>
              <a:buFontTx/>
              <a:buNone/>
              <a:tabLst/>
              <a:defRPr sz="1800">
                <a:latin typeface="Calibri"/>
                <a:ea typeface="Calibri"/>
                <a:cs typeface="Calibri"/>
                <a:sym typeface="Calibri"/>
              </a:defRPr>
            </a:pPr>
            <a:r>
              <a:rPr kumimoji="0" sz="1800" b="0" i="0" u="none" strike="noStrike" kern="0" cap="none" spc="0" normalizeH="0" baseline="0" noProof="0">
                <a:ln>
                  <a:noFill/>
                </a:ln>
                <a:solidFill>
                  <a:srgbClr val="000000"/>
                </a:solidFill>
                <a:effectLst/>
                <a:uLnTx/>
                <a:uFillTx/>
                <a:latin typeface="Calibri"/>
                <a:ea typeface="Calibri"/>
                <a:cs typeface="Calibri"/>
                <a:sym typeface="Calibri"/>
              </a:rPr>
              <a:t>at home and gets reports in</a:t>
            </a:r>
          </a:p>
          <a:p>
            <a:pPr marL="0" marR="0" lvl="0" indent="0" algn="ctr" defTabSz="914400" rtl="0" eaLnBrk="1" fontAlgn="auto" latinLnBrk="0" hangingPunct="0">
              <a:lnSpc>
                <a:spcPct val="100000"/>
              </a:lnSpc>
              <a:spcBef>
                <a:spcPts val="0"/>
              </a:spcBef>
              <a:spcAft>
                <a:spcPts val="0"/>
              </a:spcAft>
              <a:buClrTx/>
              <a:buSzTx/>
              <a:buFontTx/>
              <a:buNone/>
              <a:tabLst/>
              <a:defRPr sz="1800">
                <a:latin typeface="Calibri"/>
                <a:ea typeface="Calibri"/>
                <a:cs typeface="Calibri"/>
                <a:sym typeface="Calibri"/>
              </a:defRPr>
            </a:pPr>
            <a:r>
              <a:rPr kumimoji="0" sz="1800" b="0" i="0" u="none" strike="noStrike" kern="0" cap="none" spc="0" normalizeH="0" baseline="0" noProof="0">
                <a:ln>
                  <a:noFill/>
                </a:ln>
                <a:solidFill>
                  <a:srgbClr val="000000"/>
                </a:solidFill>
                <a:effectLst/>
                <a:uLnTx/>
                <a:uFillTx/>
                <a:latin typeface="Calibri"/>
                <a:ea typeface="Calibri"/>
                <a:cs typeface="Calibri"/>
                <a:sym typeface="Calibri"/>
              </a:rPr>
              <a:t>~20 seconds</a:t>
            </a:r>
          </a:p>
        </p:txBody>
      </p:sp>
      <p:grpSp>
        <p:nvGrpSpPr>
          <p:cNvPr id="455" name="Group">
            <a:extLst>
              <a:ext uri="{FF2B5EF4-FFF2-40B4-BE49-F238E27FC236}">
                <a16:creationId xmlns:a16="http://schemas.microsoft.com/office/drawing/2014/main" id="{69C049AB-ACD2-A7CE-4DD6-98279E6779C6}"/>
              </a:ext>
            </a:extLst>
          </p:cNvPr>
          <p:cNvGrpSpPr/>
          <p:nvPr/>
        </p:nvGrpSpPr>
        <p:grpSpPr>
          <a:xfrm>
            <a:off x="4031900" y="1480052"/>
            <a:ext cx="3851400" cy="3897897"/>
            <a:chOff x="0" y="0"/>
            <a:chExt cx="3851398" cy="3897895"/>
          </a:xfrm>
        </p:grpSpPr>
        <p:sp>
          <p:nvSpPr>
            <p:cNvPr id="442" name="Rectangle">
              <a:extLst>
                <a:ext uri="{FF2B5EF4-FFF2-40B4-BE49-F238E27FC236}">
                  <a16:creationId xmlns:a16="http://schemas.microsoft.com/office/drawing/2014/main" id="{CCD2C943-62DB-A071-EDF8-E1C8CD77A353}"/>
                </a:ext>
              </a:extLst>
            </p:cNvPr>
            <p:cNvSpPr/>
            <p:nvPr/>
          </p:nvSpPr>
          <p:spPr>
            <a:xfrm>
              <a:off x="0" y="0"/>
              <a:ext cx="3851398" cy="3897895"/>
            </a:xfrm>
            <a:prstGeom prst="rect">
              <a:avLst/>
            </a:prstGeom>
            <a:noFill/>
            <a:ln w="25400" cap="flat">
              <a:solidFill>
                <a:schemeClr val="accent1">
                  <a:lumOff val="24117"/>
                </a:schemeClr>
              </a:solidFill>
              <a:prstDash val="solid"/>
              <a:round/>
            </a:ln>
            <a:effectLst>
              <a:outerShdw blurRad="38100" dist="23000" dir="5400000" rotWithShape="0">
                <a:srgbClr val="000000">
                  <a:alpha val="11658"/>
                </a:srgbClr>
              </a:outerShdw>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447" name="Group">
              <a:extLst>
                <a:ext uri="{FF2B5EF4-FFF2-40B4-BE49-F238E27FC236}">
                  <a16:creationId xmlns:a16="http://schemas.microsoft.com/office/drawing/2014/main" id="{1B38C83E-F3F4-2063-600A-669AC42C71C9}"/>
                </a:ext>
              </a:extLst>
            </p:cNvPr>
            <p:cNvGrpSpPr/>
            <p:nvPr/>
          </p:nvGrpSpPr>
          <p:grpSpPr>
            <a:xfrm>
              <a:off x="2015222" y="67937"/>
              <a:ext cx="1466418" cy="1466418"/>
              <a:chOff x="0" y="0"/>
              <a:chExt cx="1466417" cy="1466417"/>
            </a:xfrm>
          </p:grpSpPr>
          <p:pic>
            <p:nvPicPr>
              <p:cNvPr id="443" name="flat-design-online-yoga-class-concept.png" descr="flat-design-online-yoga-class-concept.png">
                <a:extLst>
                  <a:ext uri="{FF2B5EF4-FFF2-40B4-BE49-F238E27FC236}">
                    <a16:creationId xmlns:a16="http://schemas.microsoft.com/office/drawing/2014/main" id="{089C0C36-BF62-146D-22AD-5357E7528B8F}"/>
                  </a:ext>
                </a:extLst>
              </p:cNvPr>
              <p:cNvPicPr>
                <a:picLocks noChangeAspect="1"/>
              </p:cNvPicPr>
              <p:nvPr/>
            </p:nvPicPr>
            <p:blipFill>
              <a:blip r:embed="rId4"/>
              <a:stretch>
                <a:fillRect/>
              </a:stretch>
            </p:blipFill>
            <p:spPr>
              <a:xfrm>
                <a:off x="0" y="0"/>
                <a:ext cx="1466418" cy="1466418"/>
              </a:xfrm>
              <a:prstGeom prst="rect">
                <a:avLst/>
              </a:prstGeom>
              <a:ln w="12700" cap="flat">
                <a:noFill/>
                <a:miter lim="400000"/>
              </a:ln>
              <a:effectLst/>
            </p:spPr>
          </p:pic>
          <p:sp>
            <p:nvSpPr>
              <p:cNvPr id="444" name="Rectangle">
                <a:extLst>
                  <a:ext uri="{FF2B5EF4-FFF2-40B4-BE49-F238E27FC236}">
                    <a16:creationId xmlns:a16="http://schemas.microsoft.com/office/drawing/2014/main" id="{D9ECF6EC-F02D-E4C4-F707-9803940D8CBC}"/>
                  </a:ext>
                </a:extLst>
              </p:cNvPr>
              <p:cNvSpPr/>
              <p:nvPr/>
            </p:nvSpPr>
            <p:spPr>
              <a:xfrm>
                <a:off x="544333" y="335321"/>
                <a:ext cx="344874" cy="763648"/>
              </a:xfrm>
              <a:prstGeom prst="rect">
                <a:avLst/>
              </a:prstGeom>
              <a:solidFill>
                <a:srgbClr val="FFFF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445" name="Google Shape;247;p24" descr="Google Shape;247;p24">
                <a:extLst>
                  <a:ext uri="{FF2B5EF4-FFF2-40B4-BE49-F238E27FC236}">
                    <a16:creationId xmlns:a16="http://schemas.microsoft.com/office/drawing/2014/main" id="{C7CD4123-0C04-8E0C-A3CF-307561E7D581}"/>
                  </a:ext>
                </a:extLst>
              </p:cNvPr>
              <p:cNvPicPr>
                <a:picLocks noChangeAspect="1"/>
              </p:cNvPicPr>
              <p:nvPr/>
            </p:nvPicPr>
            <p:blipFill>
              <a:blip r:embed="rId5"/>
              <a:srcRect/>
              <a:stretch>
                <a:fillRect/>
              </a:stretch>
            </p:blipFill>
            <p:spPr>
              <a:xfrm>
                <a:off x="580854" y="607186"/>
                <a:ext cx="271794" cy="421024"/>
              </a:xfrm>
              <a:prstGeom prst="rect">
                <a:avLst/>
              </a:prstGeom>
              <a:ln w="12700" cap="flat">
                <a:noFill/>
                <a:miter lim="400000"/>
              </a:ln>
              <a:effectLst>
                <a:outerShdw dist="23000" dir="5400000" rotWithShape="0">
                  <a:srgbClr val="000000">
                    <a:alpha val="9543"/>
                  </a:srgbClr>
                </a:outerShdw>
              </a:effectLst>
            </p:spPr>
          </p:pic>
          <p:pic>
            <p:nvPicPr>
              <p:cNvPr id="446" name="Google Shape;246;p24" descr="Google Shape;246;p24">
                <a:extLst>
                  <a:ext uri="{FF2B5EF4-FFF2-40B4-BE49-F238E27FC236}">
                    <a16:creationId xmlns:a16="http://schemas.microsoft.com/office/drawing/2014/main" id="{4BB52CC8-AC19-40D3-0003-C14629926503}"/>
                  </a:ext>
                </a:extLst>
              </p:cNvPr>
              <p:cNvPicPr>
                <a:picLocks noChangeAspect="1"/>
              </p:cNvPicPr>
              <p:nvPr/>
            </p:nvPicPr>
            <p:blipFill>
              <a:blip r:embed="rId6"/>
              <a:stretch>
                <a:fillRect/>
              </a:stretch>
            </p:blipFill>
            <p:spPr>
              <a:xfrm rot="16200000">
                <a:off x="682355" y="342319"/>
                <a:ext cx="68830" cy="344874"/>
              </a:xfrm>
              <a:prstGeom prst="rect">
                <a:avLst/>
              </a:prstGeom>
              <a:ln w="25400" cap="flat">
                <a:solidFill>
                  <a:srgbClr val="A7A7A7"/>
                </a:solidFill>
                <a:prstDash val="solid"/>
                <a:round/>
              </a:ln>
              <a:effectLst>
                <a:outerShdw dist="23000" dir="5400000" rotWithShape="0">
                  <a:srgbClr val="000000">
                    <a:alpha val="9543"/>
                  </a:srgbClr>
                </a:outerShdw>
              </a:effectLst>
            </p:spPr>
          </p:pic>
        </p:grpSp>
        <p:pic>
          <p:nvPicPr>
            <p:cNvPr id="448" name="Screenshot 2024-10-05 at 3.02.56 PM.png" descr="Screenshot 2024-10-05 at 3.02.56 PM.png">
              <a:extLst>
                <a:ext uri="{FF2B5EF4-FFF2-40B4-BE49-F238E27FC236}">
                  <a16:creationId xmlns:a16="http://schemas.microsoft.com/office/drawing/2014/main" id="{ECE04253-ABEB-DB8C-651F-8198AD7207EB}"/>
                </a:ext>
              </a:extLst>
            </p:cNvPr>
            <p:cNvPicPr>
              <a:picLocks noChangeAspect="1"/>
            </p:cNvPicPr>
            <p:nvPr/>
          </p:nvPicPr>
          <p:blipFill>
            <a:blip r:embed="rId7"/>
            <a:stretch>
              <a:fillRect/>
            </a:stretch>
          </p:blipFill>
          <p:spPr>
            <a:xfrm>
              <a:off x="2142400" y="2214067"/>
              <a:ext cx="1212061" cy="1117205"/>
            </a:xfrm>
            <a:prstGeom prst="rect">
              <a:avLst/>
            </a:prstGeom>
            <a:ln w="12700" cap="flat">
              <a:noFill/>
              <a:miter lim="400000"/>
            </a:ln>
            <a:effectLst/>
          </p:spPr>
        </p:pic>
        <p:sp>
          <p:nvSpPr>
            <p:cNvPr id="449" name="Google Shape;161;p19">
              <a:extLst>
                <a:ext uri="{FF2B5EF4-FFF2-40B4-BE49-F238E27FC236}">
                  <a16:creationId xmlns:a16="http://schemas.microsoft.com/office/drawing/2014/main" id="{0B2B46C1-2197-436E-ECFA-B125479428E2}"/>
                </a:ext>
              </a:extLst>
            </p:cNvPr>
            <p:cNvSpPr txBox="1"/>
            <p:nvPr/>
          </p:nvSpPr>
          <p:spPr>
            <a:xfrm>
              <a:off x="1949120" y="1494853"/>
              <a:ext cx="1598621" cy="3920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535353"/>
                  </a:solidFill>
                  <a:effectLst/>
                  <a:uLnTx/>
                  <a:uFillTx/>
                  <a:latin typeface="Calibri"/>
                  <a:ea typeface="Calibri"/>
                  <a:cs typeface="Calibri"/>
                  <a:sym typeface="Calibri"/>
                </a:rPr>
                <a:t>Mobile Scan App</a:t>
              </a:r>
            </a:p>
          </p:txBody>
        </p:sp>
        <p:sp>
          <p:nvSpPr>
            <p:cNvPr id="450" name="Google Shape;161;p19">
              <a:extLst>
                <a:ext uri="{FF2B5EF4-FFF2-40B4-BE49-F238E27FC236}">
                  <a16:creationId xmlns:a16="http://schemas.microsoft.com/office/drawing/2014/main" id="{AE039521-9549-D6B4-1836-0DF06716B522}"/>
                </a:ext>
              </a:extLst>
            </p:cNvPr>
            <p:cNvSpPr txBox="1"/>
            <p:nvPr/>
          </p:nvSpPr>
          <p:spPr>
            <a:xfrm>
              <a:off x="1794365" y="3437954"/>
              <a:ext cx="1908132" cy="39200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535353"/>
                  </a:solidFill>
                  <a:effectLst/>
                  <a:uLnTx/>
                  <a:uFillTx/>
                  <a:latin typeface="Calibri"/>
                  <a:ea typeface="Calibri"/>
                  <a:cs typeface="Calibri"/>
                  <a:sym typeface="Calibri"/>
                </a:rPr>
                <a:t>Artificial Intelligence </a:t>
              </a:r>
            </a:p>
          </p:txBody>
        </p:sp>
        <p:pic>
          <p:nvPicPr>
            <p:cNvPr id="451" name="Google Shape;247;p24" descr="Google Shape;247;p24">
              <a:extLst>
                <a:ext uri="{FF2B5EF4-FFF2-40B4-BE49-F238E27FC236}">
                  <a16:creationId xmlns:a16="http://schemas.microsoft.com/office/drawing/2014/main" id="{DEEF7015-987A-D66A-9FB6-EF44A122682D}"/>
                </a:ext>
              </a:extLst>
            </p:cNvPr>
            <p:cNvPicPr>
              <a:picLocks noChangeAspect="1"/>
            </p:cNvPicPr>
            <p:nvPr/>
          </p:nvPicPr>
          <p:blipFill>
            <a:blip r:embed="rId5"/>
            <a:srcRect/>
            <a:stretch>
              <a:fillRect/>
            </a:stretch>
          </p:blipFill>
          <p:spPr>
            <a:xfrm>
              <a:off x="592951" y="380286"/>
              <a:ext cx="721281" cy="1117303"/>
            </a:xfrm>
            <a:prstGeom prst="rect">
              <a:avLst/>
            </a:prstGeom>
            <a:ln w="12700" cap="flat">
              <a:noFill/>
              <a:miter lim="400000"/>
            </a:ln>
            <a:effectLst>
              <a:outerShdw dist="23000" dir="5400000" rotWithShape="0">
                <a:srgbClr val="000000">
                  <a:alpha val="9543"/>
                </a:srgbClr>
              </a:outerShdw>
            </a:effectLst>
          </p:spPr>
        </p:pic>
        <p:sp>
          <p:nvSpPr>
            <p:cNvPr id="452" name="Google Shape;161;p19">
              <a:extLst>
                <a:ext uri="{FF2B5EF4-FFF2-40B4-BE49-F238E27FC236}">
                  <a16:creationId xmlns:a16="http://schemas.microsoft.com/office/drawing/2014/main" id="{2C48A3EF-4E92-25F7-F3F2-9FBBE62E3209}"/>
                </a:ext>
              </a:extLst>
            </p:cNvPr>
            <p:cNvSpPr txBox="1"/>
            <p:nvPr/>
          </p:nvSpPr>
          <p:spPr>
            <a:xfrm>
              <a:off x="471275" y="1494853"/>
              <a:ext cx="1108089" cy="43085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dirty="0">
                  <a:ln>
                    <a:noFill/>
                  </a:ln>
                  <a:solidFill>
                    <a:srgbClr val="535353"/>
                  </a:solidFill>
                  <a:effectLst/>
                  <a:uLnTx/>
                  <a:uFillTx/>
                  <a:latin typeface="Calibri"/>
                  <a:ea typeface="Calibri"/>
                  <a:cs typeface="Calibri"/>
                  <a:sym typeface="Calibri"/>
                </a:rPr>
                <a:t>B</a:t>
              </a:r>
              <a:r>
                <a:rPr kumimoji="0" lang="en-US" sz="1600" b="0" i="0" u="none" strike="noStrike" kern="0" cap="none" spc="0" normalizeH="0" baseline="0" noProof="0" dirty="0">
                  <a:ln>
                    <a:noFill/>
                  </a:ln>
                  <a:solidFill>
                    <a:srgbClr val="535353"/>
                  </a:solidFill>
                  <a:effectLst/>
                  <a:uLnTx/>
                  <a:uFillTx/>
                  <a:latin typeface="Calibri"/>
                  <a:ea typeface="Calibri"/>
                  <a:cs typeface="Calibri"/>
                  <a:sym typeface="Calibri"/>
                </a:rPr>
                <a:t>TCARDX</a:t>
              </a:r>
              <a:endParaRPr kumimoji="0" sz="1600" b="0" i="0" u="none" strike="noStrike" kern="0" cap="none" spc="0" normalizeH="0" baseline="0" noProof="0" dirty="0">
                <a:ln>
                  <a:noFill/>
                </a:ln>
                <a:solidFill>
                  <a:srgbClr val="535353"/>
                </a:solidFill>
                <a:effectLst/>
                <a:uLnTx/>
                <a:uFillTx/>
                <a:latin typeface="Calibri"/>
                <a:ea typeface="Calibri"/>
                <a:cs typeface="Calibri"/>
                <a:sym typeface="Calibri"/>
              </a:endParaRPr>
            </a:p>
          </p:txBody>
        </p:sp>
        <p:sp>
          <p:nvSpPr>
            <p:cNvPr id="453" name="Cloud">
              <a:extLst>
                <a:ext uri="{FF2B5EF4-FFF2-40B4-BE49-F238E27FC236}">
                  <a16:creationId xmlns:a16="http://schemas.microsoft.com/office/drawing/2014/main" id="{8C20A4CB-F011-F69E-1795-B656AADE04F0}"/>
                </a:ext>
              </a:extLst>
            </p:cNvPr>
            <p:cNvSpPr/>
            <p:nvPr/>
          </p:nvSpPr>
          <p:spPr>
            <a:xfrm>
              <a:off x="305052" y="2489032"/>
              <a:ext cx="1296922" cy="781599"/>
            </a:xfrm>
            <a:custGeom>
              <a:avLst/>
              <a:gdLst/>
              <a:ahLst/>
              <a:cxnLst>
                <a:cxn ang="0">
                  <a:pos x="wd2" y="hd2"/>
                </a:cxn>
                <a:cxn ang="5400000">
                  <a:pos x="wd2" y="hd2"/>
                </a:cxn>
                <a:cxn ang="10800000">
                  <a:pos x="wd2" y="hd2"/>
                </a:cxn>
                <a:cxn ang="16200000">
                  <a:pos x="wd2" y="hd2"/>
                </a:cxn>
              </a:cxnLst>
              <a:rect l="0" t="0" r="r" b="b"/>
              <a:pathLst>
                <a:path w="21600" h="21600" extrusionOk="0">
                  <a:moveTo>
                    <a:pt x="10603" y="0"/>
                  </a:moveTo>
                  <a:cubicBezTo>
                    <a:pt x="7967" y="0"/>
                    <a:pt x="5720" y="2939"/>
                    <a:pt x="4858" y="7062"/>
                  </a:cubicBezTo>
                  <a:cubicBezTo>
                    <a:pt x="4628" y="6992"/>
                    <a:pt x="4391" y="6953"/>
                    <a:pt x="4150" y="6953"/>
                  </a:cubicBezTo>
                  <a:cubicBezTo>
                    <a:pt x="1857" y="6953"/>
                    <a:pt x="0" y="10233"/>
                    <a:pt x="0" y="14278"/>
                  </a:cubicBezTo>
                  <a:cubicBezTo>
                    <a:pt x="0" y="18323"/>
                    <a:pt x="1857" y="21600"/>
                    <a:pt x="4150" y="21600"/>
                  </a:cubicBezTo>
                  <a:cubicBezTo>
                    <a:pt x="4193" y="21600"/>
                    <a:pt x="4237" y="21597"/>
                    <a:pt x="4280" y="21594"/>
                  </a:cubicBezTo>
                  <a:lnTo>
                    <a:pt x="10532" y="21597"/>
                  </a:lnTo>
                  <a:cubicBezTo>
                    <a:pt x="10555" y="21598"/>
                    <a:pt x="10579" y="21600"/>
                    <a:pt x="10603" y="21600"/>
                  </a:cubicBezTo>
                  <a:cubicBezTo>
                    <a:pt x="10626" y="21600"/>
                    <a:pt x="10648" y="21598"/>
                    <a:pt x="10672" y="21597"/>
                  </a:cubicBezTo>
                  <a:lnTo>
                    <a:pt x="18141" y="21600"/>
                  </a:lnTo>
                  <a:cubicBezTo>
                    <a:pt x="20051" y="21600"/>
                    <a:pt x="21600" y="18868"/>
                    <a:pt x="21600" y="15496"/>
                  </a:cubicBezTo>
                  <a:cubicBezTo>
                    <a:pt x="21600" y="12124"/>
                    <a:pt x="20051" y="9389"/>
                    <a:pt x="18141" y="9389"/>
                  </a:cubicBezTo>
                  <a:cubicBezTo>
                    <a:pt x="17627" y="9389"/>
                    <a:pt x="17139" y="9589"/>
                    <a:pt x="16701" y="9943"/>
                  </a:cubicBezTo>
                  <a:cubicBezTo>
                    <a:pt x="16453" y="4379"/>
                    <a:pt x="13819" y="0"/>
                    <a:pt x="10603" y="0"/>
                  </a:cubicBezTo>
                  <a:close/>
                </a:path>
              </a:pathLst>
            </a:custGeom>
            <a:solidFill>
              <a:srgbClr val="FFFFFF"/>
            </a:solidFill>
            <a:ln w="63500" cap="flat">
              <a:solidFill>
                <a:schemeClr val="accent1">
                  <a:lumOff val="12058"/>
                </a:schemeClr>
              </a:solidFill>
              <a:prstDash val="solid"/>
              <a:round/>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4" name="Google Shape;161;p19">
              <a:extLst>
                <a:ext uri="{FF2B5EF4-FFF2-40B4-BE49-F238E27FC236}">
                  <a16:creationId xmlns:a16="http://schemas.microsoft.com/office/drawing/2014/main" id="{2BD6B1BA-A9FD-D840-B5F5-7AFD14AF56BF}"/>
                </a:ext>
              </a:extLst>
            </p:cNvPr>
            <p:cNvSpPr txBox="1"/>
            <p:nvPr/>
          </p:nvSpPr>
          <p:spPr>
            <a:xfrm>
              <a:off x="592951" y="3437954"/>
              <a:ext cx="721123" cy="39200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535353"/>
                  </a:solidFill>
                  <a:effectLst/>
                  <a:uLnTx/>
                  <a:uFillTx/>
                  <a:latin typeface="Calibri"/>
                  <a:ea typeface="Calibri"/>
                  <a:cs typeface="Calibri"/>
                  <a:sym typeface="Calibri"/>
                </a:rPr>
                <a:t>Cloud</a:t>
              </a:r>
            </a:p>
          </p:txBody>
        </p:sp>
      </p:grpSp>
      <p:grpSp>
        <p:nvGrpSpPr>
          <p:cNvPr id="461" name="Group">
            <a:extLst>
              <a:ext uri="{FF2B5EF4-FFF2-40B4-BE49-F238E27FC236}">
                <a16:creationId xmlns:a16="http://schemas.microsoft.com/office/drawing/2014/main" id="{F1439FD7-2AD7-2663-7311-75143590E348}"/>
              </a:ext>
            </a:extLst>
          </p:cNvPr>
          <p:cNvGrpSpPr/>
          <p:nvPr/>
        </p:nvGrpSpPr>
        <p:grpSpPr>
          <a:xfrm>
            <a:off x="8657852" y="1480052"/>
            <a:ext cx="3185095" cy="3897896"/>
            <a:chOff x="0" y="0"/>
            <a:chExt cx="3185093" cy="3897894"/>
          </a:xfrm>
        </p:grpSpPr>
        <p:sp>
          <p:nvSpPr>
            <p:cNvPr id="456" name="Rectangle">
              <a:extLst>
                <a:ext uri="{FF2B5EF4-FFF2-40B4-BE49-F238E27FC236}">
                  <a16:creationId xmlns:a16="http://schemas.microsoft.com/office/drawing/2014/main" id="{D71FCF17-E24C-58C8-26EB-A73DBF940F9C}"/>
                </a:ext>
              </a:extLst>
            </p:cNvPr>
            <p:cNvSpPr/>
            <p:nvPr/>
          </p:nvSpPr>
          <p:spPr>
            <a:xfrm>
              <a:off x="0" y="0"/>
              <a:ext cx="3185094" cy="3897895"/>
            </a:xfrm>
            <a:prstGeom prst="rect">
              <a:avLst/>
            </a:prstGeom>
            <a:noFill/>
            <a:ln w="25400" cap="flat">
              <a:solidFill>
                <a:schemeClr val="accent1">
                  <a:lumOff val="24117"/>
                </a:schemeClr>
              </a:solidFill>
              <a:prstDash val="solid"/>
              <a:round/>
            </a:ln>
            <a:effectLst>
              <a:outerShdw blurRad="38100" dist="23000" dir="5400000" rotWithShape="0">
                <a:srgbClr val="000000">
                  <a:alpha val="11658"/>
                </a:srgbClr>
              </a:outerShdw>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57" name="Google Shape;161;p19">
              <a:extLst>
                <a:ext uri="{FF2B5EF4-FFF2-40B4-BE49-F238E27FC236}">
                  <a16:creationId xmlns:a16="http://schemas.microsoft.com/office/drawing/2014/main" id="{4472F4B7-695F-78BE-15B3-D6E7170B8766}"/>
                </a:ext>
              </a:extLst>
            </p:cNvPr>
            <p:cNvSpPr txBox="1"/>
            <p:nvPr/>
          </p:nvSpPr>
          <p:spPr>
            <a:xfrm>
              <a:off x="731918" y="1486561"/>
              <a:ext cx="1772058" cy="3920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535353"/>
                  </a:solidFill>
                  <a:effectLst/>
                  <a:uLnTx/>
                  <a:uFillTx/>
                  <a:latin typeface="Calibri"/>
                  <a:ea typeface="Calibri"/>
                  <a:cs typeface="Calibri"/>
                  <a:sym typeface="Calibri"/>
                </a:rPr>
                <a:t>Online Assessment</a:t>
              </a:r>
            </a:p>
          </p:txBody>
        </p:sp>
        <p:pic>
          <p:nvPicPr>
            <p:cNvPr id="458" name="Screenshot 2024-10-05 at 3.45.02 PM.png" descr="Screenshot 2024-10-05 at 3.45.02 PM.png">
              <a:extLst>
                <a:ext uri="{FF2B5EF4-FFF2-40B4-BE49-F238E27FC236}">
                  <a16:creationId xmlns:a16="http://schemas.microsoft.com/office/drawing/2014/main" id="{8BE050E8-4733-B7C0-D9BE-4C128D563793}"/>
                </a:ext>
              </a:extLst>
            </p:cNvPr>
            <p:cNvPicPr>
              <a:picLocks noChangeAspect="1"/>
            </p:cNvPicPr>
            <p:nvPr/>
          </p:nvPicPr>
          <p:blipFill>
            <a:blip r:embed="rId8"/>
            <a:stretch>
              <a:fillRect/>
            </a:stretch>
          </p:blipFill>
          <p:spPr>
            <a:xfrm>
              <a:off x="730604" y="167697"/>
              <a:ext cx="1466418" cy="1250315"/>
            </a:xfrm>
            <a:prstGeom prst="rect">
              <a:avLst/>
            </a:prstGeom>
            <a:ln w="12700" cap="flat">
              <a:noFill/>
              <a:miter lim="400000"/>
            </a:ln>
            <a:effectLst/>
          </p:spPr>
        </p:pic>
        <p:pic>
          <p:nvPicPr>
            <p:cNvPr id="459" name="Screenshot 2024-10-05 at 3.47.15 PM.png" descr="Screenshot 2024-10-05 at 3.47.15 PM.png">
              <a:extLst>
                <a:ext uri="{FF2B5EF4-FFF2-40B4-BE49-F238E27FC236}">
                  <a16:creationId xmlns:a16="http://schemas.microsoft.com/office/drawing/2014/main" id="{6F778D8D-0E87-B766-84AF-3B0655959639}"/>
                </a:ext>
              </a:extLst>
            </p:cNvPr>
            <p:cNvPicPr>
              <a:picLocks noChangeAspect="1"/>
            </p:cNvPicPr>
            <p:nvPr/>
          </p:nvPicPr>
          <p:blipFill>
            <a:blip r:embed="rId9"/>
            <a:stretch>
              <a:fillRect/>
            </a:stretch>
          </p:blipFill>
          <p:spPr>
            <a:xfrm>
              <a:off x="550150" y="1834422"/>
              <a:ext cx="2084794" cy="1694657"/>
            </a:xfrm>
            <a:prstGeom prst="rect">
              <a:avLst/>
            </a:prstGeom>
            <a:ln w="12700" cap="flat">
              <a:noFill/>
              <a:miter lim="400000"/>
            </a:ln>
            <a:effectLst/>
          </p:spPr>
        </p:pic>
        <p:sp>
          <p:nvSpPr>
            <p:cNvPr id="460" name="Google Shape;161;p19">
              <a:extLst>
                <a:ext uri="{FF2B5EF4-FFF2-40B4-BE49-F238E27FC236}">
                  <a16:creationId xmlns:a16="http://schemas.microsoft.com/office/drawing/2014/main" id="{EDA07755-BB5C-68F9-0C93-037C0B054A5A}"/>
                </a:ext>
              </a:extLst>
            </p:cNvPr>
            <p:cNvSpPr txBox="1"/>
            <p:nvPr/>
          </p:nvSpPr>
          <p:spPr>
            <a:xfrm>
              <a:off x="846218" y="3429661"/>
              <a:ext cx="1492658" cy="3920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numCol="1" anchor="t">
              <a:spAutoFit/>
            </a:bodyPr>
            <a:lstStyle>
              <a:lvl1pPr>
                <a:defRPr sz="1600">
                  <a:solidFill>
                    <a:srgbClr val="535353"/>
                  </a:solidFill>
                  <a:latin typeface="Calibri"/>
                  <a:ea typeface="Calibri"/>
                  <a:cs typeface="Calibri"/>
                  <a:sym typeface="Calibri"/>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600" b="0" i="0" u="none" strike="noStrike" kern="0" cap="none" spc="0" normalizeH="0" baseline="0" noProof="0">
                  <a:ln>
                    <a:noFill/>
                  </a:ln>
                  <a:solidFill>
                    <a:srgbClr val="535353"/>
                  </a:solidFill>
                  <a:effectLst/>
                  <a:uLnTx/>
                  <a:uFillTx/>
                  <a:latin typeface="Calibri"/>
                  <a:ea typeface="Calibri"/>
                  <a:cs typeface="Calibri"/>
                  <a:sym typeface="Calibri"/>
                </a:rPr>
                <a:t>Online Reports</a:t>
              </a:r>
            </a:p>
          </p:txBody>
        </p:sp>
      </p:grpSp>
      <p:sp>
        <p:nvSpPr>
          <p:cNvPr id="463" name="Slide Number">
            <a:extLst>
              <a:ext uri="{FF2B5EF4-FFF2-40B4-BE49-F238E27FC236}">
                <a16:creationId xmlns:a16="http://schemas.microsoft.com/office/drawing/2014/main" id="{9EE67585-0493-4539-57F8-1D94E37A5222}"/>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10</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C8512E47-CDEA-6C97-FB2F-821A5B810DFB}"/>
              </a:ext>
            </a:extLst>
          </p:cNvPr>
          <p:cNvSpPr txBox="1"/>
          <p:nvPr/>
        </p:nvSpPr>
        <p:spPr>
          <a:xfrm>
            <a:off x="9940672" y="464582"/>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4" name="TextBox 3">
            <a:extLst>
              <a:ext uri="{FF2B5EF4-FFF2-40B4-BE49-F238E27FC236}">
                <a16:creationId xmlns:a16="http://schemas.microsoft.com/office/drawing/2014/main" id="{B5C5A37A-7BEA-D42B-8CFE-40E0C148CB83}"/>
              </a:ext>
            </a:extLst>
          </p:cNvPr>
          <p:cNvSpPr txBox="1"/>
          <p:nvPr/>
        </p:nvSpPr>
        <p:spPr>
          <a:xfrm>
            <a:off x="5290956" y="3011074"/>
            <a:ext cx="397999"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535353"/>
                </a:solidFill>
                <a:effectLst/>
                <a:uLnTx/>
                <a:uFillTx/>
                <a:latin typeface="Calibri"/>
                <a:ea typeface="Calibri"/>
                <a:cs typeface="Calibri"/>
                <a:sym typeface="Calibri"/>
              </a:rPr>
              <a:t>TM</a:t>
            </a:r>
          </a:p>
        </p:txBody>
      </p:sp>
      <p:sp>
        <p:nvSpPr>
          <p:cNvPr id="5" name="TextBox 4">
            <a:extLst>
              <a:ext uri="{FF2B5EF4-FFF2-40B4-BE49-F238E27FC236}">
                <a16:creationId xmlns:a16="http://schemas.microsoft.com/office/drawing/2014/main" id="{180189C4-05F8-8F43-D9E4-A3C6BF9BE5D3}"/>
              </a:ext>
            </a:extLst>
          </p:cNvPr>
          <p:cNvSpPr txBox="1"/>
          <p:nvPr/>
        </p:nvSpPr>
        <p:spPr>
          <a:xfrm>
            <a:off x="11886342" y="418416"/>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96611436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74" name="Solution Overview"/>
          <p:cNvSpPr txBox="1"/>
          <p:nvPr/>
        </p:nvSpPr>
        <p:spPr>
          <a:xfrm>
            <a:off x="506423" y="365125"/>
            <a:ext cx="5444672" cy="7578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sz="32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Solution</a:t>
            </a:r>
            <a:r>
              <a:rPr kumimoji="0" lang="en-US" sz="32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2</a:t>
            </a:r>
            <a:r>
              <a:rPr kumimoji="0" sz="32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sym typeface="Calibri"/>
              </a:rPr>
              <a:t> </a:t>
            </a:r>
            <a:r>
              <a:rPr lang="en-US" sz="3200" b="1" kern="0" dirty="0">
                <a:latin typeface="Calibri" panose="020F0502020204030204" pitchFamily="34" charset="0"/>
                <a:ea typeface="Calibri" panose="020F0502020204030204" pitchFamily="34" charset="0"/>
                <a:cs typeface="Calibri" panose="020F0502020204030204" pitchFamily="34" charset="0"/>
              </a:rPr>
              <a:t>– Edge Device</a:t>
            </a:r>
            <a:endParaRPr kumimoji="0" sz="3200" b="1"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76" name="Line"/>
          <p:cNvSpPr/>
          <p:nvPr/>
        </p:nvSpPr>
        <p:spPr>
          <a:xfrm flipV="1">
            <a:off x="546040" y="1015718"/>
            <a:ext cx="4745713" cy="40011"/>
          </a:xfrm>
          <a:prstGeom prst="line">
            <a:avLst/>
          </a:prstGeom>
          <a:ln w="25400">
            <a:solidFill>
              <a:schemeClr val="tx1">
                <a:lumMod val="50000"/>
                <a:lumOff val="50000"/>
              </a:schemeClr>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277" name="Our cutting-edge AI technology simplifies the diagnostic process into three streamlined steps :"/>
          <p:cNvSpPr txBox="1"/>
          <p:nvPr/>
        </p:nvSpPr>
        <p:spPr>
          <a:xfrm>
            <a:off x="546040" y="1470858"/>
            <a:ext cx="11272441" cy="557691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buClr>
                <a:srgbClr val="000000"/>
              </a:buClr>
              <a:buFont typeface="Arial"/>
              <a:defRPr sz="2000">
                <a:solidFill>
                  <a:srgbClr val="EBEBEB"/>
                </a:solidFill>
                <a:latin typeface="Calibri"/>
                <a:ea typeface="Calibri"/>
                <a:cs typeface="Calibri"/>
                <a:sym typeface="Calibri"/>
              </a:defRPr>
            </a:lvl1pPr>
          </a:lstStyle>
          <a:p>
            <a:r>
              <a:rPr lang="en-US" dirty="0">
                <a:latin typeface="Calibri" panose="020F0502020204030204" pitchFamily="34" charset="0"/>
                <a:ea typeface="Calibri" panose="020F0502020204030204" pitchFamily="34" charset="0"/>
                <a:cs typeface="Calibri" panose="020F0502020204030204" pitchFamily="34" charset="0"/>
              </a:rPr>
              <a:t>The BillionTests.AI Edge Device is a smart, plug-and-play urinalysis scanner built for mass testing at scale.</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It delivers instant, AI-powered results for kidney, blood sugar, UTI + 7 more parameters. and generates tamper-proof blockchain reports for trusted diagnostics.</a:t>
            </a:r>
          </a:p>
          <a:p>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How It Works</a:t>
            </a:r>
          </a:p>
          <a:p>
            <a:endParaRPr lang="en-US"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Insert strip</a:t>
            </a:r>
            <a:r>
              <a:rPr lang="en-US" dirty="0">
                <a:latin typeface="Calibri" panose="020F0502020204030204" pitchFamily="34" charset="0"/>
                <a:ea typeface="Calibri" panose="020F0502020204030204" pitchFamily="34" charset="0"/>
                <a:cs typeface="Calibri" panose="020F0502020204030204" pitchFamily="34" charset="0"/>
              </a:rPr>
              <a:t> → Place the urine test strip into the device.</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Automatic scan</a:t>
            </a:r>
            <a:r>
              <a:rPr lang="en-US" dirty="0">
                <a:latin typeface="Calibri" panose="020F0502020204030204" pitchFamily="34" charset="0"/>
                <a:ea typeface="Calibri" panose="020F0502020204030204" pitchFamily="34" charset="0"/>
                <a:cs typeface="Calibri" panose="020F0502020204030204" pitchFamily="34" charset="0"/>
              </a:rPr>
              <a:t> → Built-in optics capture and calibrate under controlled lighting.</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AI analysis</a:t>
            </a:r>
            <a:r>
              <a:rPr lang="en-US" dirty="0">
                <a:latin typeface="Calibri" panose="020F0502020204030204" pitchFamily="34" charset="0"/>
                <a:ea typeface="Calibri" panose="020F0502020204030204" pitchFamily="34" charset="0"/>
                <a:cs typeface="Calibri" panose="020F0502020204030204" pitchFamily="34" charset="0"/>
              </a:rPr>
              <a:t> → Device interprets kidney, blood sugar, UTI + 7 more parameters in under 20 seconds.</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Instant report</a:t>
            </a:r>
            <a:r>
              <a:rPr lang="en-US" dirty="0">
                <a:latin typeface="Calibri" panose="020F0502020204030204" pitchFamily="34" charset="0"/>
                <a:ea typeface="Calibri" panose="020F0502020204030204" pitchFamily="34" charset="0"/>
                <a:cs typeface="Calibri" panose="020F0502020204030204" pitchFamily="34" charset="0"/>
              </a:rPr>
              <a:t> → Results shown on connected mobile/desktop app.</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Blockchain record</a:t>
            </a:r>
            <a:r>
              <a:rPr lang="en-US" dirty="0">
                <a:latin typeface="Calibri" panose="020F0502020204030204" pitchFamily="34" charset="0"/>
                <a:ea typeface="Calibri" panose="020F0502020204030204" pitchFamily="34" charset="0"/>
                <a:cs typeface="Calibri" panose="020F0502020204030204" pitchFamily="34" charset="0"/>
              </a:rPr>
              <a:t> → Secured for verification, sharing, and compliance.</a:t>
            </a:r>
          </a:p>
          <a:p>
            <a:pPr marL="285750" indent="-285750">
              <a:buFont typeface="Wingdings" panose="05000000000000000000" pitchFamily="2" charset="2"/>
              <a:buChar char="Ø"/>
            </a:pPr>
            <a:endParaRPr lang="en-US"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Key Advantages</a:t>
            </a:r>
          </a:p>
          <a:p>
            <a:endParaRPr lang="en-US" b="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Unlimited testing</a:t>
            </a:r>
            <a:r>
              <a:rPr lang="en-US" dirty="0">
                <a:latin typeface="Calibri" panose="020F0502020204030204" pitchFamily="34" charset="0"/>
                <a:ea typeface="Calibri" panose="020F0502020204030204" pitchFamily="34" charset="0"/>
                <a:cs typeface="Calibri" panose="020F0502020204030204" pitchFamily="34" charset="0"/>
              </a:rPr>
              <a:t> → One-time cost, no recurring scan charges.</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Offline-first</a:t>
            </a:r>
            <a:r>
              <a:rPr lang="en-US" dirty="0">
                <a:latin typeface="Calibri" panose="020F0502020204030204" pitchFamily="34" charset="0"/>
                <a:ea typeface="Calibri" panose="020F0502020204030204" pitchFamily="34" charset="0"/>
                <a:cs typeface="Calibri" panose="020F0502020204030204" pitchFamily="34" charset="0"/>
              </a:rPr>
              <a:t> → Works without internet; syncs later when connected.</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Multi-strip compatible</a:t>
            </a:r>
            <a:r>
              <a:rPr lang="en-US" dirty="0">
                <a:latin typeface="Calibri" panose="020F0502020204030204" pitchFamily="34" charset="0"/>
                <a:ea typeface="Calibri" panose="020F0502020204030204" pitchFamily="34" charset="0"/>
                <a:cs typeface="Calibri" panose="020F0502020204030204" pitchFamily="34" charset="0"/>
              </a:rPr>
              <a:t> → Not restricted to proprietary strips like Siemens/Roche.</a:t>
            </a:r>
          </a:p>
          <a:p>
            <a:pPr marL="285750" indent="-285750">
              <a:buFont typeface="Wingdings" panose="05000000000000000000" pitchFamily="2" charset="2"/>
              <a:buChar char="Ø"/>
            </a:pPr>
            <a:r>
              <a:rPr lang="en-US" b="1" dirty="0">
                <a:latin typeface="Calibri" panose="020F0502020204030204" pitchFamily="34" charset="0"/>
                <a:ea typeface="Calibri" panose="020F0502020204030204" pitchFamily="34" charset="0"/>
                <a:cs typeface="Calibri" panose="020F0502020204030204" pitchFamily="34" charset="0"/>
              </a:rPr>
              <a:t>Portable &amp; durable</a:t>
            </a:r>
            <a:r>
              <a:rPr lang="en-US" dirty="0">
                <a:latin typeface="Calibri" panose="020F0502020204030204" pitchFamily="34" charset="0"/>
                <a:ea typeface="Calibri" panose="020F0502020204030204" pitchFamily="34" charset="0"/>
                <a:cs typeface="Calibri" panose="020F0502020204030204" pitchFamily="34" charset="0"/>
              </a:rPr>
              <a:t> → Lightweight, reliable for field and community use.</a:t>
            </a:r>
          </a:p>
          <a:p>
            <a:endParaRPr lang="en-US" sz="1800" dirty="0">
              <a:latin typeface="Calibri" panose="020F0502020204030204" pitchFamily="34" charset="0"/>
              <a:ea typeface="Calibri" panose="020F0502020204030204" pitchFamily="34" charset="0"/>
              <a:cs typeface="Calibri" panose="020F0502020204030204" pitchFamily="34" charset="0"/>
            </a:endParaRPr>
          </a:p>
          <a:p>
            <a:endParaRPr lang="en-IN" sz="1800" dirty="0">
              <a:latin typeface="Calibri" panose="020F0502020204030204" pitchFamily="34" charset="0"/>
              <a:ea typeface="Calibri" panose="020F0502020204030204" pitchFamily="34" charset="0"/>
              <a:cs typeface="Calibri" panose="020F0502020204030204" pitchFamily="34" charset="0"/>
            </a:endParaRPr>
          </a:p>
        </p:txBody>
      </p:sp>
      <p:sp>
        <p:nvSpPr>
          <p:cNvPr id="278" name="Slide Numbe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11</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A44CF449-B858-1E7F-BF7F-915CBCF50B9C}"/>
              </a:ext>
            </a:extLst>
          </p:cNvPr>
          <p:cNvSpPr txBox="1"/>
          <p:nvPr/>
        </p:nvSpPr>
        <p:spPr>
          <a:xfrm>
            <a:off x="9875714" y="559388"/>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3" name="Rectangle">
            <a:extLst>
              <a:ext uri="{FF2B5EF4-FFF2-40B4-BE49-F238E27FC236}">
                <a16:creationId xmlns:a16="http://schemas.microsoft.com/office/drawing/2014/main" id="{62C1B217-9072-0160-20CD-A72A60F1184A}"/>
              </a:ext>
            </a:extLst>
          </p:cNvPr>
          <p:cNvSpPr/>
          <p:nvPr/>
        </p:nvSpPr>
        <p:spPr>
          <a:xfrm flipH="1">
            <a:off x="629546" y="3223371"/>
            <a:ext cx="51365" cy="1355206"/>
          </a:xfrm>
          <a:prstGeom prst="rect">
            <a:avLst/>
          </a:prstGeom>
          <a:gradFill>
            <a:gsLst>
              <a:gs pos="0">
                <a:schemeClr val="accent4">
                  <a:hueOff val="-617933"/>
                  <a:lumOff val="36487"/>
                </a:schemeClr>
              </a:gs>
              <a:gs pos="35000">
                <a:srgbClr val="FFEACF"/>
              </a:gs>
              <a:gs pos="100000">
                <a:schemeClr val="accent4">
                  <a:hueOff val="-742744"/>
                  <a:lumOff val="46439"/>
                </a:schemeClr>
              </a:gs>
            </a:gsLst>
            <a:lin ang="16200000"/>
          </a:gradFill>
          <a:ln w="12700">
            <a:miter lim="400000"/>
          </a:ln>
          <a:effectLst>
            <a:outerShdw blurRad="38100" dist="20000" dir="5400000" rotWithShape="0">
              <a:srgbClr val="000000">
                <a:alpha val="38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Rectangle">
            <a:extLst>
              <a:ext uri="{FF2B5EF4-FFF2-40B4-BE49-F238E27FC236}">
                <a16:creationId xmlns:a16="http://schemas.microsoft.com/office/drawing/2014/main" id="{41A355F5-5497-CA5C-6249-B6CCEE757ED7}"/>
              </a:ext>
            </a:extLst>
          </p:cNvPr>
          <p:cNvSpPr/>
          <p:nvPr/>
        </p:nvSpPr>
        <p:spPr>
          <a:xfrm>
            <a:off x="606686" y="5416302"/>
            <a:ext cx="45719" cy="998478"/>
          </a:xfrm>
          <a:prstGeom prst="rect">
            <a:avLst/>
          </a:prstGeom>
          <a:gradFill>
            <a:gsLst>
              <a:gs pos="0">
                <a:srgbClr val="499CE7"/>
              </a:gs>
              <a:gs pos="100000">
                <a:schemeClr val="accent5">
                  <a:hueOff val="329330"/>
                  <a:satOff val="40776"/>
                  <a:lumOff val="24655"/>
                </a:schemeClr>
              </a:gs>
            </a:gsLst>
            <a:lin ang="16200000"/>
          </a:gradFill>
          <a:ln>
            <a:solidFill>
              <a:srgbClr val="5698D3"/>
            </a:solidFill>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grpSp>
        <p:nvGrpSpPr>
          <p:cNvPr id="5" name="Group">
            <a:extLst>
              <a:ext uri="{FF2B5EF4-FFF2-40B4-BE49-F238E27FC236}">
                <a16:creationId xmlns:a16="http://schemas.microsoft.com/office/drawing/2014/main" id="{AB14EC54-CFB1-2261-0E8D-6F4699937C79}"/>
              </a:ext>
            </a:extLst>
          </p:cNvPr>
          <p:cNvGrpSpPr/>
          <p:nvPr/>
        </p:nvGrpSpPr>
        <p:grpSpPr>
          <a:xfrm>
            <a:off x="0" y="6720278"/>
            <a:ext cx="12222906" cy="275443"/>
            <a:chOff x="0" y="0"/>
            <a:chExt cx="12222905" cy="275441"/>
          </a:xfrm>
        </p:grpSpPr>
        <p:sp>
          <p:nvSpPr>
            <p:cNvPr id="6" name="Rounded Rectangle">
              <a:extLst>
                <a:ext uri="{FF2B5EF4-FFF2-40B4-BE49-F238E27FC236}">
                  <a16:creationId xmlns:a16="http://schemas.microsoft.com/office/drawing/2014/main" id="{11FC129D-0F0C-EA03-53D7-E6AB8D06EA3C}"/>
                </a:ext>
              </a:extLst>
            </p:cNvPr>
            <p:cNvSpPr/>
            <p:nvPr/>
          </p:nvSpPr>
          <p:spPr>
            <a:xfrm>
              <a:off x="0" y="0"/>
              <a:ext cx="2582268" cy="275442"/>
            </a:xfrm>
            <a:prstGeom prst="roundRect">
              <a:avLst>
                <a:gd name="adj" fmla="val 50000"/>
              </a:avLst>
            </a:prstGeom>
            <a:solidFill>
              <a:srgbClr val="FFFF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Rectangle">
              <a:extLst>
                <a:ext uri="{FF2B5EF4-FFF2-40B4-BE49-F238E27FC236}">
                  <a16:creationId xmlns:a16="http://schemas.microsoft.com/office/drawing/2014/main" id="{1F5056EA-0804-D8B2-51B9-4FC31D8159F1}"/>
                </a:ext>
              </a:extLst>
            </p:cNvPr>
            <p:cNvSpPr/>
            <p:nvPr/>
          </p:nvSpPr>
          <p:spPr>
            <a:xfrm>
              <a:off x="2039343" y="0"/>
              <a:ext cx="2582269" cy="275442"/>
            </a:xfrm>
            <a:prstGeom prst="rect">
              <a:avLst/>
            </a:prstGeom>
            <a:solidFill>
              <a:srgbClr val="FFB5A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Rectangle">
              <a:extLst>
                <a:ext uri="{FF2B5EF4-FFF2-40B4-BE49-F238E27FC236}">
                  <a16:creationId xmlns:a16="http://schemas.microsoft.com/office/drawing/2014/main" id="{6214E738-A736-E4A6-CAA0-07FBF4B6FE1F}"/>
                </a:ext>
              </a:extLst>
            </p:cNvPr>
            <p:cNvSpPr/>
            <p:nvPr/>
          </p:nvSpPr>
          <p:spPr>
            <a:xfrm>
              <a:off x="4604859" y="0"/>
              <a:ext cx="2582269" cy="275442"/>
            </a:xfrm>
            <a:prstGeom prst="rect">
              <a:avLst/>
            </a:prstGeom>
            <a:solidFill>
              <a:srgbClr val="FFD9A8"/>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Rectangle">
              <a:extLst>
                <a:ext uri="{FF2B5EF4-FFF2-40B4-BE49-F238E27FC236}">
                  <a16:creationId xmlns:a16="http://schemas.microsoft.com/office/drawing/2014/main" id="{8A9C03B9-9548-6ED1-955D-22F5B417FAA2}"/>
                </a:ext>
              </a:extLst>
            </p:cNvPr>
            <p:cNvSpPr/>
            <p:nvPr/>
          </p:nvSpPr>
          <p:spPr>
            <a:xfrm>
              <a:off x="7187127" y="0"/>
              <a:ext cx="2582268" cy="275442"/>
            </a:xfrm>
            <a:prstGeom prst="rect">
              <a:avLst/>
            </a:prstGeom>
            <a:solidFill>
              <a:srgbClr val="EAF28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Rounded Rectangle">
              <a:extLst>
                <a:ext uri="{FF2B5EF4-FFF2-40B4-BE49-F238E27FC236}">
                  <a16:creationId xmlns:a16="http://schemas.microsoft.com/office/drawing/2014/main" id="{2C99B87F-EC8F-2A7E-6EA3-24BF48CF038F}"/>
                </a:ext>
              </a:extLst>
            </p:cNvPr>
            <p:cNvSpPr/>
            <p:nvPr/>
          </p:nvSpPr>
          <p:spPr>
            <a:xfrm>
              <a:off x="9640637" y="0"/>
              <a:ext cx="2582269" cy="275442"/>
            </a:xfrm>
            <a:prstGeom prst="roundRect">
              <a:avLst>
                <a:gd name="adj" fmla="val 50000"/>
              </a:avLst>
            </a:prstGeom>
            <a:solidFill>
              <a:srgbClr val="CBF0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Rectangle">
              <a:extLst>
                <a:ext uri="{FF2B5EF4-FFF2-40B4-BE49-F238E27FC236}">
                  <a16:creationId xmlns:a16="http://schemas.microsoft.com/office/drawing/2014/main" id="{CFE24A9F-5CCA-49DA-7507-01F9CCCCFC38}"/>
                </a:ext>
              </a:extLst>
            </p:cNvPr>
            <p:cNvSpPr/>
            <p:nvPr/>
          </p:nvSpPr>
          <p:spPr>
            <a:xfrm>
              <a:off x="8640681" y="0"/>
              <a:ext cx="2582268" cy="275442"/>
            </a:xfrm>
            <a:prstGeom prst="rect">
              <a:avLst/>
            </a:prstGeom>
            <a:solidFill>
              <a:srgbClr val="D9C9FE"/>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2" name="Slide Number">
            <a:extLst>
              <a:ext uri="{FF2B5EF4-FFF2-40B4-BE49-F238E27FC236}">
                <a16:creationId xmlns:a16="http://schemas.microsoft.com/office/drawing/2014/main" id="{D34FB924-F478-9AD9-F8A8-2F9E622B3752}"/>
              </a:ext>
            </a:extLst>
          </p:cNvPr>
          <p:cNvSpPr txBox="1">
            <a:spLocks/>
          </p:cNvSpPr>
          <p:nvPr/>
        </p:nvSpPr>
        <p:spPr>
          <a:xfrm>
            <a:off x="11172458" y="6414780"/>
            <a:ext cx="181343"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699" tIns="45699" rIns="45699" bIns="45699" anchor="ctr">
            <a:spAutoFit/>
          </a:bodyPr>
          <a:lstStyle>
            <a:defPPr>
              <a:defRPr lang="en-US"/>
            </a:defPPr>
            <a:lvl1pPr marL="0" algn="r" defTabSz="914400" rtl="0" eaLnBrk="1" latinLnBrk="0" hangingPunct="1">
              <a:defRPr sz="1200" kern="1200">
                <a:solidFill>
                  <a:srgbClr val="888888"/>
                </a:solidFill>
                <a:latin typeface="Calibri"/>
                <a:ea typeface="Calibri"/>
                <a:cs typeface="Calibri"/>
                <a:sym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hangingPunct="0">
              <a:defRPr/>
            </a:pPr>
            <a:fld id="{86CB4B4D-7CA3-9044-876B-883B54F8677D}" type="slidenum">
              <a:rPr lang="en-IN" kern="0" smtClean="0"/>
              <a:pPr hangingPunct="0">
                <a:defRPr/>
              </a:pPr>
              <a:t>11</a:t>
            </a:fld>
            <a:endParaRPr lang="en-IN" kern="0"/>
          </a:p>
        </p:txBody>
      </p:sp>
      <p:sp>
        <p:nvSpPr>
          <p:cNvPr id="14" name="TextBox 13">
            <a:extLst>
              <a:ext uri="{FF2B5EF4-FFF2-40B4-BE49-F238E27FC236}">
                <a16:creationId xmlns:a16="http://schemas.microsoft.com/office/drawing/2014/main" id="{E2B422BE-91AE-B05C-630F-2B03416D014C}"/>
              </a:ext>
            </a:extLst>
          </p:cNvPr>
          <p:cNvSpPr txBox="1"/>
          <p:nvPr/>
        </p:nvSpPr>
        <p:spPr>
          <a:xfrm>
            <a:off x="11821384" y="559388"/>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328098142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29B8FDF-72F4-241C-4880-D5802018B1AD}"/>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2C74C574-F9FF-3A6A-8026-27EDFD7113D2}"/>
              </a:ext>
            </a:extLst>
          </p:cNvPr>
          <p:cNvSpPr/>
          <p:nvPr/>
        </p:nvSpPr>
        <p:spPr>
          <a:xfrm>
            <a:off x="0" y="1133504"/>
            <a:ext cx="12192001" cy="5706627"/>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7" name="Line">
            <a:extLst>
              <a:ext uri="{FF2B5EF4-FFF2-40B4-BE49-F238E27FC236}">
                <a16:creationId xmlns:a16="http://schemas.microsoft.com/office/drawing/2014/main" id="{B13147D8-53FF-98E9-99F8-6C6AFB25CE5B}"/>
              </a:ext>
            </a:extLst>
          </p:cNvPr>
          <p:cNvSpPr/>
          <p:nvPr/>
        </p:nvSpPr>
        <p:spPr>
          <a:xfrm flipV="1">
            <a:off x="567538" y="934789"/>
            <a:ext cx="9094565" cy="44255"/>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A17223AB-4B63-7B7A-8BB9-BC40FB4AC815}"/>
              </a:ext>
            </a:extLst>
          </p:cNvPr>
          <p:cNvSpPr txBox="1"/>
          <p:nvPr/>
        </p:nvSpPr>
        <p:spPr>
          <a:xfrm>
            <a:off x="520667" y="365125"/>
            <a:ext cx="8173627"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0" cap="none" spc="0" normalizeH="0" baseline="0" noProof="0" dirty="0">
                <a:ln>
                  <a:noFill/>
                </a:ln>
                <a:solidFill>
                  <a:srgbClr val="FFFFFF"/>
                </a:solidFill>
                <a:effectLst/>
                <a:uLnTx/>
                <a:uFillTx/>
                <a:latin typeface="Calibri"/>
                <a:ea typeface="Calibri"/>
                <a:cs typeface="Calibri"/>
                <a:sym typeface="Calibri"/>
              </a:rPr>
              <a:t>How it Works?</a:t>
            </a:r>
            <a:endParaRPr kumimoji="0" sz="32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2198BC01-3692-7B20-24AB-7A143B7FC8C4}"/>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12</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C6CA526F-BB10-E0E5-8FA3-97110A2FA966}"/>
              </a:ext>
            </a:extLst>
          </p:cNvPr>
          <p:cNvSpPr txBox="1"/>
          <p:nvPr/>
        </p:nvSpPr>
        <p:spPr>
          <a:xfrm>
            <a:off x="9736410" y="488227"/>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5" name="Picture 4">
            <a:extLst>
              <a:ext uri="{FF2B5EF4-FFF2-40B4-BE49-F238E27FC236}">
                <a16:creationId xmlns:a16="http://schemas.microsoft.com/office/drawing/2014/main" id="{D2631547-175A-825D-8EA5-27EAC159D798}"/>
              </a:ext>
            </a:extLst>
          </p:cNvPr>
          <p:cNvPicPr>
            <a:picLocks noChangeAspect="1"/>
          </p:cNvPicPr>
          <p:nvPr/>
        </p:nvPicPr>
        <p:blipFill>
          <a:blip r:embed="rId3"/>
          <a:stretch>
            <a:fillRect/>
          </a:stretch>
        </p:blipFill>
        <p:spPr>
          <a:xfrm>
            <a:off x="5497486" y="1145903"/>
            <a:ext cx="6787138" cy="5694228"/>
          </a:xfrm>
          <a:prstGeom prst="rect">
            <a:avLst/>
          </a:prstGeom>
        </p:spPr>
      </p:pic>
      <p:sp>
        <p:nvSpPr>
          <p:cNvPr id="6" name="TextBox 5">
            <a:extLst>
              <a:ext uri="{FF2B5EF4-FFF2-40B4-BE49-F238E27FC236}">
                <a16:creationId xmlns:a16="http://schemas.microsoft.com/office/drawing/2014/main" id="{46F0C420-510E-C524-7FFA-1CCAD7E71046}"/>
              </a:ext>
            </a:extLst>
          </p:cNvPr>
          <p:cNvSpPr txBox="1"/>
          <p:nvPr/>
        </p:nvSpPr>
        <p:spPr>
          <a:xfrm>
            <a:off x="520667" y="1398364"/>
            <a:ext cx="4575989" cy="4278094"/>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inserts the test strip into the BillionTests.AI device.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device is connected to a smartphone or CPU machine via Wi-Fi/ Bluetooth/ USB.</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User selects the test to be performed.</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device acquires the data from the strip.</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Basic edge processing is done on the device.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processed data is transferred to the cloud for further analysis.</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final processed results are displayed on the connected smartphone or CPU machine.</a:t>
            </a:r>
          </a:p>
        </p:txBody>
      </p:sp>
      <p:sp>
        <p:nvSpPr>
          <p:cNvPr id="4" name="Rectangle">
            <a:extLst>
              <a:ext uri="{FF2B5EF4-FFF2-40B4-BE49-F238E27FC236}">
                <a16:creationId xmlns:a16="http://schemas.microsoft.com/office/drawing/2014/main" id="{C2FAFC90-1608-B1E1-0160-09B3DAA78092}"/>
              </a:ext>
            </a:extLst>
          </p:cNvPr>
          <p:cNvSpPr/>
          <p:nvPr/>
        </p:nvSpPr>
        <p:spPr>
          <a:xfrm rot="16200000">
            <a:off x="-1664695" y="3484694"/>
            <a:ext cx="4533904" cy="149082"/>
          </a:xfrm>
          <a:prstGeom prst="rect">
            <a:avLst/>
          </a:prstGeom>
          <a:gradFill>
            <a:gsLst>
              <a:gs pos="0">
                <a:srgbClr val="6837FF"/>
              </a:gs>
              <a:gs pos="100000">
                <a:srgbClr val="CF34FF"/>
              </a:gs>
            </a:gsLst>
            <a:lin ang="21291626"/>
          </a:gradFill>
          <a:ln w="25400">
            <a:solidFill>
              <a:srgbClr val="FFFFFF"/>
            </a:solidFill>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Circle">
            <a:extLst>
              <a:ext uri="{FF2B5EF4-FFF2-40B4-BE49-F238E27FC236}">
                <a16:creationId xmlns:a16="http://schemas.microsoft.com/office/drawing/2014/main" id="{D99718D1-2175-32A6-3E05-3157A11768C1}"/>
              </a:ext>
            </a:extLst>
          </p:cNvPr>
          <p:cNvSpPr/>
          <p:nvPr/>
        </p:nvSpPr>
        <p:spPr>
          <a:xfrm>
            <a:off x="414189" y="1428006"/>
            <a:ext cx="402044"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Circle">
            <a:extLst>
              <a:ext uri="{FF2B5EF4-FFF2-40B4-BE49-F238E27FC236}">
                <a16:creationId xmlns:a16="http://schemas.microsoft.com/office/drawing/2014/main" id="{7B03F320-937C-772B-06FC-631ECE0ADC51}"/>
              </a:ext>
            </a:extLst>
          </p:cNvPr>
          <p:cNvSpPr/>
          <p:nvPr/>
        </p:nvSpPr>
        <p:spPr>
          <a:xfrm>
            <a:off x="407211" y="2213192"/>
            <a:ext cx="402043"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 name="Circle">
            <a:extLst>
              <a:ext uri="{FF2B5EF4-FFF2-40B4-BE49-F238E27FC236}">
                <a16:creationId xmlns:a16="http://schemas.microsoft.com/office/drawing/2014/main" id="{554C4AD4-81B9-B378-64E3-70DAC5830596}"/>
              </a:ext>
            </a:extLst>
          </p:cNvPr>
          <p:cNvSpPr/>
          <p:nvPr/>
        </p:nvSpPr>
        <p:spPr>
          <a:xfrm>
            <a:off x="409125" y="2819484"/>
            <a:ext cx="402043"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Circle">
            <a:extLst>
              <a:ext uri="{FF2B5EF4-FFF2-40B4-BE49-F238E27FC236}">
                <a16:creationId xmlns:a16="http://schemas.microsoft.com/office/drawing/2014/main" id="{7D6807A8-FC7F-D661-A6E0-57BD46C2503B}"/>
              </a:ext>
            </a:extLst>
          </p:cNvPr>
          <p:cNvSpPr/>
          <p:nvPr/>
        </p:nvSpPr>
        <p:spPr>
          <a:xfrm>
            <a:off x="417590" y="3386011"/>
            <a:ext cx="402044"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 name="Circle">
            <a:extLst>
              <a:ext uri="{FF2B5EF4-FFF2-40B4-BE49-F238E27FC236}">
                <a16:creationId xmlns:a16="http://schemas.microsoft.com/office/drawing/2014/main" id="{32AA3C97-E603-89D4-7B34-3083BD3649E4}"/>
              </a:ext>
            </a:extLst>
          </p:cNvPr>
          <p:cNvSpPr/>
          <p:nvPr/>
        </p:nvSpPr>
        <p:spPr>
          <a:xfrm>
            <a:off x="406050" y="3932661"/>
            <a:ext cx="402044"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Circle">
            <a:extLst>
              <a:ext uri="{FF2B5EF4-FFF2-40B4-BE49-F238E27FC236}">
                <a16:creationId xmlns:a16="http://schemas.microsoft.com/office/drawing/2014/main" id="{40665D34-7C06-3CD4-4C85-106E88AF5C49}"/>
              </a:ext>
            </a:extLst>
          </p:cNvPr>
          <p:cNvSpPr/>
          <p:nvPr/>
        </p:nvSpPr>
        <p:spPr>
          <a:xfrm>
            <a:off x="407211" y="4497991"/>
            <a:ext cx="402043"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1">
            <a:extLst>
              <a:ext uri="{FF2B5EF4-FFF2-40B4-BE49-F238E27FC236}">
                <a16:creationId xmlns:a16="http://schemas.microsoft.com/office/drawing/2014/main" id="{F15A5C2C-1046-267D-DF5B-18469CBEC181}"/>
              </a:ext>
            </a:extLst>
          </p:cNvPr>
          <p:cNvSpPr txBox="1"/>
          <p:nvPr/>
        </p:nvSpPr>
        <p:spPr>
          <a:xfrm>
            <a:off x="513699" y="1484615"/>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FFFFFF"/>
                </a:solidFill>
                <a:effectLst/>
                <a:uLnTx/>
                <a:uFillTx/>
                <a:latin typeface="Arial"/>
                <a:cs typeface="Arial"/>
                <a:sym typeface="Arial"/>
              </a:rPr>
              <a:t>1</a:t>
            </a:r>
          </a:p>
        </p:txBody>
      </p:sp>
      <p:sp>
        <p:nvSpPr>
          <p:cNvPr id="15" name="2">
            <a:extLst>
              <a:ext uri="{FF2B5EF4-FFF2-40B4-BE49-F238E27FC236}">
                <a16:creationId xmlns:a16="http://schemas.microsoft.com/office/drawing/2014/main" id="{BDF33CB0-F9E1-3827-97DB-19ACDB3AA437}"/>
              </a:ext>
            </a:extLst>
          </p:cNvPr>
          <p:cNvSpPr txBox="1"/>
          <p:nvPr/>
        </p:nvSpPr>
        <p:spPr>
          <a:xfrm>
            <a:off x="506720" y="2269801"/>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a:cs typeface="Arial"/>
                <a:sym typeface="Arial"/>
              </a:rPr>
              <a:t>2</a:t>
            </a:r>
          </a:p>
        </p:txBody>
      </p:sp>
      <p:sp>
        <p:nvSpPr>
          <p:cNvPr id="16" name="3">
            <a:extLst>
              <a:ext uri="{FF2B5EF4-FFF2-40B4-BE49-F238E27FC236}">
                <a16:creationId xmlns:a16="http://schemas.microsoft.com/office/drawing/2014/main" id="{5E4E4D57-A8B8-1285-601F-2089EDDBB523}"/>
              </a:ext>
            </a:extLst>
          </p:cNvPr>
          <p:cNvSpPr txBox="1"/>
          <p:nvPr/>
        </p:nvSpPr>
        <p:spPr>
          <a:xfrm>
            <a:off x="508634" y="2876093"/>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FFFFFF"/>
                </a:solidFill>
                <a:effectLst/>
                <a:uLnTx/>
                <a:uFillTx/>
                <a:latin typeface="Arial"/>
                <a:cs typeface="Arial"/>
                <a:sym typeface="Arial"/>
              </a:rPr>
              <a:t>3</a:t>
            </a:r>
          </a:p>
        </p:txBody>
      </p:sp>
      <p:sp>
        <p:nvSpPr>
          <p:cNvPr id="17" name="4">
            <a:extLst>
              <a:ext uri="{FF2B5EF4-FFF2-40B4-BE49-F238E27FC236}">
                <a16:creationId xmlns:a16="http://schemas.microsoft.com/office/drawing/2014/main" id="{CA11E5BC-FD9D-15EB-3A95-78962C1EBCF7}"/>
              </a:ext>
            </a:extLst>
          </p:cNvPr>
          <p:cNvSpPr txBox="1"/>
          <p:nvPr/>
        </p:nvSpPr>
        <p:spPr>
          <a:xfrm>
            <a:off x="517099" y="3442620"/>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FFFFFF"/>
                </a:solidFill>
                <a:effectLst/>
                <a:uLnTx/>
                <a:uFillTx/>
                <a:latin typeface="Arial"/>
                <a:cs typeface="Arial"/>
                <a:sym typeface="Arial"/>
              </a:rPr>
              <a:t>4</a:t>
            </a:r>
          </a:p>
        </p:txBody>
      </p:sp>
      <p:sp>
        <p:nvSpPr>
          <p:cNvPr id="18" name="5">
            <a:extLst>
              <a:ext uri="{FF2B5EF4-FFF2-40B4-BE49-F238E27FC236}">
                <a16:creationId xmlns:a16="http://schemas.microsoft.com/office/drawing/2014/main" id="{78B65C16-FEAD-129A-70BB-8BA6166E9D4C}"/>
              </a:ext>
            </a:extLst>
          </p:cNvPr>
          <p:cNvSpPr txBox="1"/>
          <p:nvPr/>
        </p:nvSpPr>
        <p:spPr>
          <a:xfrm>
            <a:off x="505560" y="3989270"/>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FFFFFF"/>
                </a:solidFill>
                <a:effectLst/>
                <a:uLnTx/>
                <a:uFillTx/>
                <a:latin typeface="Arial"/>
                <a:cs typeface="Arial"/>
                <a:sym typeface="Arial"/>
              </a:rPr>
              <a:t>5</a:t>
            </a:r>
          </a:p>
        </p:txBody>
      </p:sp>
      <p:sp>
        <p:nvSpPr>
          <p:cNvPr id="19" name="6">
            <a:extLst>
              <a:ext uri="{FF2B5EF4-FFF2-40B4-BE49-F238E27FC236}">
                <a16:creationId xmlns:a16="http://schemas.microsoft.com/office/drawing/2014/main" id="{7FF71768-4DAB-A670-D3B1-844F51642524}"/>
              </a:ext>
            </a:extLst>
          </p:cNvPr>
          <p:cNvSpPr txBox="1"/>
          <p:nvPr/>
        </p:nvSpPr>
        <p:spPr>
          <a:xfrm>
            <a:off x="511693" y="4554600"/>
            <a:ext cx="203025" cy="2888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400" b="0" i="0" u="none" strike="noStrike" kern="0" cap="none" spc="0" normalizeH="0" baseline="0" noProof="0">
                <a:ln>
                  <a:noFill/>
                </a:ln>
                <a:solidFill>
                  <a:srgbClr val="FFFFFF"/>
                </a:solidFill>
                <a:effectLst/>
                <a:uLnTx/>
                <a:uFillTx/>
                <a:latin typeface="Arial"/>
                <a:cs typeface="Arial"/>
                <a:sym typeface="Arial"/>
              </a:rPr>
              <a:t>6</a:t>
            </a:r>
          </a:p>
        </p:txBody>
      </p:sp>
      <p:sp>
        <p:nvSpPr>
          <p:cNvPr id="21" name="Circle">
            <a:extLst>
              <a:ext uri="{FF2B5EF4-FFF2-40B4-BE49-F238E27FC236}">
                <a16:creationId xmlns:a16="http://schemas.microsoft.com/office/drawing/2014/main" id="{040BD14A-2F8F-8B60-0C83-717A597ED791}"/>
              </a:ext>
            </a:extLst>
          </p:cNvPr>
          <p:cNvSpPr/>
          <p:nvPr/>
        </p:nvSpPr>
        <p:spPr>
          <a:xfrm>
            <a:off x="422116" y="5077249"/>
            <a:ext cx="402043" cy="402043"/>
          </a:xfrm>
          <a:prstGeom prst="ellipse">
            <a:avLst/>
          </a:prstGeom>
          <a:gradFill>
            <a:gsLst>
              <a:gs pos="0">
                <a:srgbClr val="E677FF"/>
              </a:gs>
              <a:gs pos="100000">
                <a:srgbClr val="5C39FF"/>
              </a:gs>
            </a:gsLst>
            <a:lin ang="16200000"/>
          </a:gradFill>
          <a:ln w="101600">
            <a:solidFill>
              <a:srgbClr val="FFFFFF"/>
            </a:solidFill>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 name="6">
            <a:extLst>
              <a:ext uri="{FF2B5EF4-FFF2-40B4-BE49-F238E27FC236}">
                <a16:creationId xmlns:a16="http://schemas.microsoft.com/office/drawing/2014/main" id="{9894F320-DC9B-11E0-358C-19425122F8C0}"/>
              </a:ext>
            </a:extLst>
          </p:cNvPr>
          <p:cNvSpPr txBox="1"/>
          <p:nvPr/>
        </p:nvSpPr>
        <p:spPr>
          <a:xfrm>
            <a:off x="526598" y="5133858"/>
            <a:ext cx="191717" cy="3077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rgbClr val="FFFFFF"/>
                </a:solidFill>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1400" b="0" i="0" u="none" strike="noStrike" kern="0" cap="none" spc="0" normalizeH="0" baseline="0" noProof="0" dirty="0">
                <a:ln>
                  <a:noFill/>
                </a:ln>
                <a:solidFill>
                  <a:srgbClr val="FFFFFF"/>
                </a:solidFill>
                <a:effectLst/>
                <a:uLnTx/>
                <a:uFillTx/>
                <a:latin typeface="Arial"/>
                <a:cs typeface="Arial"/>
                <a:sym typeface="Arial"/>
              </a:rPr>
              <a:t>7</a:t>
            </a:r>
            <a:endParaRPr kumimoji="0" sz="1400" b="0" i="0" u="none" strike="noStrike" kern="0" cap="none" spc="0" normalizeH="0" baseline="0" noProof="0" dirty="0">
              <a:ln>
                <a:noFill/>
              </a:ln>
              <a:solidFill>
                <a:srgbClr val="FFFFFF"/>
              </a:solidFill>
              <a:effectLst/>
              <a:uLnTx/>
              <a:uFillTx/>
              <a:latin typeface="Arial"/>
              <a:cs typeface="Arial"/>
              <a:sym typeface="Arial"/>
            </a:endParaRPr>
          </a:p>
        </p:txBody>
      </p:sp>
      <p:sp>
        <p:nvSpPr>
          <p:cNvPr id="20" name="TextBox 19">
            <a:extLst>
              <a:ext uri="{FF2B5EF4-FFF2-40B4-BE49-F238E27FC236}">
                <a16:creationId xmlns:a16="http://schemas.microsoft.com/office/drawing/2014/main" id="{8F3A7E03-5D42-F943-0AD5-101E929055F3}"/>
              </a:ext>
            </a:extLst>
          </p:cNvPr>
          <p:cNvSpPr txBox="1"/>
          <p:nvPr/>
        </p:nvSpPr>
        <p:spPr>
          <a:xfrm>
            <a:off x="11682080" y="488227"/>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1914313077"/>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B51BE7B6-FF52-21FE-A049-AA0B264CF91D}"/>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C963B98B-FD22-6371-2489-5A5E969452C9}"/>
              </a:ext>
            </a:extLst>
          </p:cNvPr>
          <p:cNvSpPr/>
          <p:nvPr/>
        </p:nvSpPr>
        <p:spPr>
          <a:xfrm>
            <a:off x="0" y="1133504"/>
            <a:ext cx="12192001" cy="5706627"/>
          </a:xfrm>
          <a:prstGeom prst="rect">
            <a:avLst/>
          </a:prstGeom>
          <a:solidFill>
            <a:srgbClr val="FFFFFF"/>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7" name="Line">
            <a:extLst>
              <a:ext uri="{FF2B5EF4-FFF2-40B4-BE49-F238E27FC236}">
                <a16:creationId xmlns:a16="http://schemas.microsoft.com/office/drawing/2014/main" id="{1AC10767-1400-2FA0-EA81-1202DEB0CCF8}"/>
              </a:ext>
            </a:extLst>
          </p:cNvPr>
          <p:cNvSpPr/>
          <p:nvPr/>
        </p:nvSpPr>
        <p:spPr>
          <a:xfrm flipV="1">
            <a:off x="567538" y="934789"/>
            <a:ext cx="9094565" cy="44255"/>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D2272E0E-83C6-1536-0D40-55A68C0A0BEE}"/>
              </a:ext>
            </a:extLst>
          </p:cNvPr>
          <p:cNvSpPr txBox="1"/>
          <p:nvPr/>
        </p:nvSpPr>
        <p:spPr>
          <a:xfrm>
            <a:off x="520667" y="365125"/>
            <a:ext cx="8173627"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Autofit/>
          </a:bodyPr>
          <a:lstStyle>
            <a:lvl1pPr>
              <a:lnSpc>
                <a:spcPct val="90000"/>
              </a:lnSpc>
              <a:defRPr sz="3600">
                <a:solidFill>
                  <a:srgbClr val="FFFFFF"/>
                </a:solidFill>
                <a:latin typeface="Calibri"/>
                <a:ea typeface="Calibri"/>
                <a:cs typeface="Calibri"/>
                <a:sym typeface="Calibri"/>
              </a:defRPr>
            </a:lvl1pPr>
          </a:lstStyle>
          <a:p>
            <a:pPr lvl="0">
              <a:buClr>
                <a:schemeClr val="lt1"/>
              </a:buClr>
              <a:buSzPts val="1800"/>
            </a:pPr>
            <a:r>
              <a:rPr lang="en-US" sz="3200" b="1" dirty="0">
                <a:solidFill>
                  <a:schemeClr val="lt1"/>
                </a:solidFill>
              </a:rPr>
              <a:t>Competition Scenario</a:t>
            </a:r>
            <a:endParaRPr lang="en-US" sz="2400" dirty="0">
              <a:solidFill>
                <a:srgbClr val="000000"/>
              </a:solidFill>
              <a:latin typeface="Arial"/>
              <a:ea typeface="Arial"/>
              <a:cs typeface="Arial"/>
              <a:sym typeface="Arial"/>
            </a:endParaRPr>
          </a:p>
          <a:p>
            <a:pPr lvl="0">
              <a:buClr>
                <a:schemeClr val="dk1"/>
              </a:buClr>
              <a:buSzPts val="900"/>
            </a:pPr>
            <a:endParaRPr lang="en-US" sz="1200" b="1" dirty="0">
              <a:solidFill>
                <a:schemeClr val="lt1"/>
              </a:solidFill>
            </a:endParaRPr>
          </a:p>
        </p:txBody>
      </p:sp>
      <p:sp>
        <p:nvSpPr>
          <p:cNvPr id="419" name="Slide Number">
            <a:extLst>
              <a:ext uri="{FF2B5EF4-FFF2-40B4-BE49-F238E27FC236}">
                <a16:creationId xmlns:a16="http://schemas.microsoft.com/office/drawing/2014/main" id="{9A8A63CA-78A9-5F4D-E4ED-0A1B8AC762AD}"/>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13</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D828A6D7-9F48-9ECD-E736-4A37B5271B7E}"/>
              </a:ext>
            </a:extLst>
          </p:cNvPr>
          <p:cNvSpPr txBox="1"/>
          <p:nvPr/>
        </p:nvSpPr>
        <p:spPr>
          <a:xfrm>
            <a:off x="9953129" y="540459"/>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41" name="Picture 40">
            <a:extLst>
              <a:ext uri="{FF2B5EF4-FFF2-40B4-BE49-F238E27FC236}">
                <a16:creationId xmlns:a16="http://schemas.microsoft.com/office/drawing/2014/main" id="{6B0FE9BD-5D7D-8DED-4E2C-5783EF84962E}"/>
              </a:ext>
            </a:extLst>
          </p:cNvPr>
          <p:cNvPicPr>
            <a:picLocks noChangeAspect="1"/>
          </p:cNvPicPr>
          <p:nvPr/>
        </p:nvPicPr>
        <p:blipFill>
          <a:blip r:embed="rId3"/>
          <a:srcRect l="9421" t="9595" r="8463" b="5998"/>
          <a:stretch>
            <a:fillRect/>
          </a:stretch>
        </p:blipFill>
        <p:spPr>
          <a:xfrm>
            <a:off x="4873228" y="2363516"/>
            <a:ext cx="2649316" cy="2149723"/>
          </a:xfrm>
          <a:prstGeom prst="rect">
            <a:avLst/>
          </a:prstGeom>
        </p:spPr>
      </p:pic>
      <p:pic>
        <p:nvPicPr>
          <p:cNvPr id="42" name="Picture 41">
            <a:extLst>
              <a:ext uri="{FF2B5EF4-FFF2-40B4-BE49-F238E27FC236}">
                <a16:creationId xmlns:a16="http://schemas.microsoft.com/office/drawing/2014/main" id="{67A4A77A-6A49-14FB-9CDC-44F3E7FE512E}"/>
              </a:ext>
            </a:extLst>
          </p:cNvPr>
          <p:cNvPicPr>
            <a:picLocks noChangeAspect="1"/>
          </p:cNvPicPr>
          <p:nvPr/>
        </p:nvPicPr>
        <p:blipFill>
          <a:blip r:embed="rId4"/>
          <a:srcRect l="15356" t="-1" r="14844" b="59419"/>
          <a:stretch>
            <a:fillRect/>
          </a:stretch>
        </p:blipFill>
        <p:spPr>
          <a:xfrm>
            <a:off x="113217" y="1266384"/>
            <a:ext cx="2147770" cy="1731713"/>
          </a:xfrm>
          <a:prstGeom prst="rect">
            <a:avLst/>
          </a:prstGeom>
          <a:ln>
            <a:solidFill>
              <a:schemeClr val="bg1"/>
            </a:solidFill>
          </a:ln>
        </p:spPr>
      </p:pic>
      <p:pic>
        <p:nvPicPr>
          <p:cNvPr id="43" name="Picture 42">
            <a:extLst>
              <a:ext uri="{FF2B5EF4-FFF2-40B4-BE49-F238E27FC236}">
                <a16:creationId xmlns:a16="http://schemas.microsoft.com/office/drawing/2014/main" id="{EDE753D5-33D8-DD08-A608-215DE583D2EA}"/>
              </a:ext>
            </a:extLst>
          </p:cNvPr>
          <p:cNvPicPr>
            <a:picLocks noChangeAspect="1"/>
          </p:cNvPicPr>
          <p:nvPr/>
        </p:nvPicPr>
        <p:blipFill>
          <a:blip r:embed="rId5"/>
          <a:srcRect l="465" t="6030" r="9682" b="44863"/>
          <a:stretch>
            <a:fillRect/>
          </a:stretch>
        </p:blipFill>
        <p:spPr>
          <a:xfrm>
            <a:off x="7347005" y="1259047"/>
            <a:ext cx="2182330" cy="1868584"/>
          </a:xfrm>
          <a:prstGeom prst="rect">
            <a:avLst/>
          </a:prstGeom>
        </p:spPr>
      </p:pic>
      <p:pic>
        <p:nvPicPr>
          <p:cNvPr id="44" name="Picture 43">
            <a:extLst>
              <a:ext uri="{FF2B5EF4-FFF2-40B4-BE49-F238E27FC236}">
                <a16:creationId xmlns:a16="http://schemas.microsoft.com/office/drawing/2014/main" id="{55BFD2A1-F465-9852-6332-E8AF06B84DB1}"/>
              </a:ext>
            </a:extLst>
          </p:cNvPr>
          <p:cNvPicPr>
            <a:picLocks noChangeAspect="1"/>
          </p:cNvPicPr>
          <p:nvPr/>
        </p:nvPicPr>
        <p:blipFill>
          <a:blip r:embed="rId6"/>
          <a:srcRect b="57700"/>
          <a:stretch>
            <a:fillRect/>
          </a:stretch>
        </p:blipFill>
        <p:spPr>
          <a:xfrm>
            <a:off x="7378350" y="4208160"/>
            <a:ext cx="2258315" cy="1800783"/>
          </a:xfrm>
          <a:prstGeom prst="rect">
            <a:avLst/>
          </a:prstGeom>
        </p:spPr>
      </p:pic>
      <p:pic>
        <p:nvPicPr>
          <p:cNvPr id="45" name="Picture 44">
            <a:extLst>
              <a:ext uri="{FF2B5EF4-FFF2-40B4-BE49-F238E27FC236}">
                <a16:creationId xmlns:a16="http://schemas.microsoft.com/office/drawing/2014/main" id="{6758B8CB-4C25-DAA4-C793-E5754D385953}"/>
              </a:ext>
            </a:extLst>
          </p:cNvPr>
          <p:cNvPicPr>
            <a:picLocks noChangeAspect="1"/>
          </p:cNvPicPr>
          <p:nvPr/>
        </p:nvPicPr>
        <p:blipFill>
          <a:blip r:embed="rId7"/>
          <a:srcRect b="36300"/>
          <a:stretch>
            <a:fillRect/>
          </a:stretch>
        </p:blipFill>
        <p:spPr>
          <a:xfrm>
            <a:off x="50213" y="4051270"/>
            <a:ext cx="1888323" cy="1800783"/>
          </a:xfrm>
          <a:prstGeom prst="rect">
            <a:avLst/>
          </a:prstGeom>
        </p:spPr>
      </p:pic>
      <p:pic>
        <p:nvPicPr>
          <p:cNvPr id="46" name="Picture 45">
            <a:extLst>
              <a:ext uri="{FF2B5EF4-FFF2-40B4-BE49-F238E27FC236}">
                <a16:creationId xmlns:a16="http://schemas.microsoft.com/office/drawing/2014/main" id="{29015647-F709-A651-0FAF-938970C751E2}"/>
              </a:ext>
            </a:extLst>
          </p:cNvPr>
          <p:cNvPicPr>
            <a:picLocks noChangeAspect="1"/>
          </p:cNvPicPr>
          <p:nvPr/>
        </p:nvPicPr>
        <p:blipFill>
          <a:blip r:embed="rId4"/>
          <a:srcRect t="67973" r="8445"/>
          <a:stretch>
            <a:fillRect/>
          </a:stretch>
        </p:blipFill>
        <p:spPr>
          <a:xfrm>
            <a:off x="2386228" y="1418042"/>
            <a:ext cx="2539258" cy="1231797"/>
          </a:xfrm>
          <a:prstGeom prst="rect">
            <a:avLst/>
          </a:prstGeom>
          <a:ln>
            <a:solidFill>
              <a:schemeClr val="bg1"/>
            </a:solidFill>
          </a:ln>
        </p:spPr>
      </p:pic>
      <p:sp>
        <p:nvSpPr>
          <p:cNvPr id="47" name="TextBox 46">
            <a:extLst>
              <a:ext uri="{FF2B5EF4-FFF2-40B4-BE49-F238E27FC236}">
                <a16:creationId xmlns:a16="http://schemas.microsoft.com/office/drawing/2014/main" id="{7E27A907-AD93-0351-BAFC-8A0383C8822F}"/>
              </a:ext>
            </a:extLst>
          </p:cNvPr>
          <p:cNvSpPr txBox="1"/>
          <p:nvPr/>
        </p:nvSpPr>
        <p:spPr>
          <a:xfrm>
            <a:off x="2339865" y="2153582"/>
            <a:ext cx="1293823" cy="506980"/>
          </a:xfrm>
          <a:prstGeom prst="rect">
            <a:avLst/>
          </a:prstGeom>
          <a:noFill/>
          <a:ln w="38100">
            <a:solidFill>
              <a:srgbClr val="FF0000"/>
            </a:solidFill>
          </a:ln>
        </p:spPr>
        <p:txBody>
          <a:bodyPr wrap="square" rtlCol="0">
            <a:spAutoFit/>
          </a:bodyPr>
          <a:lstStyle/>
          <a:p>
            <a:endParaRPr lang="en-US" dirty="0"/>
          </a:p>
        </p:txBody>
      </p:sp>
      <p:pic>
        <p:nvPicPr>
          <p:cNvPr id="48" name="Picture 47">
            <a:extLst>
              <a:ext uri="{FF2B5EF4-FFF2-40B4-BE49-F238E27FC236}">
                <a16:creationId xmlns:a16="http://schemas.microsoft.com/office/drawing/2014/main" id="{F4AA0A96-2520-2527-B521-C84BFB65681B}"/>
              </a:ext>
            </a:extLst>
          </p:cNvPr>
          <p:cNvPicPr>
            <a:picLocks noChangeAspect="1"/>
          </p:cNvPicPr>
          <p:nvPr/>
        </p:nvPicPr>
        <p:blipFill>
          <a:blip r:embed="rId7"/>
          <a:srcRect t="71505" r="8210"/>
          <a:stretch>
            <a:fillRect/>
          </a:stretch>
        </p:blipFill>
        <p:spPr>
          <a:xfrm>
            <a:off x="2014855" y="4197438"/>
            <a:ext cx="2673555" cy="1242520"/>
          </a:xfrm>
          <a:prstGeom prst="rect">
            <a:avLst/>
          </a:prstGeom>
        </p:spPr>
      </p:pic>
      <p:sp>
        <p:nvSpPr>
          <p:cNvPr id="49" name="TextBox 48">
            <a:extLst>
              <a:ext uri="{FF2B5EF4-FFF2-40B4-BE49-F238E27FC236}">
                <a16:creationId xmlns:a16="http://schemas.microsoft.com/office/drawing/2014/main" id="{A878DAAA-EA02-E95F-FE09-8CCFD224E1B6}"/>
              </a:ext>
            </a:extLst>
          </p:cNvPr>
          <p:cNvSpPr txBox="1"/>
          <p:nvPr/>
        </p:nvSpPr>
        <p:spPr>
          <a:xfrm>
            <a:off x="2025345" y="5019398"/>
            <a:ext cx="1254884" cy="498320"/>
          </a:xfrm>
          <a:prstGeom prst="rect">
            <a:avLst/>
          </a:prstGeom>
          <a:noFill/>
          <a:ln w="38100">
            <a:solidFill>
              <a:srgbClr val="FF0000"/>
            </a:solidFill>
          </a:ln>
        </p:spPr>
        <p:txBody>
          <a:bodyPr wrap="square" rtlCol="0">
            <a:spAutoFit/>
          </a:bodyPr>
          <a:lstStyle/>
          <a:p>
            <a:endParaRPr lang="en-US" dirty="0"/>
          </a:p>
        </p:txBody>
      </p:sp>
      <p:pic>
        <p:nvPicPr>
          <p:cNvPr id="50" name="Picture 49">
            <a:extLst>
              <a:ext uri="{FF2B5EF4-FFF2-40B4-BE49-F238E27FC236}">
                <a16:creationId xmlns:a16="http://schemas.microsoft.com/office/drawing/2014/main" id="{6204A413-C98D-89D8-6C1F-670E58DC2394}"/>
              </a:ext>
            </a:extLst>
          </p:cNvPr>
          <p:cNvPicPr>
            <a:picLocks noChangeAspect="1"/>
          </p:cNvPicPr>
          <p:nvPr/>
        </p:nvPicPr>
        <p:blipFill>
          <a:blip r:embed="rId5"/>
          <a:srcRect l="465" t="67558" r="-1724"/>
          <a:stretch>
            <a:fillRect/>
          </a:stretch>
        </p:blipFill>
        <p:spPr>
          <a:xfrm>
            <a:off x="9583363" y="1418043"/>
            <a:ext cx="2578425" cy="1294212"/>
          </a:xfrm>
          <a:prstGeom prst="rect">
            <a:avLst/>
          </a:prstGeom>
        </p:spPr>
      </p:pic>
      <p:pic>
        <p:nvPicPr>
          <p:cNvPr id="51" name="Picture 50">
            <a:extLst>
              <a:ext uri="{FF2B5EF4-FFF2-40B4-BE49-F238E27FC236}">
                <a16:creationId xmlns:a16="http://schemas.microsoft.com/office/drawing/2014/main" id="{BEA3FCD5-D6C7-6BD4-7B50-B42E728E946E}"/>
              </a:ext>
            </a:extLst>
          </p:cNvPr>
          <p:cNvPicPr>
            <a:picLocks noChangeAspect="1"/>
          </p:cNvPicPr>
          <p:nvPr/>
        </p:nvPicPr>
        <p:blipFill>
          <a:blip r:embed="rId6"/>
          <a:srcRect t="57700"/>
          <a:stretch>
            <a:fillRect/>
          </a:stretch>
        </p:blipFill>
        <p:spPr>
          <a:xfrm>
            <a:off x="9848715" y="4119007"/>
            <a:ext cx="2258315" cy="1800783"/>
          </a:xfrm>
          <a:prstGeom prst="rect">
            <a:avLst/>
          </a:prstGeom>
        </p:spPr>
      </p:pic>
      <p:sp>
        <p:nvSpPr>
          <p:cNvPr id="52" name="TextBox 51">
            <a:extLst>
              <a:ext uri="{FF2B5EF4-FFF2-40B4-BE49-F238E27FC236}">
                <a16:creationId xmlns:a16="http://schemas.microsoft.com/office/drawing/2014/main" id="{9BB6954C-D756-DF5E-7FA5-5D8B6F5025DF}"/>
              </a:ext>
            </a:extLst>
          </p:cNvPr>
          <p:cNvSpPr txBox="1"/>
          <p:nvPr/>
        </p:nvSpPr>
        <p:spPr>
          <a:xfrm>
            <a:off x="9761906" y="5345074"/>
            <a:ext cx="1152837" cy="506979"/>
          </a:xfrm>
          <a:prstGeom prst="rect">
            <a:avLst/>
          </a:prstGeom>
          <a:noFill/>
          <a:ln w="38100">
            <a:solidFill>
              <a:srgbClr val="FF0000"/>
            </a:solidFill>
          </a:ln>
        </p:spPr>
        <p:txBody>
          <a:bodyPr wrap="square" rtlCol="0">
            <a:spAutoFit/>
          </a:bodyPr>
          <a:lstStyle/>
          <a:p>
            <a:endParaRPr lang="en-US" dirty="0"/>
          </a:p>
        </p:txBody>
      </p:sp>
      <p:sp>
        <p:nvSpPr>
          <p:cNvPr id="53" name="TextBox 52">
            <a:extLst>
              <a:ext uri="{FF2B5EF4-FFF2-40B4-BE49-F238E27FC236}">
                <a16:creationId xmlns:a16="http://schemas.microsoft.com/office/drawing/2014/main" id="{3B6E2F2B-9F41-B2E1-78B1-24D383C5A744}"/>
              </a:ext>
            </a:extLst>
          </p:cNvPr>
          <p:cNvSpPr txBox="1"/>
          <p:nvPr/>
        </p:nvSpPr>
        <p:spPr>
          <a:xfrm>
            <a:off x="9583363" y="2094794"/>
            <a:ext cx="1215966" cy="506979"/>
          </a:xfrm>
          <a:prstGeom prst="rect">
            <a:avLst/>
          </a:prstGeom>
          <a:noFill/>
          <a:ln w="38100">
            <a:solidFill>
              <a:srgbClr val="FF0000"/>
            </a:solidFill>
          </a:ln>
        </p:spPr>
        <p:txBody>
          <a:bodyPr wrap="square" rtlCol="0">
            <a:spAutoFit/>
          </a:bodyPr>
          <a:lstStyle/>
          <a:p>
            <a:endParaRPr lang="en-US" dirty="0"/>
          </a:p>
        </p:txBody>
      </p:sp>
      <p:sp>
        <p:nvSpPr>
          <p:cNvPr id="54" name="TextBox 53">
            <a:extLst>
              <a:ext uri="{FF2B5EF4-FFF2-40B4-BE49-F238E27FC236}">
                <a16:creationId xmlns:a16="http://schemas.microsoft.com/office/drawing/2014/main" id="{63C688EA-8EE2-F6FF-D274-3E601C7086F0}"/>
              </a:ext>
            </a:extLst>
          </p:cNvPr>
          <p:cNvSpPr txBox="1"/>
          <p:nvPr/>
        </p:nvSpPr>
        <p:spPr>
          <a:xfrm>
            <a:off x="45199" y="4119007"/>
            <a:ext cx="4643211" cy="1889935"/>
          </a:xfrm>
          <a:prstGeom prst="rect">
            <a:avLst/>
          </a:prstGeom>
          <a:noFill/>
          <a:ln w="127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endParaRPr lang="en-US" dirty="0"/>
          </a:p>
        </p:txBody>
      </p:sp>
      <p:sp>
        <p:nvSpPr>
          <p:cNvPr id="55" name="TextBox 54">
            <a:extLst>
              <a:ext uri="{FF2B5EF4-FFF2-40B4-BE49-F238E27FC236}">
                <a16:creationId xmlns:a16="http://schemas.microsoft.com/office/drawing/2014/main" id="{7AEB61D2-D378-CE52-5EDB-B1DF2A1C5661}"/>
              </a:ext>
            </a:extLst>
          </p:cNvPr>
          <p:cNvSpPr txBox="1"/>
          <p:nvPr/>
        </p:nvSpPr>
        <p:spPr>
          <a:xfrm>
            <a:off x="45199" y="1193526"/>
            <a:ext cx="4848943" cy="1990202"/>
          </a:xfrm>
          <a:prstGeom prst="rect">
            <a:avLst/>
          </a:prstGeom>
          <a:noFill/>
          <a:ln w="127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endParaRPr lang="en-US" dirty="0"/>
          </a:p>
        </p:txBody>
      </p:sp>
      <p:sp>
        <p:nvSpPr>
          <p:cNvPr id="56" name="TextBox 55">
            <a:extLst>
              <a:ext uri="{FF2B5EF4-FFF2-40B4-BE49-F238E27FC236}">
                <a16:creationId xmlns:a16="http://schemas.microsoft.com/office/drawing/2014/main" id="{B0B98C7E-27BA-3662-18F5-D23700C899B5}"/>
              </a:ext>
            </a:extLst>
          </p:cNvPr>
          <p:cNvSpPr txBox="1"/>
          <p:nvPr/>
        </p:nvSpPr>
        <p:spPr>
          <a:xfrm>
            <a:off x="7431143" y="4018739"/>
            <a:ext cx="4710644" cy="1990203"/>
          </a:xfrm>
          <a:prstGeom prst="rect">
            <a:avLst/>
          </a:prstGeom>
          <a:noFill/>
          <a:ln w="127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endParaRPr lang="en-US" dirty="0"/>
          </a:p>
        </p:txBody>
      </p:sp>
      <p:sp>
        <p:nvSpPr>
          <p:cNvPr id="57" name="TextBox 56">
            <a:extLst>
              <a:ext uri="{FF2B5EF4-FFF2-40B4-BE49-F238E27FC236}">
                <a16:creationId xmlns:a16="http://schemas.microsoft.com/office/drawing/2014/main" id="{50CC4E9A-8AC7-B38B-2F6C-028D6F2FBF05}"/>
              </a:ext>
            </a:extLst>
          </p:cNvPr>
          <p:cNvSpPr txBox="1"/>
          <p:nvPr/>
        </p:nvSpPr>
        <p:spPr>
          <a:xfrm>
            <a:off x="7378349" y="1253843"/>
            <a:ext cx="4782745" cy="1936321"/>
          </a:xfrm>
          <a:prstGeom prst="rect">
            <a:avLst/>
          </a:prstGeom>
          <a:noFill/>
          <a:ln w="12700">
            <a:solidFill>
              <a:schemeClr val="accent1">
                <a:lumMod val="75000"/>
              </a:schemeClr>
            </a:solidFill>
          </a:ln>
          <a:effectLst>
            <a:outerShdw blurRad="63500" sx="102000" sy="102000" algn="ctr" rotWithShape="0">
              <a:prstClr val="black">
                <a:alpha val="40000"/>
              </a:prstClr>
            </a:outerShdw>
          </a:effectLst>
        </p:spPr>
        <p:txBody>
          <a:bodyPr wrap="square" rtlCol="0">
            <a:spAutoFit/>
          </a:bodyPr>
          <a:lstStyle/>
          <a:p>
            <a:endParaRPr lang="en-US" dirty="0"/>
          </a:p>
        </p:txBody>
      </p:sp>
      <p:sp>
        <p:nvSpPr>
          <p:cNvPr id="58" name="TextBox 57">
            <a:extLst>
              <a:ext uri="{FF2B5EF4-FFF2-40B4-BE49-F238E27FC236}">
                <a16:creationId xmlns:a16="http://schemas.microsoft.com/office/drawing/2014/main" id="{9BC68D80-D56E-9D3F-A998-A276DE191E75}"/>
              </a:ext>
            </a:extLst>
          </p:cNvPr>
          <p:cNvSpPr txBox="1"/>
          <p:nvPr/>
        </p:nvSpPr>
        <p:spPr>
          <a:xfrm>
            <a:off x="5757129" y="5205985"/>
            <a:ext cx="1039067" cy="400110"/>
          </a:xfrm>
          <a:prstGeom prst="rect">
            <a:avLst/>
          </a:prstGeom>
          <a:noFill/>
        </p:spPr>
        <p:txBody>
          <a:bodyPr wrap="none" rtlCol="0">
            <a:spAutoFit/>
          </a:bodyPr>
          <a:lstStyle/>
          <a:p>
            <a:r>
              <a:rPr lang="en-US" sz="1800" b="1" dirty="0"/>
              <a:t>₹</a:t>
            </a:r>
            <a:r>
              <a:rPr lang="en-US" sz="2000" b="1" dirty="0"/>
              <a:t>1999/-</a:t>
            </a:r>
          </a:p>
        </p:txBody>
      </p:sp>
      <p:sp>
        <p:nvSpPr>
          <p:cNvPr id="59" name="TextBox 58">
            <a:extLst>
              <a:ext uri="{FF2B5EF4-FFF2-40B4-BE49-F238E27FC236}">
                <a16:creationId xmlns:a16="http://schemas.microsoft.com/office/drawing/2014/main" id="{F1733F5E-2B3E-7DD5-DB3D-D1C8BED0DF3D}"/>
              </a:ext>
            </a:extLst>
          </p:cNvPr>
          <p:cNvSpPr txBox="1"/>
          <p:nvPr/>
        </p:nvSpPr>
        <p:spPr>
          <a:xfrm>
            <a:off x="5309542" y="4750166"/>
            <a:ext cx="1753042" cy="911637"/>
          </a:xfrm>
          <a:prstGeom prst="rect">
            <a:avLst/>
          </a:prstGeom>
          <a:noFill/>
          <a:ln w="38100">
            <a:solidFill>
              <a:srgbClr val="00B050"/>
            </a:solidFill>
          </a:ln>
        </p:spPr>
        <p:txBody>
          <a:bodyPr wrap="square" rtlCol="0">
            <a:spAutoFit/>
          </a:bodyPr>
          <a:lstStyle/>
          <a:p>
            <a:endParaRPr lang="en-US" dirty="0"/>
          </a:p>
        </p:txBody>
      </p:sp>
      <p:sp>
        <p:nvSpPr>
          <p:cNvPr id="60" name="TextBox 59">
            <a:extLst>
              <a:ext uri="{FF2B5EF4-FFF2-40B4-BE49-F238E27FC236}">
                <a16:creationId xmlns:a16="http://schemas.microsoft.com/office/drawing/2014/main" id="{64640AE3-448E-B2D4-EBA8-7572B560BB2A}"/>
              </a:ext>
            </a:extLst>
          </p:cNvPr>
          <p:cNvSpPr txBox="1"/>
          <p:nvPr/>
        </p:nvSpPr>
        <p:spPr>
          <a:xfrm>
            <a:off x="5019650" y="4825790"/>
            <a:ext cx="1636987" cy="400110"/>
          </a:xfrm>
          <a:prstGeom prst="rect">
            <a:avLst/>
          </a:prstGeom>
          <a:noFill/>
          <a:ln w="38100">
            <a:solidFill>
              <a:schemeClr val="bg1"/>
            </a:solidFill>
          </a:ln>
        </p:spPr>
        <p:txBody>
          <a:bodyPr wrap="none" rtlCol="0">
            <a:spAutoFit/>
          </a:bodyPr>
          <a:lstStyle/>
          <a:p>
            <a:pPr lvl="1"/>
            <a:r>
              <a:rPr lang="en-US" sz="2000" b="1" dirty="0" err="1"/>
              <a:t>BillionTests</a:t>
            </a:r>
            <a:endParaRPr lang="en-US" sz="2000" b="1" dirty="0"/>
          </a:p>
        </p:txBody>
      </p:sp>
      <p:sp>
        <p:nvSpPr>
          <p:cNvPr id="5" name="TextBox 4">
            <a:extLst>
              <a:ext uri="{FF2B5EF4-FFF2-40B4-BE49-F238E27FC236}">
                <a16:creationId xmlns:a16="http://schemas.microsoft.com/office/drawing/2014/main" id="{9EB1EFBE-1E6A-EF96-E84E-4C45B2560FB8}"/>
              </a:ext>
            </a:extLst>
          </p:cNvPr>
          <p:cNvSpPr txBox="1"/>
          <p:nvPr/>
        </p:nvSpPr>
        <p:spPr>
          <a:xfrm>
            <a:off x="11898799" y="488385"/>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47589523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99A0E51-32A0-3E83-75CC-FC597B97C17D}"/>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EF2D40D9-867E-562B-6B73-CD9643197A35}"/>
              </a:ext>
            </a:extLst>
          </p:cNvPr>
          <p:cNvSpPr/>
          <p:nvPr/>
        </p:nvSpPr>
        <p:spPr>
          <a:xfrm>
            <a:off x="-1" y="1536159"/>
            <a:ext cx="12192001" cy="5342696"/>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46C413B6-FD13-023F-20F4-CC2CDD89CB93}"/>
              </a:ext>
            </a:extLst>
          </p:cNvPr>
          <p:cNvSpPr txBox="1"/>
          <p:nvPr/>
        </p:nvSpPr>
        <p:spPr>
          <a:xfrm>
            <a:off x="520668" y="450933"/>
            <a:ext cx="7364158" cy="7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E309766F-1CF3-5A3E-6E8F-C7E92A4BD676}"/>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14</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859DB8A6-1F10-F780-B8F4-065659C93AA2}"/>
              </a:ext>
            </a:extLst>
          </p:cNvPr>
          <p:cNvSpPr txBox="1"/>
          <p:nvPr/>
        </p:nvSpPr>
        <p:spPr>
          <a:xfrm>
            <a:off x="9850091" y="558654"/>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6" name="TextBox 5">
            <a:extLst>
              <a:ext uri="{FF2B5EF4-FFF2-40B4-BE49-F238E27FC236}">
                <a16:creationId xmlns:a16="http://schemas.microsoft.com/office/drawing/2014/main" id="{244C42BC-4C78-4C0E-E2F4-6ABB407DA5C5}"/>
              </a:ext>
            </a:extLst>
          </p:cNvPr>
          <p:cNvSpPr txBox="1"/>
          <p:nvPr/>
        </p:nvSpPr>
        <p:spPr>
          <a:xfrm>
            <a:off x="413135" y="450933"/>
            <a:ext cx="6093500"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lvl="0" hangingPunct="0">
              <a:defRPr/>
            </a:pPr>
            <a:r>
              <a:rPr lang="en-IN" sz="3200" b="1" dirty="0">
                <a:solidFill>
                  <a:schemeClr val="bg1"/>
                </a:solidFill>
                <a:latin typeface="Calibri" panose="020F0502020204030204" pitchFamily="34" charset="0"/>
                <a:ea typeface="Calibri" panose="020F0502020204030204" pitchFamily="34" charset="0"/>
                <a:cs typeface="Calibri" panose="020F0502020204030204" pitchFamily="34" charset="0"/>
              </a:rPr>
              <a:t>COMPETITIVE ADVANTAGES</a:t>
            </a:r>
            <a:endParaRPr kumimoji="0" lang="en-US" sz="3200" b="1" i="0" u="none" strike="noStrike" kern="1200" cap="none" spc="0" normalizeH="0" baseline="0" noProof="0" dirty="0">
              <a:ln>
                <a:noFill/>
              </a:ln>
              <a:solidFill>
                <a:schemeClr val="bg1"/>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1" name="Content Placeholder 3">
            <a:extLst>
              <a:ext uri="{FF2B5EF4-FFF2-40B4-BE49-F238E27FC236}">
                <a16:creationId xmlns:a16="http://schemas.microsoft.com/office/drawing/2014/main" id="{568A2F30-8C9A-1EE4-10EE-FF4FF342F95A}"/>
              </a:ext>
            </a:extLst>
          </p:cNvPr>
          <p:cNvGraphicFramePr>
            <a:graphicFrameLocks/>
          </p:cNvGraphicFramePr>
          <p:nvPr>
            <p:extLst>
              <p:ext uri="{D42A27DB-BD31-4B8C-83A1-F6EECF244321}">
                <p14:modId xmlns:p14="http://schemas.microsoft.com/office/powerpoint/2010/main" val="1439787354"/>
              </p:ext>
            </p:extLst>
          </p:nvPr>
        </p:nvGraphicFramePr>
        <p:xfrm>
          <a:off x="1184249" y="1751602"/>
          <a:ext cx="9823500" cy="40731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ounded Rectangle">
            <a:extLst>
              <a:ext uri="{FF2B5EF4-FFF2-40B4-BE49-F238E27FC236}">
                <a16:creationId xmlns:a16="http://schemas.microsoft.com/office/drawing/2014/main" id="{F3B54ECA-EF4D-8346-000A-CEDA41BD2F07}"/>
              </a:ext>
            </a:extLst>
          </p:cNvPr>
          <p:cNvSpPr/>
          <p:nvPr/>
        </p:nvSpPr>
        <p:spPr>
          <a:xfrm>
            <a:off x="1184249" y="6040202"/>
            <a:ext cx="9823500" cy="374578"/>
          </a:xfrm>
          <a:prstGeom prst="roundRect">
            <a:avLst>
              <a:gd name="adj" fmla="val 6725"/>
            </a:avLst>
          </a:prstGeom>
          <a:gradFill>
            <a:gsLst>
              <a:gs pos="0">
                <a:srgbClr val="FFC2F2"/>
              </a:gs>
              <a:gs pos="100000">
                <a:srgbClr val="CBCDFF"/>
              </a:gs>
            </a:gsLst>
            <a:lin ang="12802050"/>
          </a:gradFill>
          <a:ln w="25400">
            <a:solidFill>
              <a:schemeClr val="accent1"/>
            </a:solidFill>
          </a:ln>
          <a:effectLst>
            <a:outerShdw blurRad="38100" dist="23000" dir="5400000" rotWithShape="0">
              <a:srgbClr val="000000">
                <a:alpha val="35000"/>
              </a:srgbClr>
            </a:outerShdw>
          </a:effectLst>
        </p:spPr>
        <p:txBody>
          <a:bodyPr lIns="45719" rIns="45719" anchor="ctr"/>
          <a:lstStyle/>
          <a:p>
            <a:pPr lvl="0" hangingPunct="0"/>
            <a:endParaRPr kumimoji="0" b="0" i="0" u="none" strike="noStrike" kern="0" cap="none" spc="0" normalizeH="0" baseline="0" noProof="0" dirty="0">
              <a:ln>
                <a:noFill/>
              </a:ln>
              <a:solidFill>
                <a:schemeClr val="tx1">
                  <a:lumMod val="95000"/>
                  <a:lumOff val="5000"/>
                </a:schemeClr>
              </a:solidFill>
              <a:effectLst/>
              <a:uLnTx/>
              <a:uFillTx/>
              <a:latin typeface="Calibri" panose="020F0502020204030204" pitchFamily="34" charset="0"/>
              <a:ea typeface="Calibri" panose="020F0502020204030204" pitchFamily="34" charset="0"/>
              <a:cs typeface="Calibri" panose="020F0502020204030204" pitchFamily="34" charset="0"/>
              <a:sym typeface="Arial"/>
            </a:endParaRPr>
          </a:p>
        </p:txBody>
      </p:sp>
      <p:sp>
        <p:nvSpPr>
          <p:cNvPr id="8" name="TextBox 7">
            <a:extLst>
              <a:ext uri="{FF2B5EF4-FFF2-40B4-BE49-F238E27FC236}">
                <a16:creationId xmlns:a16="http://schemas.microsoft.com/office/drawing/2014/main" id="{5A1D745D-1C12-19BB-F3F1-E8F9B8241F7B}"/>
              </a:ext>
            </a:extLst>
          </p:cNvPr>
          <p:cNvSpPr txBox="1"/>
          <p:nvPr/>
        </p:nvSpPr>
        <p:spPr>
          <a:xfrm>
            <a:off x="1271717" y="6045448"/>
            <a:ext cx="9823499"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Patent Filed:</a:t>
            </a:r>
            <a:r>
              <a:rPr lang="en-US" dirty="0">
                <a:latin typeface="Calibri" panose="020F0502020204030204" pitchFamily="34" charset="0"/>
                <a:ea typeface="Calibri" panose="020F0502020204030204" pitchFamily="34" charset="0"/>
                <a:cs typeface="Calibri" panose="020F0502020204030204" pitchFamily="34" charset="0"/>
              </a:rPr>
              <a:t> Core AI-based strip interpretation and calibration methodology under patent protection.</a:t>
            </a:r>
          </a:p>
        </p:txBody>
      </p:sp>
      <p:sp>
        <p:nvSpPr>
          <p:cNvPr id="7" name="TextBox 6">
            <a:extLst>
              <a:ext uri="{FF2B5EF4-FFF2-40B4-BE49-F238E27FC236}">
                <a16:creationId xmlns:a16="http://schemas.microsoft.com/office/drawing/2014/main" id="{57CE2FB9-6D05-3BFA-07CF-D704B71962D4}"/>
              </a:ext>
            </a:extLst>
          </p:cNvPr>
          <p:cNvSpPr txBox="1"/>
          <p:nvPr/>
        </p:nvSpPr>
        <p:spPr>
          <a:xfrm>
            <a:off x="11795761" y="512488"/>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407141972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03535D7-D310-6A10-EB9D-A95E5BE6F987}"/>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BD304C84-E5CA-8B6A-EF99-04CB5D1AC7D8}"/>
              </a:ext>
            </a:extLst>
          </p:cNvPr>
          <p:cNvSpPr/>
          <p:nvPr/>
        </p:nvSpPr>
        <p:spPr>
          <a:xfrm>
            <a:off x="-1" y="1422271"/>
            <a:ext cx="12192001" cy="5456584"/>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 name="Rectangle">
            <a:extLst>
              <a:ext uri="{FF2B5EF4-FFF2-40B4-BE49-F238E27FC236}">
                <a16:creationId xmlns:a16="http://schemas.microsoft.com/office/drawing/2014/main" id="{CEE7F941-7DA9-84F4-EAED-CB5579647352}"/>
              </a:ext>
            </a:extLst>
          </p:cNvPr>
          <p:cNvSpPr/>
          <p:nvPr/>
        </p:nvSpPr>
        <p:spPr>
          <a:xfrm>
            <a:off x="5416481" y="1422271"/>
            <a:ext cx="6775519" cy="5406350"/>
          </a:xfrm>
          <a:prstGeom prst="rect">
            <a:avLst/>
          </a:prstGeom>
          <a:solidFill>
            <a:srgbClr val="D9C9FE">
              <a:alpha val="59817"/>
            </a:srgb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Rectangle">
            <a:extLst>
              <a:ext uri="{FF2B5EF4-FFF2-40B4-BE49-F238E27FC236}">
                <a16:creationId xmlns:a16="http://schemas.microsoft.com/office/drawing/2014/main" id="{6537B439-BC8E-254D-1BDA-3B4A05944EB4}"/>
              </a:ext>
            </a:extLst>
          </p:cNvPr>
          <p:cNvSpPr/>
          <p:nvPr/>
        </p:nvSpPr>
        <p:spPr>
          <a:xfrm>
            <a:off x="0" y="1422271"/>
            <a:ext cx="5416482" cy="5483884"/>
          </a:xfrm>
          <a:prstGeom prst="rect">
            <a:avLst/>
          </a:prstGeom>
          <a:solidFill>
            <a:srgbClr val="D3E2FF">
              <a:alpha val="60273"/>
            </a:srgb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8E0CB26D-C759-0C1B-2C80-2C00A2963BF6}"/>
              </a:ext>
            </a:extLst>
          </p:cNvPr>
          <p:cNvSpPr txBox="1"/>
          <p:nvPr/>
        </p:nvSpPr>
        <p:spPr>
          <a:xfrm>
            <a:off x="520668" y="450933"/>
            <a:ext cx="7364158"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5FE03A84-5E9B-167F-6742-863129D140C3}"/>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15</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AB69A9F8-3FD2-F2B7-BA22-2B7C3BF70339}"/>
              </a:ext>
            </a:extLst>
          </p:cNvPr>
          <p:cNvSpPr txBox="1"/>
          <p:nvPr/>
        </p:nvSpPr>
        <p:spPr>
          <a:xfrm>
            <a:off x="9666750" y="626267"/>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6" name="TextBox 5">
            <a:extLst>
              <a:ext uri="{FF2B5EF4-FFF2-40B4-BE49-F238E27FC236}">
                <a16:creationId xmlns:a16="http://schemas.microsoft.com/office/drawing/2014/main" id="{1BE152F9-87E7-C581-DCAE-BEDF75F0EB7B}"/>
              </a:ext>
            </a:extLst>
          </p:cNvPr>
          <p:cNvSpPr txBox="1"/>
          <p:nvPr/>
        </p:nvSpPr>
        <p:spPr>
          <a:xfrm>
            <a:off x="413135" y="450933"/>
            <a:ext cx="7364158"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IN" sz="36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SOCIAL &amp; PUBLIC HEALTH IMPACT</a:t>
            </a:r>
            <a:endParaRPr kumimoji="0" lang="en-IN" sz="3600" b="0" i="0" u="none" strike="noStrike" kern="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 name="Text Placeholder 2">
            <a:extLst>
              <a:ext uri="{FF2B5EF4-FFF2-40B4-BE49-F238E27FC236}">
                <a16:creationId xmlns:a16="http://schemas.microsoft.com/office/drawing/2014/main" id="{A6D2E61E-D979-2B59-E751-A933B098C25E}"/>
              </a:ext>
            </a:extLst>
          </p:cNvPr>
          <p:cNvSpPr>
            <a:spLocks noGrp="1"/>
          </p:cNvSpPr>
          <p:nvPr>
            <p:ph type="body" idx="1"/>
          </p:nvPr>
        </p:nvSpPr>
        <p:spPr>
          <a:xfrm>
            <a:off x="5736657" y="1536389"/>
            <a:ext cx="5617144" cy="5228348"/>
          </a:xfrm>
        </p:spPr>
        <p:txBody>
          <a:bodyPr numCol="1">
            <a:noAutofit/>
          </a:bodyPr>
          <a:lstStyle/>
          <a:p>
            <a:pPr marL="114300" indent="0" algn="just">
              <a:buNone/>
            </a:pPr>
            <a:r>
              <a:rPr lang="en-IN" sz="1600" b="1" dirty="0">
                <a:solidFill>
                  <a:schemeClr val="tx1"/>
                </a:solidFill>
              </a:rPr>
              <a:t>2. Alignment with National Goals</a:t>
            </a:r>
            <a:endParaRPr lang="en-IN" sz="1600" dirty="0">
              <a:solidFill>
                <a:schemeClr val="tx1"/>
              </a:solidFill>
            </a:endParaRPr>
          </a:p>
          <a:p>
            <a:pPr>
              <a:buClr>
                <a:schemeClr val="tx1"/>
              </a:buClr>
              <a:buSzPct val="100000"/>
            </a:pPr>
            <a:r>
              <a:rPr lang="en-IN" sz="1600" b="1" dirty="0">
                <a:solidFill>
                  <a:schemeClr val="tx1"/>
                </a:solidFill>
              </a:rPr>
              <a:t>SDG 3:</a:t>
            </a:r>
            <a:r>
              <a:rPr lang="en-IN" sz="1600" dirty="0">
                <a:solidFill>
                  <a:schemeClr val="tx1"/>
                </a:solidFill>
              </a:rPr>
              <a:t> Good Health and Well-being </a:t>
            </a:r>
          </a:p>
          <a:p>
            <a:pPr>
              <a:buClr>
                <a:schemeClr val="tx1"/>
              </a:buClr>
              <a:buSzPct val="100000"/>
            </a:pPr>
            <a:r>
              <a:rPr lang="en-IN" sz="1600" b="1" dirty="0">
                <a:solidFill>
                  <a:schemeClr val="tx1"/>
                </a:solidFill>
              </a:rPr>
              <a:t>Ayushman Bharat:</a:t>
            </a:r>
            <a:r>
              <a:rPr lang="en-IN" sz="1600" dirty="0">
                <a:solidFill>
                  <a:schemeClr val="tx1"/>
                </a:solidFill>
              </a:rPr>
              <a:t> Preventive healthcare mission </a:t>
            </a:r>
          </a:p>
          <a:p>
            <a:pPr>
              <a:buClr>
                <a:schemeClr val="tx1"/>
              </a:buClr>
              <a:buSzPct val="100000"/>
            </a:pPr>
            <a:r>
              <a:rPr lang="en-IN" sz="1600" b="1" dirty="0">
                <a:solidFill>
                  <a:schemeClr val="tx1"/>
                </a:solidFill>
              </a:rPr>
              <a:t>National Health Mission:</a:t>
            </a:r>
            <a:r>
              <a:rPr lang="en-IN" sz="1600" dirty="0">
                <a:solidFill>
                  <a:schemeClr val="tx1"/>
                </a:solidFill>
              </a:rPr>
              <a:t> Universal health coverage </a:t>
            </a:r>
          </a:p>
          <a:p>
            <a:pPr>
              <a:buClr>
                <a:schemeClr val="tx1"/>
              </a:buClr>
              <a:buSzPct val="100000"/>
            </a:pPr>
            <a:r>
              <a:rPr lang="en-IN" sz="1600" b="1" dirty="0">
                <a:solidFill>
                  <a:schemeClr val="tx1"/>
                </a:solidFill>
              </a:rPr>
              <a:t>Digital India:</a:t>
            </a:r>
            <a:r>
              <a:rPr lang="en-IN" sz="1600" dirty="0">
                <a:solidFill>
                  <a:schemeClr val="tx1"/>
                </a:solidFill>
              </a:rPr>
              <a:t> Healthcare digitization </a:t>
            </a:r>
          </a:p>
          <a:p>
            <a:pPr>
              <a:buClr>
                <a:schemeClr val="tx1"/>
              </a:buClr>
              <a:buSzPct val="100000"/>
            </a:pPr>
            <a:r>
              <a:rPr lang="en-IN" sz="1600" b="1" dirty="0">
                <a:solidFill>
                  <a:schemeClr val="tx1"/>
                </a:solidFill>
              </a:rPr>
              <a:t>Skill India:</a:t>
            </a:r>
            <a:r>
              <a:rPr lang="en-IN" sz="1600" dirty="0">
                <a:solidFill>
                  <a:schemeClr val="tx1"/>
                </a:solidFill>
              </a:rPr>
              <a:t> Empowers workers with technology</a:t>
            </a:r>
          </a:p>
          <a:p>
            <a:pPr>
              <a:buClr>
                <a:schemeClr val="tx1"/>
              </a:buClr>
              <a:buSzPct val="100000"/>
            </a:pPr>
            <a:endParaRPr lang="en-IN" sz="1600" b="1" dirty="0">
              <a:solidFill>
                <a:schemeClr val="tx1"/>
              </a:solidFill>
            </a:endParaRPr>
          </a:p>
          <a:p>
            <a:pPr marL="114300" indent="0">
              <a:buNone/>
            </a:pPr>
            <a:r>
              <a:rPr lang="en-IN" sz="1600" b="1" dirty="0">
                <a:solidFill>
                  <a:schemeClr val="tx1"/>
                </a:solidFill>
              </a:rPr>
              <a:t>3. Global Impact Potential</a:t>
            </a:r>
            <a:endParaRPr lang="en-IN" sz="1600" dirty="0">
              <a:solidFill>
                <a:schemeClr val="tx1"/>
              </a:solidFill>
            </a:endParaRPr>
          </a:p>
          <a:p>
            <a:pPr marL="114300" indent="0">
              <a:buClr>
                <a:schemeClr val="bg1"/>
              </a:buClr>
              <a:buSzPct val="100000"/>
              <a:buNone/>
            </a:pPr>
            <a:r>
              <a:rPr lang="en-IN" sz="1600" b="1" dirty="0">
                <a:solidFill>
                  <a:schemeClr val="tx1"/>
                </a:solidFill>
              </a:rPr>
              <a:t>According to Lancet Commission:</a:t>
            </a:r>
            <a:endParaRPr lang="en-IN" sz="1600" dirty="0">
              <a:solidFill>
                <a:schemeClr val="tx1"/>
              </a:solidFill>
            </a:endParaRPr>
          </a:p>
          <a:p>
            <a:pPr>
              <a:buClr>
                <a:schemeClr val="tx1"/>
              </a:buClr>
              <a:buSzPct val="100000"/>
            </a:pPr>
            <a:r>
              <a:rPr lang="en-IN" sz="1600" dirty="0">
                <a:solidFill>
                  <a:schemeClr val="tx1"/>
                </a:solidFill>
              </a:rPr>
              <a:t>47% of global population lacks access to early diagnostics</a:t>
            </a:r>
          </a:p>
          <a:p>
            <a:pPr>
              <a:buClr>
                <a:schemeClr val="tx1"/>
              </a:buClr>
              <a:buSzPct val="100000"/>
            </a:pPr>
            <a:r>
              <a:rPr lang="en-IN" sz="1600" dirty="0">
                <a:solidFill>
                  <a:schemeClr val="tx1"/>
                </a:solidFill>
              </a:rPr>
              <a:t>BillionTests.AI addresses this through: </a:t>
            </a:r>
          </a:p>
          <a:p>
            <a:pPr lvl="1">
              <a:buClr>
                <a:schemeClr val="tx1"/>
              </a:buClr>
              <a:buSzPct val="100000"/>
            </a:pPr>
            <a:r>
              <a:rPr lang="en-IN" sz="1600" dirty="0">
                <a:solidFill>
                  <a:schemeClr val="tx1"/>
                </a:solidFill>
              </a:rPr>
              <a:t>Ultra-low cost </a:t>
            </a:r>
          </a:p>
          <a:p>
            <a:pPr lvl="1">
              <a:buClr>
                <a:schemeClr val="tx1"/>
              </a:buClr>
              <a:buSzPct val="100000"/>
            </a:pPr>
            <a:r>
              <a:rPr lang="en-IN" sz="1600" dirty="0">
                <a:solidFill>
                  <a:schemeClr val="tx1"/>
                </a:solidFill>
              </a:rPr>
              <a:t>No infrastructure requirement</a:t>
            </a:r>
          </a:p>
          <a:p>
            <a:pPr lvl="1">
              <a:buClr>
                <a:schemeClr val="tx1"/>
              </a:buClr>
              <a:buSzPct val="100000"/>
            </a:pPr>
            <a:r>
              <a:rPr lang="en-IN" sz="1600" dirty="0">
                <a:solidFill>
                  <a:schemeClr val="tx1"/>
                </a:solidFill>
              </a:rPr>
              <a:t>Simple operation (single click)</a:t>
            </a:r>
          </a:p>
          <a:p>
            <a:pPr lvl="1">
              <a:buClr>
                <a:schemeClr val="tx1"/>
              </a:buClr>
              <a:buSzPct val="100000"/>
            </a:pPr>
            <a:r>
              <a:rPr lang="en-IN" sz="1600" dirty="0">
                <a:solidFill>
                  <a:schemeClr val="tx1"/>
                </a:solidFill>
              </a:rPr>
              <a:t>Scalable deployment model</a:t>
            </a:r>
          </a:p>
          <a:p>
            <a:endParaRPr lang="en-IN" sz="1600" dirty="0">
              <a:solidFill>
                <a:schemeClr val="tx1"/>
              </a:solidFill>
            </a:endParaRPr>
          </a:p>
          <a:p>
            <a:endParaRPr lang="en-IN" sz="1600" dirty="0">
              <a:solidFill>
                <a:schemeClr val="tx1"/>
              </a:solidFill>
            </a:endParaRPr>
          </a:p>
        </p:txBody>
      </p:sp>
      <p:sp>
        <p:nvSpPr>
          <p:cNvPr id="8" name="TextBox 7">
            <a:extLst>
              <a:ext uri="{FF2B5EF4-FFF2-40B4-BE49-F238E27FC236}">
                <a16:creationId xmlns:a16="http://schemas.microsoft.com/office/drawing/2014/main" id="{305D0B83-1267-1CC1-2BA9-CAB6364C2710}"/>
              </a:ext>
            </a:extLst>
          </p:cNvPr>
          <p:cNvSpPr txBox="1"/>
          <p:nvPr/>
        </p:nvSpPr>
        <p:spPr>
          <a:xfrm>
            <a:off x="520668" y="1581620"/>
            <a:ext cx="4831206" cy="53245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571500" marR="0" lvl="0" indent="-457200" algn="l" defTabSz="914400" rtl="0" eaLnBrk="1" fontAlgn="auto" latinLnBrk="0" hangingPunct="1">
              <a:lnSpc>
                <a:spcPct val="100000"/>
              </a:lnSpc>
              <a:spcBef>
                <a:spcPts val="0"/>
              </a:spcBef>
              <a:spcAft>
                <a:spcPts val="0"/>
              </a:spcAft>
              <a:buClrTx/>
              <a:buSzPct val="100000"/>
              <a:buFont typeface="+mj-lt"/>
              <a:buAutoNum type="arabicPeriod"/>
              <a:tabLst/>
              <a:defRPr/>
            </a:pPr>
            <a:r>
              <a:rPr kumimoji="0" lang="en-IN" sz="20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Key Benefits</a:t>
            </a:r>
          </a:p>
          <a:p>
            <a:pPr marL="571500" marR="0" lvl="0" indent="-457200" algn="l" defTabSz="914400" rtl="0" eaLnBrk="1" fontAlgn="auto" latinLnBrk="0" hangingPunct="1">
              <a:lnSpc>
                <a:spcPct val="100000"/>
              </a:lnSpc>
              <a:spcBef>
                <a:spcPts val="0"/>
              </a:spcBef>
              <a:spcAft>
                <a:spcPts val="0"/>
              </a:spcAft>
              <a:buClrTx/>
              <a:buSzPct val="100000"/>
              <a:buFont typeface="+mj-lt"/>
              <a:buAutoNum type="arabicPeriod"/>
              <a:tabLst/>
              <a:defRPr/>
            </a:pPr>
            <a:endPar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
                <a:srgbClr val="FFFFFF"/>
              </a:buClr>
              <a:buSzPct val="100000"/>
              <a:buFontTx/>
              <a:buNone/>
              <a:tabLst/>
              <a:defRPr/>
            </a:pPr>
            <a:r>
              <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Early Disease Detection:</a:t>
            </a:r>
            <a:endPar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Identifies at-risk individuals before symptoms develop</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Enables timely intervention and treatment</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Reduces progression to severe complications</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endPar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Reduced Healthcare System Load:</a:t>
            </a:r>
            <a:endPar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Decreases tertiary hospital admissions</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Enables preventive care at primary level</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Optimizes resource allocation</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endPar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Community Health Data:</a:t>
            </a:r>
            <a:endPar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Real-time population health monitoring</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Data-driven policy decisions</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Epidemic/outbreak early warning</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endPar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l" defTabSz="914400" rtl="0" eaLnBrk="1" fontAlgn="auto" latinLnBrk="0" hangingPunct="1">
              <a:lnSpc>
                <a:spcPct val="100000"/>
              </a:lnSpc>
              <a:spcBef>
                <a:spcPts val="0"/>
              </a:spcBef>
              <a:spcAft>
                <a:spcPts val="0"/>
              </a:spcAft>
              <a:buClr>
                <a:srgbClr val="FFFFFF"/>
              </a:buClr>
              <a:buSzPct val="89000"/>
              <a:buFontTx/>
              <a:buNone/>
              <a:tabLst/>
              <a:defRPr/>
            </a:pPr>
            <a:r>
              <a:rPr kumimoji="0" lang="en-IN" sz="16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Health Equity:</a:t>
            </a:r>
            <a:endPar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Brings diagnostics to underserved populations</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Bridges urban-rural healthcare gap</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IN" sz="16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Empowers community health workers</a:t>
            </a:r>
          </a:p>
        </p:txBody>
      </p:sp>
      <p:sp>
        <p:nvSpPr>
          <p:cNvPr id="10" name="TextBox 9">
            <a:extLst>
              <a:ext uri="{FF2B5EF4-FFF2-40B4-BE49-F238E27FC236}">
                <a16:creationId xmlns:a16="http://schemas.microsoft.com/office/drawing/2014/main" id="{FF2964F3-75F8-10F1-98A8-2782354B4305}"/>
              </a:ext>
            </a:extLst>
          </p:cNvPr>
          <p:cNvSpPr txBox="1"/>
          <p:nvPr/>
        </p:nvSpPr>
        <p:spPr>
          <a:xfrm>
            <a:off x="11612420" y="626267"/>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395410132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F65D650-5D72-ACA2-4610-AD0265BFCF9E}"/>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92019251-F8F3-0A94-90FA-B8C9A57919EB}"/>
              </a:ext>
            </a:extLst>
          </p:cNvPr>
          <p:cNvSpPr/>
          <p:nvPr/>
        </p:nvSpPr>
        <p:spPr>
          <a:xfrm>
            <a:off x="-1" y="1277260"/>
            <a:ext cx="12192001" cy="5601596"/>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A8668F5F-9F4C-3E15-7349-DA22C334D260}"/>
              </a:ext>
            </a:extLst>
          </p:cNvPr>
          <p:cNvSpPr txBox="1"/>
          <p:nvPr/>
        </p:nvSpPr>
        <p:spPr>
          <a:xfrm>
            <a:off x="413135" y="315156"/>
            <a:ext cx="7364158" cy="7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Calibri"/>
                <a:cs typeface="Calibri"/>
                <a:sym typeface="Calibri"/>
              </a:rPr>
              <a:t>Summary of technology validations</a:t>
            </a:r>
            <a:endParaRPr kumimoji="0" lang="en-US" sz="3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19" name="Slide Number">
            <a:extLst>
              <a:ext uri="{FF2B5EF4-FFF2-40B4-BE49-F238E27FC236}">
                <a16:creationId xmlns:a16="http://schemas.microsoft.com/office/drawing/2014/main" id="{0B08B30C-0245-3BA7-2078-2DC317D4538F}"/>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16</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A22F7158-8B0E-E27D-F6DC-CEC4F51F7934}"/>
              </a:ext>
            </a:extLst>
          </p:cNvPr>
          <p:cNvSpPr txBox="1"/>
          <p:nvPr/>
        </p:nvSpPr>
        <p:spPr>
          <a:xfrm>
            <a:off x="9846118" y="490490"/>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graphicFrame>
        <p:nvGraphicFramePr>
          <p:cNvPr id="4" name="Table 3">
            <a:extLst>
              <a:ext uri="{FF2B5EF4-FFF2-40B4-BE49-F238E27FC236}">
                <a16:creationId xmlns:a16="http://schemas.microsoft.com/office/drawing/2014/main" id="{464E3D53-FDEA-E566-4552-137AA0A7924C}"/>
              </a:ext>
            </a:extLst>
          </p:cNvPr>
          <p:cNvGraphicFramePr>
            <a:graphicFrameLocks noGrp="1"/>
          </p:cNvGraphicFramePr>
          <p:nvPr>
            <p:extLst>
              <p:ext uri="{D42A27DB-BD31-4B8C-83A1-F6EECF244321}">
                <p14:modId xmlns:p14="http://schemas.microsoft.com/office/powerpoint/2010/main" val="3527260422"/>
              </p:ext>
            </p:extLst>
          </p:nvPr>
        </p:nvGraphicFramePr>
        <p:xfrm>
          <a:off x="0" y="1277258"/>
          <a:ext cx="12192000" cy="5580743"/>
        </p:xfrm>
        <a:graphic>
          <a:graphicData uri="http://schemas.openxmlformats.org/drawingml/2006/table">
            <a:tbl>
              <a:tblPr>
                <a:tableStyleId>{5C22544A-7EE6-4342-B048-85BDC9FD1C3A}</a:tableStyleId>
              </a:tblPr>
              <a:tblGrid>
                <a:gridCol w="2873829">
                  <a:extLst>
                    <a:ext uri="{9D8B030D-6E8A-4147-A177-3AD203B41FA5}">
                      <a16:colId xmlns:a16="http://schemas.microsoft.com/office/drawing/2014/main" val="2057375820"/>
                    </a:ext>
                  </a:extLst>
                </a:gridCol>
                <a:gridCol w="2148114">
                  <a:extLst>
                    <a:ext uri="{9D8B030D-6E8A-4147-A177-3AD203B41FA5}">
                      <a16:colId xmlns:a16="http://schemas.microsoft.com/office/drawing/2014/main" val="1130504680"/>
                    </a:ext>
                  </a:extLst>
                </a:gridCol>
                <a:gridCol w="5999614">
                  <a:extLst>
                    <a:ext uri="{9D8B030D-6E8A-4147-A177-3AD203B41FA5}">
                      <a16:colId xmlns:a16="http://schemas.microsoft.com/office/drawing/2014/main" val="3347702730"/>
                    </a:ext>
                  </a:extLst>
                </a:gridCol>
                <a:gridCol w="1170443">
                  <a:extLst>
                    <a:ext uri="{9D8B030D-6E8A-4147-A177-3AD203B41FA5}">
                      <a16:colId xmlns:a16="http://schemas.microsoft.com/office/drawing/2014/main" val="60637783"/>
                    </a:ext>
                  </a:extLst>
                </a:gridCol>
              </a:tblGrid>
              <a:tr h="398982">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Phase</a:t>
                      </a:r>
                    </a:p>
                  </a:txBody>
                  <a:tcPr marL="25484" marR="25484" marT="8495" marB="8495" anchor="ctr">
                    <a:solidFill>
                      <a:schemeClr val="accent3">
                        <a:lumMod val="40000"/>
                        <a:lumOff val="60000"/>
                      </a:schemeClr>
                    </a:solidFill>
                  </a:tcPr>
                </a:tc>
                <a:tc>
                  <a:txBody>
                    <a:bodyPr/>
                    <a:lstStyle/>
                    <a:p>
                      <a:pPr marL="0" marR="0" algn="l">
                        <a:buNone/>
                      </a:pPr>
                      <a:r>
                        <a:rPr lang="en-US" sz="1800" b="1" dirty="0">
                          <a:effectLst/>
                          <a:latin typeface="Calibri" panose="020F0502020204030204" pitchFamily="34" charset="0"/>
                          <a:ea typeface="Calibri" panose="020F0502020204030204" pitchFamily="34" charset="0"/>
                          <a:cs typeface="Calibri" panose="020F0502020204030204" pitchFamily="34" charset="0"/>
                        </a:rPr>
                        <a:t>Focus Area</a:t>
                      </a:r>
                    </a:p>
                  </a:txBody>
                  <a:tcPr marL="25484" marR="25484" marT="8495" marB="8495" anchor="ctr">
                    <a:solidFill>
                      <a:schemeClr val="accent3">
                        <a:lumMod val="40000"/>
                        <a:lumOff val="60000"/>
                      </a:schemeClr>
                    </a:solidFill>
                  </a:tcPr>
                </a:tc>
                <a:tc>
                  <a:txBody>
                    <a:bodyPr/>
                    <a:lstStyle/>
                    <a:p>
                      <a:pPr marL="0" marR="0" algn="l">
                        <a:buNone/>
                      </a:pPr>
                      <a:r>
                        <a:rPr lang="en-US" sz="1800" b="1">
                          <a:effectLst/>
                          <a:latin typeface="Calibri" panose="020F0502020204030204" pitchFamily="34" charset="0"/>
                          <a:ea typeface="Calibri" panose="020F0502020204030204" pitchFamily="34" charset="0"/>
                          <a:cs typeface="Calibri" panose="020F0502020204030204" pitchFamily="34" charset="0"/>
                        </a:rPr>
                        <a:t>Activities Performed</a:t>
                      </a:r>
                    </a:p>
                  </a:txBody>
                  <a:tcPr marL="25484" marR="25484" marT="8495" marB="8495" anchor="ctr">
                    <a:solidFill>
                      <a:schemeClr val="accent3">
                        <a:lumMod val="40000"/>
                        <a:lumOff val="60000"/>
                      </a:schemeClr>
                    </a:solidFill>
                  </a:tcPr>
                </a:tc>
                <a:tc>
                  <a:txBody>
                    <a:bodyPr/>
                    <a:lstStyle/>
                    <a:p>
                      <a:pPr marL="0" marR="0" algn="l">
                        <a:buNone/>
                      </a:pPr>
                      <a:r>
                        <a:rPr lang="en-US" sz="1800" b="1" dirty="0">
                          <a:effectLst/>
                          <a:latin typeface="Calibri" panose="020F0502020204030204" pitchFamily="34" charset="0"/>
                          <a:ea typeface="Calibri" panose="020F0502020204030204" pitchFamily="34" charset="0"/>
                          <a:cs typeface="Calibri" panose="020F0502020204030204" pitchFamily="34" charset="0"/>
                        </a:rPr>
                        <a:t>Outcome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4200543482"/>
                  </a:ext>
                </a:extLst>
              </a:tr>
              <a:tr h="556432">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Phase 1 – Core Tech Validation</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Mobile Apps</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Functional, UI/UX, stress testing across Android &amp; iOS</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2996519338"/>
                  </a:ext>
                </a:extLst>
              </a:tr>
              <a:tr h="297501">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Hardware</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Optical calibration, durability, lighting variation tests</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3155460398"/>
                  </a:ext>
                </a:extLst>
              </a:tr>
              <a:tr h="462341">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Connectivity &amp; Location</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Local, internet connectivity, GPS validation, secure data transfer</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508224075"/>
                  </a:ext>
                </a:extLst>
              </a:tr>
              <a:tr h="556432">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Phase 2 – System Reliability</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Blockchain</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API integration, transaction stress test, audit validation</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678483168"/>
                  </a:ext>
                </a:extLst>
              </a:tr>
              <a:tr h="297501">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Cloud Infrastructure</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Load testing, auto-scaling, encryption &amp; compliance checks</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3780893781"/>
                  </a:ext>
                </a:extLst>
              </a:tr>
              <a:tr h="462341">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AI Technology</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Model training on thousands of strip images, benchmarking vs. experts</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1257719522"/>
                  </a:ext>
                </a:extLst>
              </a:tr>
              <a:tr h="556432">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Phase 3 – Controlled Testing</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Synthetic Urine</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Controlled testing with chemical variations of pH, glucose, salt, etc.</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312582200"/>
                  </a:ext>
                </a:extLst>
              </a:tr>
              <a:tr h="297501">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Reference Validation</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Expert card-based reading vs. AI reading comparison</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1788504223"/>
                  </a:ext>
                </a:extLst>
              </a:tr>
              <a:tr h="297501">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Phase 4 – Field Trials</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Local Lab Trials</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Multi-city validation in diagnostic labs with real strips</a:t>
                      </a:r>
                    </a:p>
                  </a:txBody>
                  <a:tcPr marL="25484" marR="25484" marT="8495" marB="8495" anchor="ctr">
                    <a:solidFill>
                      <a:schemeClr val="accent3">
                        <a:lumMod val="40000"/>
                        <a:lumOff val="60000"/>
                      </a:schemeClr>
                    </a:solidFill>
                  </a:tcPr>
                </a:tc>
                <a:tc>
                  <a:txBody>
                    <a:bodyPr/>
                    <a:lstStyle/>
                    <a:p>
                      <a:pPr marL="0" marR="0" algn="l">
                        <a:buNone/>
                      </a:pPr>
                      <a:r>
                        <a:rPr lang="en-US" sz="160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35994332"/>
                  </a:ext>
                </a:extLst>
              </a:tr>
              <a:tr h="297501">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User Feedback</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Ease of use, speed, adoption study</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00FF00"/>
                          </a:highlight>
                          <a:latin typeface="Calibri" panose="020F0502020204030204" pitchFamily="34" charset="0"/>
                          <a:ea typeface="Calibri" panose="020F0502020204030204" pitchFamily="34" charset="0"/>
                          <a:cs typeface="Calibri" panose="020F0502020204030204" pitchFamily="34" charset="0"/>
                        </a:rPr>
                        <a:t>Done</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4030109951"/>
                  </a:ext>
                </a:extLst>
              </a:tr>
              <a:tr h="556432">
                <a:tc>
                  <a:txBody>
                    <a:bodyPr/>
                    <a:lstStyle/>
                    <a:p>
                      <a:pPr marL="0" marR="0" algn="l">
                        <a:buNone/>
                      </a:pPr>
                      <a:r>
                        <a:rPr lang="en-US" sz="1700" b="1">
                          <a:effectLst/>
                          <a:latin typeface="Calibri" panose="020F0502020204030204" pitchFamily="34" charset="0"/>
                          <a:ea typeface="Calibri" panose="020F0502020204030204" pitchFamily="34" charset="0"/>
                          <a:cs typeface="Calibri" panose="020F0502020204030204" pitchFamily="34" charset="0"/>
                        </a:rPr>
                        <a:t>Phase 5 – Clinical Validation</a:t>
                      </a:r>
                    </a:p>
                  </a:txBody>
                  <a:tcPr marL="25484" marR="25484" marT="8495" marB="8495" anchor="ctr">
                    <a:solidFill>
                      <a:schemeClr val="accent3">
                        <a:lumMod val="40000"/>
                        <a:lumOff val="60000"/>
                      </a:schemeClr>
                    </a:solidFill>
                  </a:tcPr>
                </a:tc>
                <a:tc>
                  <a:txBody>
                    <a:bodyPr/>
                    <a:lstStyle/>
                    <a:p>
                      <a:pPr marL="0" marR="0" algn="l">
                        <a:buNone/>
                      </a:pPr>
                      <a:r>
                        <a:rPr lang="en-US" sz="1600">
                          <a:effectLst/>
                          <a:latin typeface="Calibri" panose="020F0502020204030204" pitchFamily="34" charset="0"/>
                          <a:ea typeface="Calibri" panose="020F0502020204030204" pitchFamily="34" charset="0"/>
                          <a:cs typeface="Calibri" panose="020F0502020204030204" pitchFamily="34" charset="0"/>
                        </a:rPr>
                        <a:t>Institutional Trials</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Process started at A. City Imaging (Delhi) and B. GIMS (Greater Noida) </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FFFF00"/>
                          </a:highlight>
                          <a:latin typeface="Calibri" panose="020F0502020204030204" pitchFamily="34" charset="0"/>
                          <a:ea typeface="Calibri" panose="020F0502020204030204" pitchFamily="34" charset="0"/>
                          <a:cs typeface="Calibri" panose="020F0502020204030204" pitchFamily="34" charset="0"/>
                        </a:rPr>
                        <a:t>Completed  at  A</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4279295645"/>
                  </a:ext>
                </a:extLst>
              </a:tr>
              <a:tr h="543846">
                <a:tc>
                  <a:txBody>
                    <a:bodyPr/>
                    <a:lstStyle/>
                    <a:p>
                      <a:pPr marL="0" marR="0" algn="l">
                        <a:buNone/>
                      </a:pPr>
                      <a:r>
                        <a:rPr lang="en-US" sz="1700" b="1" dirty="0">
                          <a:effectLst/>
                          <a:latin typeface="Calibri" panose="020F0502020204030204" pitchFamily="34" charset="0"/>
                          <a:ea typeface="Calibri" panose="020F0502020204030204" pitchFamily="34" charset="0"/>
                          <a:cs typeface="Calibri" panose="020F0502020204030204" pitchFamily="34" charset="0"/>
                        </a:rPr>
                        <a:t> </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Regulatory Prep</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latin typeface="Calibri" panose="020F0502020204030204" pitchFamily="34" charset="0"/>
                          <a:ea typeface="Calibri" panose="020F0502020204030204" pitchFamily="34" charset="0"/>
                          <a:cs typeface="Calibri" panose="020F0502020204030204" pitchFamily="34" charset="0"/>
                        </a:rPr>
                        <a:t>Data collection for compliance standards from MedTech Mitra, GIMS (Greater Noida) &amp; COE-AI, IIT Kanpur</a:t>
                      </a:r>
                    </a:p>
                  </a:txBody>
                  <a:tcPr marL="25484" marR="25484" marT="8495" marB="8495" anchor="ctr">
                    <a:solidFill>
                      <a:schemeClr val="accent3">
                        <a:lumMod val="40000"/>
                        <a:lumOff val="60000"/>
                      </a:schemeClr>
                    </a:solidFill>
                  </a:tcPr>
                </a:tc>
                <a:tc>
                  <a:txBody>
                    <a:bodyPr/>
                    <a:lstStyle/>
                    <a:p>
                      <a:pPr marL="0" marR="0" algn="l">
                        <a:buNone/>
                      </a:pPr>
                      <a:r>
                        <a:rPr lang="en-US" sz="1600" dirty="0">
                          <a:effectLst/>
                          <a:highlight>
                            <a:srgbClr val="FFFF00"/>
                          </a:highlight>
                          <a:latin typeface="Calibri" panose="020F0502020204030204" pitchFamily="34" charset="0"/>
                          <a:ea typeface="Calibri" panose="020F0502020204030204" pitchFamily="34" charset="0"/>
                          <a:cs typeface="Calibri" panose="020F0502020204030204" pitchFamily="34" charset="0"/>
                        </a:rPr>
                        <a:t>   </a:t>
                      </a:r>
                    </a:p>
                    <a:p>
                      <a:pPr marL="0" marR="0" algn="l">
                        <a:buNone/>
                      </a:pPr>
                      <a:r>
                        <a:rPr lang="en-US" sz="1600" dirty="0">
                          <a:effectLst/>
                          <a:highlight>
                            <a:srgbClr val="FFFF00"/>
                          </a:highlight>
                          <a:latin typeface="Calibri" panose="020F0502020204030204" pitchFamily="34" charset="0"/>
                          <a:ea typeface="Calibri" panose="020F0502020204030204" pitchFamily="34" charset="0"/>
                          <a:cs typeface="Calibri" panose="020F0502020204030204" pitchFamily="34" charset="0"/>
                        </a:rPr>
                        <a:t>In Progress</a:t>
                      </a:r>
                    </a:p>
                  </a:txBody>
                  <a:tcPr marL="25484" marR="25484" marT="8495" marB="8495" anchor="ctr">
                    <a:solidFill>
                      <a:schemeClr val="accent3">
                        <a:lumMod val="40000"/>
                        <a:lumOff val="60000"/>
                      </a:schemeClr>
                    </a:solidFill>
                  </a:tcPr>
                </a:tc>
                <a:extLst>
                  <a:ext uri="{0D108BD9-81ED-4DB2-BD59-A6C34878D82A}">
                    <a16:rowId xmlns:a16="http://schemas.microsoft.com/office/drawing/2014/main" val="720055542"/>
                  </a:ext>
                </a:extLst>
              </a:tr>
            </a:tbl>
          </a:graphicData>
        </a:graphic>
      </p:graphicFrame>
      <p:sp>
        <p:nvSpPr>
          <p:cNvPr id="6" name="TextBox 5">
            <a:extLst>
              <a:ext uri="{FF2B5EF4-FFF2-40B4-BE49-F238E27FC236}">
                <a16:creationId xmlns:a16="http://schemas.microsoft.com/office/drawing/2014/main" id="{AAFBF031-C76E-5C05-EBD0-4757E4284B78}"/>
              </a:ext>
            </a:extLst>
          </p:cNvPr>
          <p:cNvSpPr txBox="1"/>
          <p:nvPr/>
        </p:nvSpPr>
        <p:spPr>
          <a:xfrm>
            <a:off x="11791788" y="469635"/>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124250889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E3677F6-DF3B-074A-B127-B6CF5AC84696}"/>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9FA0A5FD-C138-1D7A-024A-DAEBCB36CCDB}"/>
              </a:ext>
            </a:extLst>
          </p:cNvPr>
          <p:cNvSpPr/>
          <p:nvPr/>
        </p:nvSpPr>
        <p:spPr>
          <a:xfrm>
            <a:off x="-1" y="1536159"/>
            <a:ext cx="12192001" cy="5342696"/>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19F341C6-2BE2-F780-3412-710ADFE2D231}"/>
              </a:ext>
            </a:extLst>
          </p:cNvPr>
          <p:cNvSpPr txBox="1"/>
          <p:nvPr/>
        </p:nvSpPr>
        <p:spPr>
          <a:xfrm>
            <a:off x="520668" y="422121"/>
            <a:ext cx="7364158" cy="7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EEB1F8D8-9D95-E4E1-094F-16D73781FC13}"/>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17</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2C5915F5-5D9B-EE6B-16F6-1BED4B6AFCDD}"/>
              </a:ext>
            </a:extLst>
          </p:cNvPr>
          <p:cNvSpPr txBox="1"/>
          <p:nvPr/>
        </p:nvSpPr>
        <p:spPr>
          <a:xfrm>
            <a:off x="9666750" y="637921"/>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graphicFrame>
        <p:nvGraphicFramePr>
          <p:cNvPr id="8" name="Diagram 7">
            <a:extLst>
              <a:ext uri="{FF2B5EF4-FFF2-40B4-BE49-F238E27FC236}">
                <a16:creationId xmlns:a16="http://schemas.microsoft.com/office/drawing/2014/main" id="{6AECC0CC-44FA-D017-8E26-0BF7BA22684C}"/>
              </a:ext>
            </a:extLst>
          </p:cNvPr>
          <p:cNvGraphicFramePr/>
          <p:nvPr>
            <p:extLst>
              <p:ext uri="{D42A27DB-BD31-4B8C-83A1-F6EECF244321}">
                <p14:modId xmlns:p14="http://schemas.microsoft.com/office/powerpoint/2010/main" val="1468095438"/>
              </p:ext>
            </p:extLst>
          </p:nvPr>
        </p:nvGraphicFramePr>
        <p:xfrm>
          <a:off x="497492" y="2593972"/>
          <a:ext cx="10574548" cy="31700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13186D0B-C6FB-9CE1-3DD8-16FE06ABDDDD}"/>
              </a:ext>
            </a:extLst>
          </p:cNvPr>
          <p:cNvSpPr txBox="1"/>
          <p:nvPr/>
        </p:nvSpPr>
        <p:spPr>
          <a:xfrm>
            <a:off x="520668" y="509154"/>
            <a:ext cx="6093500" cy="584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panose="020F0502020204030204" pitchFamily="34" charset="0"/>
                <a:ea typeface="Calibri" panose="020F0502020204030204" pitchFamily="34" charset="0"/>
                <a:cs typeface="Calibri" panose="020F0502020204030204" pitchFamily="34" charset="0"/>
              </a:rPr>
              <a:t>Future Expansion</a:t>
            </a:r>
          </a:p>
        </p:txBody>
      </p:sp>
      <p:sp>
        <p:nvSpPr>
          <p:cNvPr id="7" name="Rectangle: Rounded Corners 6">
            <a:extLst>
              <a:ext uri="{FF2B5EF4-FFF2-40B4-BE49-F238E27FC236}">
                <a16:creationId xmlns:a16="http://schemas.microsoft.com/office/drawing/2014/main" id="{2C140CEB-CE90-4EE3-E3D0-DF34E926ED7D}"/>
              </a:ext>
            </a:extLst>
          </p:cNvPr>
          <p:cNvSpPr/>
          <p:nvPr/>
        </p:nvSpPr>
        <p:spPr>
          <a:xfrm>
            <a:off x="520668" y="1751794"/>
            <a:ext cx="10528196" cy="715087"/>
          </a:xfrm>
          <a:prstGeom prst="roundRect">
            <a:avLst/>
          </a:prstGeom>
          <a:solidFill>
            <a:srgbClr val="FFFFFF"/>
          </a:solidFill>
          <a:ln w="25400" cap="flat">
            <a:solidFill>
              <a:schemeClr val="tx2"/>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BillionTests.AI is not limited to urine analysis — the same AI + IoT + Blockchain platform can power a universal diagnostic ecosystem:</a:t>
            </a:r>
          </a:p>
        </p:txBody>
      </p:sp>
      <p:sp>
        <p:nvSpPr>
          <p:cNvPr id="11" name="Rectangle: Rounded Corners 10">
            <a:extLst>
              <a:ext uri="{FF2B5EF4-FFF2-40B4-BE49-F238E27FC236}">
                <a16:creationId xmlns:a16="http://schemas.microsoft.com/office/drawing/2014/main" id="{29C2C1F0-561F-19F1-4669-61A70537872C}"/>
              </a:ext>
            </a:extLst>
          </p:cNvPr>
          <p:cNvSpPr/>
          <p:nvPr/>
        </p:nvSpPr>
        <p:spPr>
          <a:xfrm>
            <a:off x="520668" y="5891162"/>
            <a:ext cx="10528196" cy="408620"/>
          </a:xfrm>
          <a:prstGeom prst="roundRect">
            <a:avLst/>
          </a:prstGeom>
          <a:solidFill>
            <a:srgbClr val="FFFFFF"/>
          </a:solidFill>
          <a:ln w="25400" cap="flat">
            <a:solidFill>
              <a:schemeClr val="tx2"/>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Vision:</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From a urine-based gateway test to a </a:t>
            </a: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comprehensive, low-cost diagnostic platform</a:t>
            </a: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serving billions.</a:t>
            </a:r>
          </a:p>
        </p:txBody>
      </p:sp>
      <p:sp>
        <p:nvSpPr>
          <p:cNvPr id="5" name="TextBox 4">
            <a:extLst>
              <a:ext uri="{FF2B5EF4-FFF2-40B4-BE49-F238E27FC236}">
                <a16:creationId xmlns:a16="http://schemas.microsoft.com/office/drawing/2014/main" id="{7F43CDDE-38B4-59E1-7A1D-4CB99EB8CEFD}"/>
              </a:ext>
            </a:extLst>
          </p:cNvPr>
          <p:cNvSpPr txBox="1"/>
          <p:nvPr/>
        </p:nvSpPr>
        <p:spPr>
          <a:xfrm>
            <a:off x="11612420" y="551289"/>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6417450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29D8B85-88BE-31D1-F83C-5F787F3B7373}"/>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298D3B14-BA07-48B6-AADE-1850BAA1329C}"/>
              </a:ext>
            </a:extLst>
          </p:cNvPr>
          <p:cNvSpPr/>
          <p:nvPr/>
        </p:nvSpPr>
        <p:spPr>
          <a:xfrm>
            <a:off x="-1" y="1314459"/>
            <a:ext cx="12192001" cy="5543541"/>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FC3626F6-CC73-6BD8-D6DE-E953330EE44D}"/>
              </a:ext>
            </a:extLst>
          </p:cNvPr>
          <p:cNvSpPr txBox="1"/>
          <p:nvPr/>
        </p:nvSpPr>
        <p:spPr>
          <a:xfrm>
            <a:off x="520668" y="450933"/>
            <a:ext cx="7364158"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Calibri"/>
                <a:cs typeface="Calibri"/>
                <a:sym typeface="Calibri"/>
              </a:rPr>
              <a:t>BillionTests.AI in news</a:t>
            </a: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808940F5-2AEC-276D-D912-6061F34D04C0}"/>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18</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69287F14-2C19-E832-6B09-59DCFB5FD521}"/>
              </a:ext>
            </a:extLst>
          </p:cNvPr>
          <p:cNvSpPr txBox="1"/>
          <p:nvPr/>
        </p:nvSpPr>
        <p:spPr>
          <a:xfrm>
            <a:off x="9804700" y="657819"/>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7" name="Picture 6">
            <a:extLst>
              <a:ext uri="{FF2B5EF4-FFF2-40B4-BE49-F238E27FC236}">
                <a16:creationId xmlns:a16="http://schemas.microsoft.com/office/drawing/2014/main" id="{DF10D5C0-E028-EADB-3725-F0ECA0D29799}"/>
              </a:ext>
            </a:extLst>
          </p:cNvPr>
          <p:cNvPicPr>
            <a:picLocks noChangeAspect="1"/>
          </p:cNvPicPr>
          <p:nvPr/>
        </p:nvPicPr>
        <p:blipFill>
          <a:blip r:embed="rId3"/>
          <a:stretch>
            <a:fillRect/>
          </a:stretch>
        </p:blipFill>
        <p:spPr>
          <a:xfrm>
            <a:off x="838199" y="1439145"/>
            <a:ext cx="3529445" cy="5294168"/>
          </a:xfrm>
          <a:prstGeom prst="rect">
            <a:avLst/>
          </a:prstGeom>
        </p:spPr>
      </p:pic>
      <p:pic>
        <p:nvPicPr>
          <p:cNvPr id="9" name="Picture 8">
            <a:extLst>
              <a:ext uri="{FF2B5EF4-FFF2-40B4-BE49-F238E27FC236}">
                <a16:creationId xmlns:a16="http://schemas.microsoft.com/office/drawing/2014/main" id="{F6F9E4C2-28D9-A509-34EB-AC2C0ABBD60A}"/>
              </a:ext>
            </a:extLst>
          </p:cNvPr>
          <p:cNvPicPr>
            <a:picLocks noChangeAspect="1"/>
          </p:cNvPicPr>
          <p:nvPr/>
        </p:nvPicPr>
        <p:blipFill>
          <a:blip r:embed="rId4"/>
          <a:stretch>
            <a:fillRect/>
          </a:stretch>
        </p:blipFill>
        <p:spPr>
          <a:xfrm>
            <a:off x="4952862" y="1970010"/>
            <a:ext cx="6963953" cy="2917979"/>
          </a:xfrm>
          <a:prstGeom prst="rect">
            <a:avLst/>
          </a:prstGeom>
        </p:spPr>
      </p:pic>
      <p:sp>
        <p:nvSpPr>
          <p:cNvPr id="5" name="TextBox 4">
            <a:extLst>
              <a:ext uri="{FF2B5EF4-FFF2-40B4-BE49-F238E27FC236}">
                <a16:creationId xmlns:a16="http://schemas.microsoft.com/office/drawing/2014/main" id="{D085370A-04C6-1244-A9AE-35A69BF0898A}"/>
              </a:ext>
            </a:extLst>
          </p:cNvPr>
          <p:cNvSpPr txBox="1"/>
          <p:nvPr/>
        </p:nvSpPr>
        <p:spPr>
          <a:xfrm>
            <a:off x="11750370" y="580101"/>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333006029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chemeClr val="accent1">
              <a:lumMod val="50000"/>
            </a:schemeClr>
          </a:solidFill>
          <a:ln/>
        </p:spPr>
      </p:sp>
      <p:sp>
        <p:nvSpPr>
          <p:cNvPr id="3" name="Text 1"/>
          <p:cNvSpPr/>
          <p:nvPr/>
        </p:nvSpPr>
        <p:spPr>
          <a:xfrm>
            <a:off x="411480" y="164592"/>
            <a:ext cx="4572000" cy="64008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Team</a:t>
            </a:r>
            <a:endParaRPr lang="en-US" sz="3400" dirty="0"/>
          </a:p>
        </p:txBody>
      </p:sp>
      <p:sp>
        <p:nvSpPr>
          <p:cNvPr id="4" name="Text 2"/>
          <p:cNvSpPr/>
          <p:nvPr/>
        </p:nvSpPr>
        <p:spPr>
          <a:xfrm>
            <a:off x="7772400" y="292608"/>
            <a:ext cx="4023360" cy="457200"/>
          </a:xfrm>
          <a:prstGeom prst="rect">
            <a:avLst/>
          </a:prstGeom>
          <a:noFill/>
          <a:ln/>
        </p:spPr>
        <p:txBody>
          <a:bodyPr wrap="square" rtlCol="0" anchor="ctr"/>
          <a:lstStyle/>
          <a:p>
            <a:pPr marL="0" indent="0" algn="r">
              <a:buNone/>
            </a:pPr>
            <a:r>
              <a:rPr lang="en-US" sz="2000" b="1" dirty="0">
                <a:solidFill>
                  <a:srgbClr val="C9C9C9"/>
                </a:solidFill>
                <a:latin typeface="Cascadia Mono SemiBold" panose="020B0609020000020004" pitchFamily="49" charset="0"/>
                <a:ea typeface="Cascadia Mono SemiBold" panose="020B0609020000020004" pitchFamily="49" charset="0"/>
                <a:cs typeface="Cascadia Mono SemiBold" panose="020B0609020000020004" pitchFamily="49" charset="0"/>
              </a:rPr>
              <a:t>BillionTests.AI</a:t>
            </a:r>
            <a:endParaRPr lang="en-US" sz="2000" dirty="0">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6" name="Shape 4"/>
          <p:cNvSpPr/>
          <p:nvPr/>
        </p:nvSpPr>
        <p:spPr>
          <a:xfrm>
            <a:off x="385877" y="1374756"/>
            <a:ext cx="2755316" cy="2148840"/>
          </a:xfrm>
          <a:prstGeom prst="roundRect">
            <a:avLst>
              <a:gd name="adj" fmla="val 2553"/>
            </a:avLst>
          </a:prstGeom>
          <a:solidFill>
            <a:srgbClr val="F7EAC7"/>
          </a:solidFill>
          <a:ln/>
        </p:spPr>
      </p:sp>
      <p:sp>
        <p:nvSpPr>
          <p:cNvPr id="7" name="Shape 5"/>
          <p:cNvSpPr/>
          <p:nvPr/>
        </p:nvSpPr>
        <p:spPr>
          <a:xfrm>
            <a:off x="532181" y="1521060"/>
            <a:ext cx="868680" cy="868680"/>
          </a:xfrm>
          <a:prstGeom prst="ellipse">
            <a:avLst/>
          </a:prstGeom>
          <a:solidFill>
            <a:srgbClr val="1B2A4A"/>
          </a:solidFill>
          <a:ln/>
        </p:spPr>
      </p:sp>
      <p:sp>
        <p:nvSpPr>
          <p:cNvPr id="8" name="Text 6"/>
          <p:cNvSpPr/>
          <p:nvPr/>
        </p:nvSpPr>
        <p:spPr>
          <a:xfrm>
            <a:off x="532181" y="152106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MS</a:t>
            </a:r>
            <a:endParaRPr lang="en-US" sz="2000" dirty="0"/>
          </a:p>
        </p:txBody>
      </p:sp>
      <p:sp>
        <p:nvSpPr>
          <p:cNvPr id="9" name="Text 7"/>
          <p:cNvSpPr/>
          <p:nvPr/>
        </p:nvSpPr>
        <p:spPr>
          <a:xfrm>
            <a:off x="1538021" y="1493628"/>
            <a:ext cx="1603172" cy="996696"/>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Maninder Pal Singh Sethi</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Co-founder &amp; CBO</a:t>
            </a:r>
          </a:p>
          <a:p>
            <a:pPr>
              <a:lnSpc>
                <a:spcPct val="108000"/>
              </a:lnSpc>
            </a:pPr>
            <a:r>
              <a:rPr lang="en-US" sz="800" i="1" dirty="0">
                <a:solidFill>
                  <a:srgbClr val="1B2A4A"/>
                </a:solidFill>
                <a:latin typeface="Calibri" pitchFamily="34" charset="0"/>
                <a:ea typeface="Calibri" pitchFamily="34" charset="-122"/>
                <a:cs typeface="Calibri" pitchFamily="34" charset="-120"/>
              </a:rPr>
              <a:t>Contact: </a:t>
            </a:r>
          </a:p>
          <a:p>
            <a:pPr>
              <a:lnSpc>
                <a:spcPct val="108000"/>
              </a:lnSpc>
            </a:pPr>
            <a:r>
              <a:rPr lang="en-US" sz="800" i="1" dirty="0">
                <a:solidFill>
                  <a:srgbClr val="1B2A4A"/>
                </a:solidFill>
                <a:latin typeface="Calibri" pitchFamily="34" charset="0"/>
                <a:ea typeface="Calibri" pitchFamily="34" charset="-122"/>
                <a:cs typeface="Calibri" pitchFamily="34" charset="-120"/>
              </a:rPr>
              <a:t>Mob:+91 94170 29446</a:t>
            </a:r>
          </a:p>
          <a:p>
            <a:pPr>
              <a:lnSpc>
                <a:spcPct val="108000"/>
              </a:lnSpc>
            </a:pPr>
            <a:r>
              <a:rPr lang="en-US" sz="800" i="1" dirty="0">
                <a:solidFill>
                  <a:srgbClr val="1B2A4A"/>
                </a:solidFill>
                <a:latin typeface="Calibri" pitchFamily="34" charset="0"/>
                <a:ea typeface="Calibri" pitchFamily="34" charset="-122"/>
                <a:cs typeface="Calibri" pitchFamily="34" charset="-120"/>
              </a:rPr>
              <a:t>Email: mpsethi@billiontests.com</a:t>
            </a:r>
            <a:endParaRPr lang="en-US" sz="1050" i="1" dirty="0"/>
          </a:p>
        </p:txBody>
      </p:sp>
      <p:sp>
        <p:nvSpPr>
          <p:cNvPr id="10" name="Text 8"/>
          <p:cNvSpPr/>
          <p:nvPr/>
        </p:nvSpPr>
        <p:spPr>
          <a:xfrm>
            <a:off x="532181" y="2490324"/>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Post Graduate in Chemistry (Hons School) from Punjab University Chandigarh. Having rich experience of 44 years in Business Development of capital goods. 10 years dedicated to AI enabled and Lab Testing Solution</a:t>
            </a:r>
            <a:endParaRPr lang="en-US" sz="830" dirty="0"/>
          </a:p>
        </p:txBody>
      </p:sp>
      <p:sp>
        <p:nvSpPr>
          <p:cNvPr id="11" name="Shape 9"/>
          <p:cNvSpPr/>
          <p:nvPr/>
        </p:nvSpPr>
        <p:spPr>
          <a:xfrm>
            <a:off x="3287497" y="1374756"/>
            <a:ext cx="2755316" cy="2148840"/>
          </a:xfrm>
          <a:prstGeom prst="roundRect">
            <a:avLst>
              <a:gd name="adj" fmla="val 2553"/>
            </a:avLst>
          </a:prstGeom>
          <a:solidFill>
            <a:srgbClr val="F7EAC7"/>
          </a:solidFill>
          <a:ln/>
        </p:spPr>
      </p:sp>
      <p:sp>
        <p:nvSpPr>
          <p:cNvPr id="12" name="Shape 10"/>
          <p:cNvSpPr/>
          <p:nvPr/>
        </p:nvSpPr>
        <p:spPr>
          <a:xfrm>
            <a:off x="3433801" y="1521060"/>
            <a:ext cx="868680" cy="868680"/>
          </a:xfrm>
          <a:prstGeom prst="ellipse">
            <a:avLst/>
          </a:prstGeom>
          <a:solidFill>
            <a:srgbClr val="1B2A4A"/>
          </a:solidFill>
          <a:ln/>
        </p:spPr>
      </p:sp>
      <p:sp>
        <p:nvSpPr>
          <p:cNvPr id="13" name="Text 11"/>
          <p:cNvSpPr/>
          <p:nvPr/>
        </p:nvSpPr>
        <p:spPr>
          <a:xfrm>
            <a:off x="3433801" y="152106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AK</a:t>
            </a:r>
            <a:endParaRPr lang="en-US" sz="2000" dirty="0"/>
          </a:p>
        </p:txBody>
      </p:sp>
      <p:sp>
        <p:nvSpPr>
          <p:cNvPr id="14" name="Text 12"/>
          <p:cNvSpPr/>
          <p:nvPr/>
        </p:nvSpPr>
        <p:spPr>
          <a:xfrm>
            <a:off x="4439641" y="1493628"/>
            <a:ext cx="1603172"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Alok Kulshrestha</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Co-founder &amp; COO</a:t>
            </a:r>
          </a:p>
          <a:p>
            <a:pPr marL="0" indent="0">
              <a:lnSpc>
                <a:spcPct val="108000"/>
              </a:lnSpc>
              <a:buNone/>
            </a:pPr>
            <a:r>
              <a:rPr lang="en-US" sz="800" i="1" dirty="0">
                <a:solidFill>
                  <a:srgbClr val="1B2A4A"/>
                </a:solidFill>
                <a:latin typeface="Calibri" pitchFamily="34" charset="0"/>
                <a:ea typeface="Calibri" pitchFamily="34" charset="-122"/>
                <a:cs typeface="Calibri" pitchFamily="34" charset="-120"/>
              </a:rPr>
              <a:t>Contact:</a:t>
            </a:r>
          </a:p>
          <a:p>
            <a:pPr marL="0" indent="0">
              <a:lnSpc>
                <a:spcPct val="108000"/>
              </a:lnSpc>
              <a:buNone/>
            </a:pPr>
            <a:r>
              <a:rPr lang="en-US" sz="800" i="1" dirty="0">
                <a:solidFill>
                  <a:srgbClr val="1B2A4A"/>
                </a:solidFill>
                <a:latin typeface="Calibri" pitchFamily="34" charset="0"/>
                <a:ea typeface="Calibri" pitchFamily="34" charset="-122"/>
                <a:cs typeface="Calibri" pitchFamily="34" charset="-120"/>
              </a:rPr>
              <a:t>Mob: +91 9839715130</a:t>
            </a:r>
          </a:p>
          <a:p>
            <a:pPr marL="0" indent="0">
              <a:lnSpc>
                <a:spcPct val="108000"/>
              </a:lnSpc>
              <a:buNone/>
            </a:pPr>
            <a:r>
              <a:rPr lang="en-US" sz="800" i="1" dirty="0">
                <a:solidFill>
                  <a:srgbClr val="1B2A4A"/>
                </a:solidFill>
                <a:latin typeface="Calibri" pitchFamily="34" charset="0"/>
                <a:ea typeface="Calibri" pitchFamily="34" charset="-122"/>
                <a:cs typeface="Calibri" pitchFamily="34" charset="-120"/>
              </a:rPr>
              <a:t>Email: alok.Kulshrestha@billiontests.ai</a:t>
            </a:r>
            <a:endParaRPr lang="en-US" sz="1050" i="1" dirty="0"/>
          </a:p>
        </p:txBody>
      </p:sp>
      <p:sp>
        <p:nvSpPr>
          <p:cNvPr id="15" name="Text 13"/>
          <p:cNvSpPr/>
          <p:nvPr/>
        </p:nvSpPr>
        <p:spPr>
          <a:xfrm>
            <a:off x="3433801" y="2490324"/>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Postgraduate from IET Lucknow. Having over five years of experience in technical sales.</a:t>
            </a:r>
            <a:endParaRPr lang="en-US" sz="830" dirty="0"/>
          </a:p>
        </p:txBody>
      </p:sp>
      <p:sp>
        <p:nvSpPr>
          <p:cNvPr id="16" name="Shape 14"/>
          <p:cNvSpPr/>
          <p:nvPr/>
        </p:nvSpPr>
        <p:spPr>
          <a:xfrm>
            <a:off x="6189117" y="1374756"/>
            <a:ext cx="2755316" cy="2148840"/>
          </a:xfrm>
          <a:prstGeom prst="roundRect">
            <a:avLst>
              <a:gd name="adj" fmla="val 2553"/>
            </a:avLst>
          </a:prstGeom>
          <a:solidFill>
            <a:srgbClr val="F7EAC7"/>
          </a:solidFill>
          <a:ln/>
        </p:spPr>
      </p:sp>
      <p:sp>
        <p:nvSpPr>
          <p:cNvPr id="17" name="Shape 15"/>
          <p:cNvSpPr/>
          <p:nvPr/>
        </p:nvSpPr>
        <p:spPr>
          <a:xfrm>
            <a:off x="6335421" y="1521060"/>
            <a:ext cx="868680" cy="868680"/>
          </a:xfrm>
          <a:prstGeom prst="ellipse">
            <a:avLst/>
          </a:prstGeom>
          <a:solidFill>
            <a:srgbClr val="1B2A4A"/>
          </a:solidFill>
          <a:ln/>
        </p:spPr>
      </p:sp>
      <p:sp>
        <p:nvSpPr>
          <p:cNvPr id="18" name="Text 16"/>
          <p:cNvSpPr/>
          <p:nvPr/>
        </p:nvSpPr>
        <p:spPr>
          <a:xfrm>
            <a:off x="6335421" y="152106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AC</a:t>
            </a:r>
            <a:endParaRPr lang="en-US" sz="2000" dirty="0"/>
          </a:p>
        </p:txBody>
      </p:sp>
      <p:sp>
        <p:nvSpPr>
          <p:cNvPr id="19" name="Text 17"/>
          <p:cNvSpPr/>
          <p:nvPr/>
        </p:nvSpPr>
        <p:spPr>
          <a:xfrm>
            <a:off x="7341261" y="1493628"/>
            <a:ext cx="1603172"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Abhishek Chaturvedi</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CPO</a:t>
            </a:r>
          </a:p>
          <a:p>
            <a:pPr marL="0" indent="0">
              <a:lnSpc>
                <a:spcPct val="108000"/>
              </a:lnSpc>
              <a:buNone/>
            </a:pPr>
            <a:r>
              <a:rPr lang="en-US" sz="800" i="1" dirty="0">
                <a:solidFill>
                  <a:srgbClr val="1B2A4A"/>
                </a:solidFill>
                <a:latin typeface="Calibri" pitchFamily="34" charset="0"/>
                <a:ea typeface="Calibri" pitchFamily="34" charset="-122"/>
                <a:cs typeface="Calibri" pitchFamily="34" charset="-120"/>
              </a:rPr>
              <a:t>Contact:</a:t>
            </a:r>
          </a:p>
          <a:p>
            <a:pPr>
              <a:lnSpc>
                <a:spcPct val="108000"/>
              </a:lnSpc>
            </a:pPr>
            <a:r>
              <a:rPr lang="en-US" sz="800" i="1" dirty="0">
                <a:solidFill>
                  <a:srgbClr val="1B2A4A"/>
                </a:solidFill>
                <a:latin typeface="Calibri" pitchFamily="34" charset="0"/>
                <a:ea typeface="Calibri" pitchFamily="34" charset="-122"/>
                <a:cs typeface="Calibri" pitchFamily="34" charset="-120"/>
              </a:rPr>
              <a:t>Mob: +91 63872 54206</a:t>
            </a:r>
          </a:p>
          <a:p>
            <a:pPr>
              <a:lnSpc>
                <a:spcPct val="108000"/>
              </a:lnSpc>
            </a:pPr>
            <a:r>
              <a:rPr lang="en-US" sz="800" i="1" dirty="0" err="1">
                <a:solidFill>
                  <a:srgbClr val="1B2A4A"/>
                </a:solidFill>
                <a:latin typeface="Calibri" pitchFamily="34" charset="0"/>
                <a:ea typeface="Calibri" pitchFamily="34" charset="-122"/>
                <a:cs typeface="Calibri" pitchFamily="34" charset="-120"/>
              </a:rPr>
              <a:t>Email:abhishek.chaturvedi@billiontests.ai</a:t>
            </a:r>
            <a:endParaRPr lang="en-US" sz="1050" i="1" dirty="0"/>
          </a:p>
        </p:txBody>
      </p:sp>
      <p:sp>
        <p:nvSpPr>
          <p:cNvPr id="20" name="Text 18"/>
          <p:cNvSpPr/>
          <p:nvPr/>
        </p:nvSpPr>
        <p:spPr>
          <a:xfrm>
            <a:off x="6335421" y="2490324"/>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Postgraduate in Biochemistry and have a total of 5 years of professional experience, including AI based product development and pharmaceutical sales.</a:t>
            </a:r>
            <a:endParaRPr lang="en-US" sz="830" dirty="0"/>
          </a:p>
        </p:txBody>
      </p:sp>
      <p:sp>
        <p:nvSpPr>
          <p:cNvPr id="21" name="Shape 19"/>
          <p:cNvSpPr/>
          <p:nvPr/>
        </p:nvSpPr>
        <p:spPr>
          <a:xfrm>
            <a:off x="9090736" y="1374756"/>
            <a:ext cx="2755316" cy="2148840"/>
          </a:xfrm>
          <a:prstGeom prst="roundRect">
            <a:avLst>
              <a:gd name="adj" fmla="val 2553"/>
            </a:avLst>
          </a:prstGeom>
          <a:solidFill>
            <a:srgbClr val="F7EAC7"/>
          </a:solidFill>
          <a:ln/>
        </p:spPr>
      </p:sp>
      <p:sp>
        <p:nvSpPr>
          <p:cNvPr id="22" name="Shape 20"/>
          <p:cNvSpPr/>
          <p:nvPr/>
        </p:nvSpPr>
        <p:spPr>
          <a:xfrm>
            <a:off x="9237040" y="1521060"/>
            <a:ext cx="868680" cy="868680"/>
          </a:xfrm>
          <a:prstGeom prst="ellipse">
            <a:avLst/>
          </a:prstGeom>
          <a:solidFill>
            <a:srgbClr val="1B2A4A"/>
          </a:solidFill>
          <a:ln/>
        </p:spPr>
      </p:sp>
      <p:sp>
        <p:nvSpPr>
          <p:cNvPr id="23" name="Text 21"/>
          <p:cNvSpPr/>
          <p:nvPr/>
        </p:nvSpPr>
        <p:spPr>
          <a:xfrm>
            <a:off x="9237040" y="1521060"/>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SR</a:t>
            </a:r>
            <a:endParaRPr lang="en-US" sz="2000" dirty="0"/>
          </a:p>
        </p:txBody>
      </p:sp>
      <p:sp>
        <p:nvSpPr>
          <p:cNvPr id="24" name="Text 22"/>
          <p:cNvSpPr/>
          <p:nvPr/>
        </p:nvSpPr>
        <p:spPr>
          <a:xfrm>
            <a:off x="10242880" y="1493628"/>
            <a:ext cx="1493444"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Priyanka Priyadarshini</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CGO</a:t>
            </a:r>
            <a:endParaRPr lang="en-US" sz="1150" dirty="0"/>
          </a:p>
        </p:txBody>
      </p:sp>
      <p:sp>
        <p:nvSpPr>
          <p:cNvPr id="25" name="Text 23"/>
          <p:cNvSpPr/>
          <p:nvPr/>
        </p:nvSpPr>
        <p:spPr>
          <a:xfrm>
            <a:off x="9237040" y="2490324"/>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B.Tech., VJTI Mumbai. Founded – Ocenip, Vedicraft</a:t>
            </a:r>
            <a:endParaRPr lang="en-US" sz="830" dirty="0"/>
          </a:p>
        </p:txBody>
      </p:sp>
      <p:sp>
        <p:nvSpPr>
          <p:cNvPr id="26" name="Shape 24"/>
          <p:cNvSpPr/>
          <p:nvPr/>
        </p:nvSpPr>
        <p:spPr>
          <a:xfrm>
            <a:off x="385877" y="4160521"/>
            <a:ext cx="2755316" cy="2148840"/>
          </a:xfrm>
          <a:prstGeom prst="roundRect">
            <a:avLst>
              <a:gd name="adj" fmla="val 2553"/>
            </a:avLst>
          </a:prstGeom>
          <a:solidFill>
            <a:srgbClr val="F7EAC7"/>
          </a:solidFill>
          <a:ln/>
        </p:spPr>
      </p:sp>
      <p:sp>
        <p:nvSpPr>
          <p:cNvPr id="27" name="Shape 25"/>
          <p:cNvSpPr/>
          <p:nvPr/>
        </p:nvSpPr>
        <p:spPr>
          <a:xfrm>
            <a:off x="532181" y="4306825"/>
            <a:ext cx="868680" cy="868680"/>
          </a:xfrm>
          <a:prstGeom prst="ellipse">
            <a:avLst/>
          </a:prstGeom>
          <a:solidFill>
            <a:srgbClr val="1B2A4A"/>
          </a:solidFill>
          <a:ln/>
        </p:spPr>
      </p:sp>
      <p:sp>
        <p:nvSpPr>
          <p:cNvPr id="28" name="Text 26"/>
          <p:cNvSpPr/>
          <p:nvPr/>
        </p:nvSpPr>
        <p:spPr>
          <a:xfrm>
            <a:off x="532181" y="4306825"/>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PA</a:t>
            </a:r>
            <a:endParaRPr lang="en-US" sz="2000" dirty="0"/>
          </a:p>
        </p:txBody>
      </p:sp>
      <p:sp>
        <p:nvSpPr>
          <p:cNvPr id="29" name="Text 27"/>
          <p:cNvSpPr/>
          <p:nvPr/>
        </p:nvSpPr>
        <p:spPr>
          <a:xfrm>
            <a:off x="1538021" y="4279393"/>
            <a:ext cx="1493444"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Pranav Asthana</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Co-Inventor &amp; Platform Head</a:t>
            </a:r>
            <a:endParaRPr lang="en-US" sz="1150" dirty="0"/>
          </a:p>
        </p:txBody>
      </p:sp>
      <p:sp>
        <p:nvSpPr>
          <p:cNvPr id="30" name="Text 28"/>
          <p:cNvSpPr/>
          <p:nvPr/>
        </p:nvSpPr>
        <p:spPr>
          <a:xfrm>
            <a:off x="532181" y="5276089"/>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Cofounded visotonics, Checko, Upjao, $25M exit. 20+ research papers, 10+ patents. Ex-Intel, IIT Kanpur</a:t>
            </a:r>
            <a:endParaRPr lang="en-US" sz="830" dirty="0"/>
          </a:p>
        </p:txBody>
      </p:sp>
      <p:sp>
        <p:nvSpPr>
          <p:cNvPr id="31" name="Shape 29"/>
          <p:cNvSpPr/>
          <p:nvPr/>
        </p:nvSpPr>
        <p:spPr>
          <a:xfrm>
            <a:off x="3287497" y="4160521"/>
            <a:ext cx="2755316" cy="2148840"/>
          </a:xfrm>
          <a:prstGeom prst="roundRect">
            <a:avLst>
              <a:gd name="adj" fmla="val 2553"/>
            </a:avLst>
          </a:prstGeom>
          <a:solidFill>
            <a:srgbClr val="F7EAC7"/>
          </a:solidFill>
          <a:ln/>
        </p:spPr>
      </p:sp>
      <p:sp>
        <p:nvSpPr>
          <p:cNvPr id="32" name="Shape 30"/>
          <p:cNvSpPr/>
          <p:nvPr/>
        </p:nvSpPr>
        <p:spPr>
          <a:xfrm>
            <a:off x="3433801" y="4306825"/>
            <a:ext cx="868680" cy="868680"/>
          </a:xfrm>
          <a:prstGeom prst="ellipse">
            <a:avLst/>
          </a:prstGeom>
          <a:solidFill>
            <a:srgbClr val="1B2A4A"/>
          </a:solidFill>
          <a:ln/>
        </p:spPr>
      </p:sp>
      <p:sp>
        <p:nvSpPr>
          <p:cNvPr id="33" name="Text 31"/>
          <p:cNvSpPr/>
          <p:nvPr/>
        </p:nvSpPr>
        <p:spPr>
          <a:xfrm>
            <a:off x="3433801" y="4306825"/>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RM</a:t>
            </a:r>
            <a:endParaRPr lang="en-US" sz="2000" dirty="0"/>
          </a:p>
        </p:txBody>
      </p:sp>
      <p:sp>
        <p:nvSpPr>
          <p:cNvPr id="34" name="Text 32"/>
          <p:cNvSpPr/>
          <p:nvPr/>
        </p:nvSpPr>
        <p:spPr>
          <a:xfrm>
            <a:off x="4439641" y="4279393"/>
            <a:ext cx="1493444"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Ritu Mishra</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Co-Inventor &amp; Head of Innovation</a:t>
            </a:r>
            <a:endParaRPr lang="en-US" sz="1150" dirty="0"/>
          </a:p>
        </p:txBody>
      </p:sp>
      <p:sp>
        <p:nvSpPr>
          <p:cNvPr id="35" name="Text 33"/>
          <p:cNvSpPr/>
          <p:nvPr/>
        </p:nvSpPr>
        <p:spPr>
          <a:xfrm>
            <a:off x="3433801" y="5276089"/>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Cofounded visotonics, Upjao. 8 years in building deep tech products. Ex-researcher at NCFlexe, IIT Kanpur.</a:t>
            </a:r>
            <a:endParaRPr lang="en-US" sz="830" dirty="0"/>
          </a:p>
        </p:txBody>
      </p:sp>
      <p:sp>
        <p:nvSpPr>
          <p:cNvPr id="36" name="Shape 34"/>
          <p:cNvSpPr/>
          <p:nvPr/>
        </p:nvSpPr>
        <p:spPr>
          <a:xfrm>
            <a:off x="6189117" y="4160521"/>
            <a:ext cx="2755316" cy="2148840"/>
          </a:xfrm>
          <a:prstGeom prst="roundRect">
            <a:avLst>
              <a:gd name="adj" fmla="val 2553"/>
            </a:avLst>
          </a:prstGeom>
          <a:solidFill>
            <a:srgbClr val="F7EAC7"/>
          </a:solidFill>
          <a:ln/>
        </p:spPr>
      </p:sp>
      <p:sp>
        <p:nvSpPr>
          <p:cNvPr id="37" name="Shape 35"/>
          <p:cNvSpPr/>
          <p:nvPr/>
        </p:nvSpPr>
        <p:spPr>
          <a:xfrm>
            <a:off x="6335421" y="4306825"/>
            <a:ext cx="868680" cy="868680"/>
          </a:xfrm>
          <a:prstGeom prst="ellipse">
            <a:avLst/>
          </a:prstGeom>
          <a:solidFill>
            <a:srgbClr val="1B2A4A"/>
          </a:solidFill>
          <a:ln/>
        </p:spPr>
      </p:sp>
      <p:sp>
        <p:nvSpPr>
          <p:cNvPr id="38" name="Text 36"/>
          <p:cNvSpPr/>
          <p:nvPr/>
        </p:nvSpPr>
        <p:spPr>
          <a:xfrm>
            <a:off x="6335421" y="4306825"/>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PP</a:t>
            </a:r>
            <a:endParaRPr lang="en-US" sz="2000" dirty="0"/>
          </a:p>
        </p:txBody>
      </p:sp>
      <p:sp>
        <p:nvSpPr>
          <p:cNvPr id="39" name="Text 37"/>
          <p:cNvSpPr/>
          <p:nvPr/>
        </p:nvSpPr>
        <p:spPr>
          <a:xfrm>
            <a:off x="7341261" y="4279393"/>
            <a:ext cx="1493444"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Pramod Prasad</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RevOps Leader</a:t>
            </a:r>
            <a:endParaRPr lang="en-US" sz="1150" dirty="0"/>
          </a:p>
        </p:txBody>
      </p:sp>
      <p:sp>
        <p:nvSpPr>
          <p:cNvPr id="40" name="Text 38"/>
          <p:cNvSpPr/>
          <p:nvPr/>
        </p:nvSpPr>
        <p:spPr>
          <a:xfrm>
            <a:off x="6335421" y="5276089"/>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Cofounded visotonics, 30+ years of technology business leadership | Built $150M+ business portfolios | Scaling AI-led innovation. Ex-Cisco | Motorola | Ericsson | IIFT</a:t>
            </a:r>
            <a:endParaRPr lang="en-US" sz="830" dirty="0"/>
          </a:p>
        </p:txBody>
      </p:sp>
      <p:sp>
        <p:nvSpPr>
          <p:cNvPr id="41" name="Shape 39"/>
          <p:cNvSpPr/>
          <p:nvPr/>
        </p:nvSpPr>
        <p:spPr>
          <a:xfrm>
            <a:off x="9090736" y="4160521"/>
            <a:ext cx="2755316" cy="2148840"/>
          </a:xfrm>
          <a:prstGeom prst="roundRect">
            <a:avLst>
              <a:gd name="adj" fmla="val 2553"/>
            </a:avLst>
          </a:prstGeom>
          <a:solidFill>
            <a:srgbClr val="F7EAC7"/>
          </a:solidFill>
          <a:ln/>
        </p:spPr>
      </p:sp>
      <p:sp>
        <p:nvSpPr>
          <p:cNvPr id="42" name="Shape 40"/>
          <p:cNvSpPr/>
          <p:nvPr/>
        </p:nvSpPr>
        <p:spPr>
          <a:xfrm>
            <a:off x="9237040" y="4306825"/>
            <a:ext cx="868680" cy="868680"/>
          </a:xfrm>
          <a:prstGeom prst="ellipse">
            <a:avLst/>
          </a:prstGeom>
          <a:solidFill>
            <a:srgbClr val="1B2A4A"/>
          </a:solidFill>
          <a:ln/>
        </p:spPr>
      </p:sp>
      <p:sp>
        <p:nvSpPr>
          <p:cNvPr id="43" name="Text 41"/>
          <p:cNvSpPr/>
          <p:nvPr/>
        </p:nvSpPr>
        <p:spPr>
          <a:xfrm>
            <a:off x="9237040" y="4306825"/>
            <a:ext cx="868680" cy="86868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MB</a:t>
            </a:r>
            <a:endParaRPr lang="en-US" sz="2000" dirty="0"/>
          </a:p>
        </p:txBody>
      </p:sp>
      <p:sp>
        <p:nvSpPr>
          <p:cNvPr id="44" name="Text 42"/>
          <p:cNvSpPr/>
          <p:nvPr/>
        </p:nvSpPr>
        <p:spPr>
          <a:xfrm>
            <a:off x="10242880" y="4279393"/>
            <a:ext cx="1493444" cy="932688"/>
          </a:xfrm>
          <a:prstGeom prst="rect">
            <a:avLst/>
          </a:prstGeom>
          <a:noFill/>
          <a:ln/>
        </p:spPr>
        <p:txBody>
          <a:bodyPr wrap="square" rtlCol="0" anchor="t"/>
          <a:lstStyle/>
          <a:p>
            <a:pPr marL="0" indent="0">
              <a:lnSpc>
                <a:spcPct val="108000"/>
              </a:lnSpc>
              <a:buNone/>
            </a:pPr>
            <a:r>
              <a:rPr lang="en-US" sz="1150" b="1" dirty="0">
                <a:solidFill>
                  <a:srgbClr val="2A2A2A"/>
                </a:solidFill>
                <a:latin typeface="Calibri" pitchFamily="34" charset="0"/>
                <a:ea typeface="Calibri" pitchFamily="34" charset="-122"/>
                <a:cs typeface="Calibri" pitchFamily="34" charset="-120"/>
              </a:rPr>
              <a:t>Mohini Behera</a:t>
            </a:r>
            <a:endParaRPr lang="en-US" sz="1150" dirty="0"/>
          </a:p>
          <a:p>
            <a:pPr marL="0" indent="0">
              <a:lnSpc>
                <a:spcPct val="108000"/>
              </a:lnSpc>
              <a:buNone/>
            </a:pPr>
            <a:r>
              <a:rPr lang="en-US" sz="950" b="1" dirty="0">
                <a:solidFill>
                  <a:srgbClr val="1B2A4A"/>
                </a:solidFill>
                <a:latin typeface="Calibri" pitchFamily="34" charset="0"/>
                <a:ea typeface="Calibri" pitchFamily="34" charset="-122"/>
                <a:cs typeface="Calibri" pitchFamily="34" charset="-120"/>
              </a:rPr>
              <a:t>Co-Inventor &amp; Chief Scientist</a:t>
            </a:r>
            <a:endParaRPr lang="en-US" sz="1150" dirty="0"/>
          </a:p>
        </p:txBody>
      </p:sp>
      <p:sp>
        <p:nvSpPr>
          <p:cNvPr id="45" name="Text 43"/>
          <p:cNvSpPr/>
          <p:nvPr/>
        </p:nvSpPr>
        <p:spPr>
          <a:xfrm>
            <a:off x="9237040" y="5276089"/>
            <a:ext cx="2462708" cy="923544"/>
          </a:xfrm>
          <a:prstGeom prst="rect">
            <a:avLst/>
          </a:prstGeom>
          <a:noFill/>
          <a:ln/>
        </p:spPr>
        <p:txBody>
          <a:bodyPr wrap="square" rtlCol="0" anchor="t"/>
          <a:lstStyle/>
          <a:p>
            <a:pPr marL="0" indent="0">
              <a:lnSpc>
                <a:spcPct val="105000"/>
              </a:lnSpc>
              <a:buNone/>
            </a:pPr>
            <a:r>
              <a:rPr lang="en-US" sz="830" dirty="0">
                <a:solidFill>
                  <a:srgbClr val="2A2A2A"/>
                </a:solidFill>
                <a:latin typeface="Calibri" pitchFamily="34" charset="0"/>
                <a:ea typeface="Calibri" pitchFamily="34" charset="-122"/>
                <a:cs typeface="Calibri" pitchFamily="34" charset="-120"/>
              </a:rPr>
              <a:t>Cofounded visotonics, Upjao. Developed 10+ AI products for large enterprises. IIT Jodhpur, NIT Rourkela</a:t>
            </a:r>
            <a:endParaRPr lang="en-US" sz="830" dirty="0"/>
          </a:p>
        </p:txBody>
      </p:sp>
      <p:sp>
        <p:nvSpPr>
          <p:cNvPr id="46" name="Shape 44"/>
          <p:cNvSpPr/>
          <p:nvPr/>
        </p:nvSpPr>
        <p:spPr>
          <a:xfrm>
            <a:off x="0" y="6537960"/>
            <a:ext cx="2031949" cy="320040"/>
          </a:xfrm>
          <a:prstGeom prst="rect">
            <a:avLst/>
          </a:prstGeom>
          <a:solidFill>
            <a:srgbClr val="4472C4"/>
          </a:solidFill>
          <a:ln/>
        </p:spPr>
      </p:sp>
      <p:sp>
        <p:nvSpPr>
          <p:cNvPr id="47" name="Shape 45"/>
          <p:cNvSpPr/>
          <p:nvPr/>
        </p:nvSpPr>
        <p:spPr>
          <a:xfrm>
            <a:off x="2031949" y="6537960"/>
            <a:ext cx="2031949" cy="320040"/>
          </a:xfrm>
          <a:prstGeom prst="rect">
            <a:avLst/>
          </a:prstGeom>
          <a:solidFill>
            <a:srgbClr val="F2A6A0"/>
          </a:solidFill>
          <a:ln/>
        </p:spPr>
      </p:sp>
      <p:sp>
        <p:nvSpPr>
          <p:cNvPr id="48" name="Shape 46"/>
          <p:cNvSpPr/>
          <p:nvPr/>
        </p:nvSpPr>
        <p:spPr>
          <a:xfrm>
            <a:off x="4063898" y="6537960"/>
            <a:ext cx="2031949" cy="320040"/>
          </a:xfrm>
          <a:prstGeom prst="rect">
            <a:avLst/>
          </a:prstGeom>
          <a:solidFill>
            <a:srgbClr val="F0A34E"/>
          </a:solidFill>
          <a:ln/>
        </p:spPr>
      </p:sp>
      <p:sp>
        <p:nvSpPr>
          <p:cNvPr id="49" name="Shape 47"/>
          <p:cNvSpPr/>
          <p:nvPr/>
        </p:nvSpPr>
        <p:spPr>
          <a:xfrm>
            <a:off x="6095848" y="6537960"/>
            <a:ext cx="2031949" cy="320040"/>
          </a:xfrm>
          <a:prstGeom prst="rect">
            <a:avLst/>
          </a:prstGeom>
          <a:solidFill>
            <a:srgbClr val="C7D94C"/>
          </a:solidFill>
          <a:ln/>
        </p:spPr>
      </p:sp>
      <p:sp>
        <p:nvSpPr>
          <p:cNvPr id="50" name="Shape 48"/>
          <p:cNvSpPr/>
          <p:nvPr/>
        </p:nvSpPr>
        <p:spPr>
          <a:xfrm>
            <a:off x="8127797" y="6537960"/>
            <a:ext cx="2031949" cy="320040"/>
          </a:xfrm>
          <a:prstGeom prst="rect">
            <a:avLst/>
          </a:prstGeom>
          <a:solidFill>
            <a:srgbClr val="C9A8E0"/>
          </a:solidFill>
          <a:ln/>
        </p:spPr>
      </p:sp>
      <p:sp>
        <p:nvSpPr>
          <p:cNvPr id="51" name="Shape 49"/>
          <p:cNvSpPr/>
          <p:nvPr/>
        </p:nvSpPr>
        <p:spPr>
          <a:xfrm>
            <a:off x="10159746" y="6537960"/>
            <a:ext cx="2031949" cy="320040"/>
          </a:xfrm>
          <a:prstGeom prst="rect">
            <a:avLst/>
          </a:prstGeom>
          <a:solidFill>
            <a:srgbClr val="A8D8EA"/>
          </a:solidFill>
          <a:ln/>
        </p:spPr>
      </p:sp>
      <p:pic>
        <p:nvPicPr>
          <p:cNvPr id="53" name="Picture 52">
            <a:extLst>
              <a:ext uri="{FF2B5EF4-FFF2-40B4-BE49-F238E27FC236}">
                <a16:creationId xmlns:a16="http://schemas.microsoft.com/office/drawing/2014/main" id="{B24B4C4D-03EA-11D3-BE34-0A3535C36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2181" y="1503526"/>
            <a:ext cx="871235" cy="871235"/>
          </a:xfrm>
          <a:prstGeom prst="flowChartConnector">
            <a:avLst/>
          </a:prstGeom>
        </p:spPr>
      </p:pic>
      <p:pic>
        <p:nvPicPr>
          <p:cNvPr id="55" name="Picture 54">
            <a:extLst>
              <a:ext uri="{FF2B5EF4-FFF2-40B4-BE49-F238E27FC236}">
                <a16:creationId xmlns:a16="http://schemas.microsoft.com/office/drawing/2014/main" id="{CC3191FE-8FE7-7218-1CF0-F00516E437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33801" y="1530204"/>
            <a:ext cx="859536" cy="859536"/>
          </a:xfrm>
          <a:prstGeom prst="flowChartConnector">
            <a:avLst/>
          </a:prstGeom>
        </p:spPr>
      </p:pic>
      <p:pic>
        <p:nvPicPr>
          <p:cNvPr id="57" name="Picture 56">
            <a:extLst>
              <a:ext uri="{FF2B5EF4-FFF2-40B4-BE49-F238E27FC236}">
                <a16:creationId xmlns:a16="http://schemas.microsoft.com/office/drawing/2014/main" id="{4A559F76-70CF-0B63-A6D3-7BE6FA3B4871}"/>
              </a:ext>
            </a:extLst>
          </p:cNvPr>
          <p:cNvPicPr>
            <a:picLocks noChangeAspect="1"/>
          </p:cNvPicPr>
          <p:nvPr/>
        </p:nvPicPr>
        <p:blipFill>
          <a:blip r:embed="rId5">
            <a:extLst>
              <a:ext uri="{28A0092B-C50C-407E-A947-70E740481C1C}">
                <a14:useLocalDpi xmlns:a14="http://schemas.microsoft.com/office/drawing/2010/main" val="0"/>
              </a:ext>
            </a:extLst>
          </a:blip>
          <a:srcRect t="1037" b="31466"/>
          <a:stretch>
            <a:fillRect/>
          </a:stretch>
        </p:blipFill>
        <p:spPr>
          <a:xfrm>
            <a:off x="9210701" y="1482198"/>
            <a:ext cx="942723" cy="948690"/>
          </a:xfrm>
          <a:prstGeom prst="flowChartConnector">
            <a:avLst/>
          </a:prstGeom>
        </p:spPr>
      </p:pic>
      <p:pic>
        <p:nvPicPr>
          <p:cNvPr id="59" name="Picture 58">
            <a:extLst>
              <a:ext uri="{FF2B5EF4-FFF2-40B4-BE49-F238E27FC236}">
                <a16:creationId xmlns:a16="http://schemas.microsoft.com/office/drawing/2014/main" id="{216B6D2C-C052-8BB4-580C-B889058086D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5421" y="1511915"/>
            <a:ext cx="868681" cy="868681"/>
          </a:xfrm>
          <a:prstGeom prst="flowChartConnector">
            <a:avLst/>
          </a:prstGeom>
        </p:spPr>
      </p:pic>
      <p:pic>
        <p:nvPicPr>
          <p:cNvPr id="60" name="Image 0">
            <a:extLst>
              <a:ext uri="{FF2B5EF4-FFF2-40B4-BE49-F238E27FC236}">
                <a16:creationId xmlns:a16="http://schemas.microsoft.com/office/drawing/2014/main" id="{241DE3B5-AFC5-86CC-5314-1678E10CC6E0}"/>
              </a:ext>
            </a:extLst>
          </p:cNvPr>
          <p:cNvPicPr>
            <a:picLocks noChangeAspect="1"/>
          </p:cNvPicPr>
          <p:nvPr/>
        </p:nvPicPr>
        <p:blipFill rotWithShape="1">
          <a:blip r:embed="rId7"/>
          <a:srcRect l="2280" t="975" r="-2280" b="22753"/>
          <a:stretch>
            <a:fillRect/>
          </a:stretch>
        </p:blipFill>
        <p:spPr>
          <a:xfrm>
            <a:off x="532181" y="4279393"/>
            <a:ext cx="868680" cy="868680"/>
          </a:xfrm>
          <a:prstGeom prst="flowChartConnector">
            <a:avLst/>
          </a:prstGeom>
        </p:spPr>
      </p:pic>
      <p:pic>
        <p:nvPicPr>
          <p:cNvPr id="61" name="Image 4">
            <a:extLst>
              <a:ext uri="{FF2B5EF4-FFF2-40B4-BE49-F238E27FC236}">
                <a16:creationId xmlns:a16="http://schemas.microsoft.com/office/drawing/2014/main" id="{CC506ADC-96F2-B22F-5E30-BD4218EC27C5}"/>
              </a:ext>
            </a:extLst>
          </p:cNvPr>
          <p:cNvPicPr>
            <a:picLocks noChangeAspect="1"/>
          </p:cNvPicPr>
          <p:nvPr/>
        </p:nvPicPr>
        <p:blipFill rotWithShape="1">
          <a:blip r:embed="rId8"/>
          <a:srcRect t="11648" b="11648"/>
          <a:stretch>
            <a:fillRect/>
          </a:stretch>
        </p:blipFill>
        <p:spPr>
          <a:xfrm>
            <a:off x="3406369" y="4260089"/>
            <a:ext cx="923544" cy="923544"/>
          </a:xfrm>
          <a:prstGeom prst="flowChartConnector">
            <a:avLst/>
          </a:prstGeom>
        </p:spPr>
      </p:pic>
      <p:pic>
        <p:nvPicPr>
          <p:cNvPr id="62" name="Image 8">
            <a:extLst>
              <a:ext uri="{FF2B5EF4-FFF2-40B4-BE49-F238E27FC236}">
                <a16:creationId xmlns:a16="http://schemas.microsoft.com/office/drawing/2014/main" id="{9AAD6B65-99AA-0BA3-ED40-890BF6E83CDE}"/>
              </a:ext>
            </a:extLst>
          </p:cNvPr>
          <p:cNvPicPr>
            <a:picLocks noChangeAspect="1"/>
          </p:cNvPicPr>
          <p:nvPr/>
        </p:nvPicPr>
        <p:blipFill rotWithShape="1">
          <a:blip r:embed="rId9"/>
          <a:srcRect l="1344" t="5258" r="-1344" b="17600"/>
          <a:stretch>
            <a:fillRect/>
          </a:stretch>
        </p:blipFill>
        <p:spPr>
          <a:xfrm>
            <a:off x="9230667" y="4260089"/>
            <a:ext cx="932688" cy="932688"/>
          </a:xfrm>
          <a:prstGeom prst="flowChartConnector">
            <a:avLst/>
          </a:prstGeom>
        </p:spPr>
      </p:pic>
      <p:pic>
        <p:nvPicPr>
          <p:cNvPr id="63" name="Picture 62">
            <a:extLst>
              <a:ext uri="{FF2B5EF4-FFF2-40B4-BE49-F238E27FC236}">
                <a16:creationId xmlns:a16="http://schemas.microsoft.com/office/drawing/2014/main" id="{1240D781-0A42-8165-B070-8D0F0F7CD9FE}"/>
              </a:ext>
            </a:extLst>
          </p:cNvPr>
          <p:cNvPicPr>
            <a:picLocks noChangeAspect="1"/>
          </p:cNvPicPr>
          <p:nvPr/>
        </p:nvPicPr>
        <p:blipFill rotWithShape="1">
          <a:blip r:embed="rId10"/>
          <a:srcRect l="11" t="590" r="-11" b="23782"/>
          <a:stretch>
            <a:fillRect/>
          </a:stretch>
        </p:blipFill>
        <p:spPr>
          <a:xfrm>
            <a:off x="6330949" y="4288537"/>
            <a:ext cx="886968" cy="886968"/>
          </a:xfrm>
          <a:prstGeom prst="flowChartConnector">
            <a:avLst/>
          </a:prstGeom>
        </p:spPr>
      </p:pic>
      <p:sp>
        <p:nvSpPr>
          <p:cNvPr id="64" name="TextBox 63">
            <a:extLst>
              <a:ext uri="{FF2B5EF4-FFF2-40B4-BE49-F238E27FC236}">
                <a16:creationId xmlns:a16="http://schemas.microsoft.com/office/drawing/2014/main" id="{4C0F0F4A-CB2E-62F8-BCF2-979876447D2D}"/>
              </a:ext>
            </a:extLst>
          </p:cNvPr>
          <p:cNvSpPr txBox="1"/>
          <p:nvPr/>
        </p:nvSpPr>
        <p:spPr>
          <a:xfrm>
            <a:off x="411480" y="3688189"/>
            <a:ext cx="11384280" cy="3077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solidFill>
                  <a:srgbClr val="000000"/>
                </a:solidFill>
                <a:effectLst/>
                <a:uFillTx/>
                <a:latin typeface="+mn-lt"/>
                <a:ea typeface="+mn-ea"/>
                <a:cs typeface="+mn-cs"/>
                <a:sym typeface="Arial"/>
              </a:rPr>
              <a:t>DEVELOPMENT TEAM</a:t>
            </a:r>
          </a:p>
        </p:txBody>
      </p:sp>
      <p:sp>
        <p:nvSpPr>
          <p:cNvPr id="65" name="TextBox 64">
            <a:extLst>
              <a:ext uri="{FF2B5EF4-FFF2-40B4-BE49-F238E27FC236}">
                <a16:creationId xmlns:a16="http://schemas.microsoft.com/office/drawing/2014/main" id="{D5598CB7-7167-AC10-E76F-7A0D60B6D088}"/>
              </a:ext>
            </a:extLst>
          </p:cNvPr>
          <p:cNvSpPr txBox="1"/>
          <p:nvPr/>
        </p:nvSpPr>
        <p:spPr>
          <a:xfrm rot="10800000" flipV="1">
            <a:off x="427786" y="987552"/>
            <a:ext cx="11434572"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400" b="1" i="0" u="none" strike="noStrike" cap="none" spc="0" normalizeH="0" baseline="0" dirty="0">
                <a:ln>
                  <a:noFill/>
                </a:ln>
                <a:solidFill>
                  <a:srgbClr val="000000"/>
                </a:solidFill>
                <a:effectLst/>
                <a:uFillTx/>
                <a:latin typeface="+mn-lt"/>
                <a:ea typeface="+mn-ea"/>
                <a:cs typeface="+mn-cs"/>
                <a:sym typeface="Arial"/>
              </a:rPr>
              <a:t>COFOUNDERS AND CXOs</a:t>
            </a:r>
          </a:p>
        </p:txBody>
      </p:sp>
      <p:sp>
        <p:nvSpPr>
          <p:cNvPr id="67" name="TextBox 66">
            <a:extLst>
              <a:ext uri="{FF2B5EF4-FFF2-40B4-BE49-F238E27FC236}">
                <a16:creationId xmlns:a16="http://schemas.microsoft.com/office/drawing/2014/main" id="{DEF0F241-E223-1E1C-E204-B21E7907FC89}"/>
              </a:ext>
            </a:extLst>
          </p:cNvPr>
          <p:cNvSpPr txBox="1"/>
          <p:nvPr/>
        </p:nvSpPr>
        <p:spPr>
          <a:xfrm>
            <a:off x="11616575" y="290376"/>
            <a:ext cx="35836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pic>
        <p:nvPicPr>
          <p:cNvPr id="52" name="Picture 51">
            <a:extLst>
              <a:ext uri="{FF2B5EF4-FFF2-40B4-BE49-F238E27FC236}">
                <a16:creationId xmlns:a16="http://schemas.microsoft.com/office/drawing/2014/main" id="{551A2D58-7A6E-75C9-C9DA-1F7CEC3C52D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36753" y="1524354"/>
            <a:ext cx="871235" cy="871235"/>
          </a:xfrm>
          <a:prstGeom prst="flowChartConnector">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FEEA0E4-95E1-743D-04AA-F7A87945F22D}"/>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ACE0237B-38AF-EA8E-A613-A0795275BFC2}"/>
              </a:ext>
            </a:extLst>
          </p:cNvPr>
          <p:cNvSpPr/>
          <p:nvPr/>
        </p:nvSpPr>
        <p:spPr>
          <a:xfrm>
            <a:off x="-1" y="1077911"/>
            <a:ext cx="12192001" cy="5800946"/>
          </a:xfrm>
          <a:prstGeom prst="rect">
            <a:avLst/>
          </a:prstGeom>
          <a:solidFill>
            <a:schemeClr val="bg1"/>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286670F4-CEE9-845B-447A-0518F392A15D}"/>
              </a:ext>
            </a:extLst>
          </p:cNvPr>
          <p:cNvSpPr txBox="1"/>
          <p:nvPr/>
        </p:nvSpPr>
        <p:spPr>
          <a:xfrm>
            <a:off x="413135" y="253266"/>
            <a:ext cx="7364158" cy="720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1">
              <a:lnSpc>
                <a:spcPct val="90000"/>
              </a:lnSpc>
              <a:spcBef>
                <a:spcPts val="0"/>
              </a:spcBef>
              <a:spcAft>
                <a:spcPts val="0"/>
              </a:spcAft>
              <a:buClr>
                <a:srgbClr val="FFFFFF"/>
              </a:buClr>
              <a:buSzPts val="1800"/>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Calibri"/>
                <a:cs typeface="Calibri"/>
                <a:sym typeface="Calibri"/>
              </a:rPr>
              <a:t>Team: Mentors and employees</a:t>
            </a:r>
            <a:endParaRPr kumimoji="0" lang="en-US" sz="3200" b="0" i="0" u="none" strike="noStrike" kern="1200" cap="none" spc="0" normalizeH="0" baseline="0" noProof="0" dirty="0">
              <a:ln>
                <a:noFill/>
              </a:ln>
              <a:solidFill>
                <a:srgbClr val="000000"/>
              </a:solidFill>
              <a:effectLst/>
              <a:uLnTx/>
              <a:uFillTx/>
              <a:latin typeface="Arial"/>
              <a:ea typeface="Arial"/>
              <a:cs typeface="Arial"/>
              <a:sym typeface="Arial"/>
            </a:endParaRPr>
          </a:p>
        </p:txBody>
      </p:sp>
      <p:sp>
        <p:nvSpPr>
          <p:cNvPr id="419" name="Slide Number">
            <a:extLst>
              <a:ext uri="{FF2B5EF4-FFF2-40B4-BE49-F238E27FC236}">
                <a16:creationId xmlns:a16="http://schemas.microsoft.com/office/drawing/2014/main" id="{28F9E312-89C7-C64D-D7FE-802741D4BC31}"/>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20</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CADFF7CE-FDDE-6A7E-021B-8A95F4CEE957}"/>
              </a:ext>
            </a:extLst>
          </p:cNvPr>
          <p:cNvSpPr txBox="1"/>
          <p:nvPr/>
        </p:nvSpPr>
        <p:spPr>
          <a:xfrm>
            <a:off x="9826309" y="470459"/>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1026" name="Picture 2" descr="Cover Story: Transforming Indian Dairy with Technology and ...">
            <a:extLst>
              <a:ext uri="{FF2B5EF4-FFF2-40B4-BE49-F238E27FC236}">
                <a16:creationId xmlns:a16="http://schemas.microsoft.com/office/drawing/2014/main" id="{83BFAD66-8C2B-31AF-FED9-F7AD7AF20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579" y="1193681"/>
            <a:ext cx="1914825" cy="16567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DE84BE-13DB-9D55-6B6C-8564A6715F2B}"/>
              </a:ext>
            </a:extLst>
          </p:cNvPr>
          <p:cNvSpPr txBox="1"/>
          <p:nvPr/>
        </p:nvSpPr>
        <p:spPr>
          <a:xfrm>
            <a:off x="39147" y="2874403"/>
            <a:ext cx="3415253"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Dr. Sudhindra Tatti</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CEO of Prompt Innovations </a:t>
            </a: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Ph.D. (University of Texas, Austin)</a:t>
            </a:r>
          </a:p>
        </p:txBody>
      </p:sp>
      <p:pic>
        <p:nvPicPr>
          <p:cNvPr id="1028" name="Picture 4" descr="Profile photo of Shikha Dhawan, PhD, PGDM">
            <a:extLst>
              <a:ext uri="{FF2B5EF4-FFF2-40B4-BE49-F238E27FC236}">
                <a16:creationId xmlns:a16="http://schemas.microsoft.com/office/drawing/2014/main" id="{F39192CD-CA37-1563-B8C3-174D0D9A94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9821" y="1193681"/>
            <a:ext cx="1728470" cy="17284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2586281-E449-DBCF-10C5-9F23E2D6526D}"/>
              </a:ext>
            </a:extLst>
          </p:cNvPr>
          <p:cNvSpPr txBox="1"/>
          <p:nvPr/>
        </p:nvSpPr>
        <p:spPr>
          <a:xfrm>
            <a:off x="3414666" y="2889631"/>
            <a:ext cx="275995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Dr. Shikha Dhawan</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Founder, </a:t>
            </a:r>
            <a:r>
              <a:rPr kumimoji="0" lang="en-IN" sz="1800" b="0" i="0" u="none" strike="noStrike" kern="12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Biozazen</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Ph.D. </a:t>
            </a:r>
            <a:r>
              <a:rPr lang="en-IN" dirty="0">
                <a:solidFill>
                  <a:srgbClr val="000000"/>
                </a:solidFill>
                <a:latin typeface="Calibri" panose="020F0502020204030204" pitchFamily="34" charset="0"/>
                <a:ea typeface="Calibri" panose="020F0502020204030204" pitchFamily="34" charset="0"/>
                <a:cs typeface="Calibri" panose="020F0502020204030204" pitchFamily="34" charset="0"/>
              </a:rPr>
              <a:t>(Delhi University) </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032" name="Picture 8" descr="Sandeep Kumar - Associate Professor at IIT Delhi, MISN Lab IIT Delhi |  LinkedIn">
            <a:extLst>
              <a:ext uri="{FF2B5EF4-FFF2-40B4-BE49-F238E27FC236}">
                <a16:creationId xmlns:a16="http://schemas.microsoft.com/office/drawing/2014/main" id="{145DFE97-55C2-ECA3-39DD-25F61977CD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178905" y="1184820"/>
            <a:ext cx="1737331" cy="173733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379C074-061C-093C-45FD-B80917E4B318}"/>
              </a:ext>
            </a:extLst>
          </p:cNvPr>
          <p:cNvSpPr txBox="1"/>
          <p:nvPr/>
        </p:nvSpPr>
        <p:spPr>
          <a:xfrm>
            <a:off x="9244171" y="2882017"/>
            <a:ext cx="351282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lang="en-IN" b="1" dirty="0">
                <a:solidFill>
                  <a:srgbClr val="000000"/>
                </a:solidFill>
                <a:latin typeface="Calibri" panose="020F0502020204030204" pitchFamily="34" charset="0"/>
                <a:ea typeface="Calibri" panose="020F0502020204030204" pitchFamily="34" charset="0"/>
                <a:cs typeface="Calibri" panose="020F0502020204030204" pitchFamily="34" charset="0"/>
              </a:rPr>
              <a:t>Prof.</a:t>
            </a: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Sandeep Kumar</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EE, IIT Delhi</a:t>
            </a: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Ph.D. </a:t>
            </a:r>
            <a:r>
              <a:rPr lang="en-IN" dirty="0">
                <a:solidFill>
                  <a:srgbClr val="000000"/>
                </a:solidFill>
                <a:latin typeface="Calibri" panose="020F0502020204030204" pitchFamily="34" charset="0"/>
                <a:ea typeface="Calibri" panose="020F0502020204030204" pitchFamily="34" charset="0"/>
                <a:cs typeface="Calibri" panose="020F0502020204030204" pitchFamily="34" charset="0"/>
              </a:rPr>
              <a:t>(IIT Kanpur) </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C155CFA1-2B3E-9E82-CD50-9DC597B4AA58}"/>
              </a:ext>
            </a:extLst>
          </p:cNvPr>
          <p:cNvPicPr>
            <a:picLocks noChangeAspect="1"/>
          </p:cNvPicPr>
          <p:nvPr/>
        </p:nvPicPr>
        <p:blipFill>
          <a:blip r:embed="rId6"/>
          <a:stretch>
            <a:fillRect/>
          </a:stretch>
        </p:blipFill>
        <p:spPr>
          <a:xfrm>
            <a:off x="3975647" y="3944975"/>
            <a:ext cx="1764360" cy="1785364"/>
          </a:xfrm>
          <a:prstGeom prst="rect">
            <a:avLst/>
          </a:prstGeom>
        </p:spPr>
      </p:pic>
      <p:sp>
        <p:nvSpPr>
          <p:cNvPr id="13" name="TextBox 12">
            <a:extLst>
              <a:ext uri="{FF2B5EF4-FFF2-40B4-BE49-F238E27FC236}">
                <a16:creationId xmlns:a16="http://schemas.microsoft.com/office/drawing/2014/main" id="{4E3A53E8-45CF-E4AC-28D9-255D373095DC}"/>
              </a:ext>
            </a:extLst>
          </p:cNvPr>
          <p:cNvSpPr txBox="1"/>
          <p:nvPr/>
        </p:nvSpPr>
        <p:spPr>
          <a:xfrm>
            <a:off x="3494749" y="5780089"/>
            <a:ext cx="2712721"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Dr. Sudheer Kumar</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COO (</a:t>
            </a:r>
            <a:r>
              <a:rPr kumimoji="0" lang="en-IN" sz="1800" b="0" i="0" u="none" strike="noStrike" kern="1200" cap="none" spc="0" normalizeH="0" baseline="0" noProof="0" dirty="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NCFlexe</a:t>
            </a: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IIT Kanpur) </a:t>
            </a: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Ph.D. </a:t>
            </a:r>
            <a:r>
              <a:rPr lang="en-IN" dirty="0">
                <a:solidFill>
                  <a:srgbClr val="000000"/>
                </a:solidFill>
                <a:latin typeface="Calibri" panose="020F0502020204030204" pitchFamily="34" charset="0"/>
                <a:ea typeface="Calibri" panose="020F0502020204030204" pitchFamily="34" charset="0"/>
                <a:cs typeface="Calibri" panose="020F0502020204030204" pitchFamily="34" charset="0"/>
              </a:rPr>
              <a:t>(NPL) </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3E9FD005-CF00-C93C-7008-73765F5B2225}"/>
              </a:ext>
            </a:extLst>
          </p:cNvPr>
          <p:cNvSpPr txBox="1"/>
          <p:nvPr/>
        </p:nvSpPr>
        <p:spPr>
          <a:xfrm>
            <a:off x="6174616" y="5759085"/>
            <a:ext cx="351282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Neeraj Garg</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Partner, SBM Advisors</a:t>
            </a: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Ex-CTO AMUL, NDDB</a:t>
            </a:r>
          </a:p>
        </p:txBody>
      </p:sp>
      <p:pic>
        <p:nvPicPr>
          <p:cNvPr id="1038" name="Picture 14" descr="Dr. Amitabha Bandyopadhyay | Medical Learning Hub">
            <a:extLst>
              <a:ext uri="{FF2B5EF4-FFF2-40B4-BE49-F238E27FC236}">
                <a16:creationId xmlns:a16="http://schemas.microsoft.com/office/drawing/2014/main" id="{E1595801-833C-58B3-AF18-3174E45AE77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02834" y="1184820"/>
            <a:ext cx="1737331" cy="1737331"/>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rofile photo of Ravikiran Vedururu">
            <a:extLst>
              <a:ext uri="{FF2B5EF4-FFF2-40B4-BE49-F238E27FC236}">
                <a16:creationId xmlns:a16="http://schemas.microsoft.com/office/drawing/2014/main" id="{FB531DC3-64D1-2450-C9FA-4A8473C92F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87093" y="3955477"/>
            <a:ext cx="1764360" cy="17643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708C6B9-777B-7A79-4A1C-B681E4B25935}"/>
              </a:ext>
            </a:extLst>
          </p:cNvPr>
          <p:cNvSpPr txBox="1"/>
          <p:nvPr/>
        </p:nvSpPr>
        <p:spPr>
          <a:xfrm>
            <a:off x="39147" y="5780089"/>
            <a:ext cx="3631883"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r>
              <a:rPr lang="en-IN" b="1" dirty="0">
                <a:latin typeface="Calibri" panose="020F0502020204030204" pitchFamily="34" charset="0"/>
                <a:ea typeface="Calibri" panose="020F0502020204030204" pitchFamily="34" charset="0"/>
                <a:cs typeface="Calibri" panose="020F0502020204030204" pitchFamily="34" charset="0"/>
              </a:rPr>
              <a:t>Dr. RAVI VEDURURU</a:t>
            </a:r>
            <a:endParaRPr lang="en-US" b="1" dirty="0">
              <a:latin typeface="Calibri" panose="020F0502020204030204" pitchFamily="34" charset="0"/>
              <a:ea typeface="Calibri" panose="020F0502020204030204" pitchFamily="34" charset="0"/>
              <a:cs typeface="Calibri" panose="020F0502020204030204" pitchFamily="34" charset="0"/>
            </a:endParaRPr>
          </a:p>
          <a:p>
            <a:pPr algn="ctr"/>
            <a:r>
              <a:rPr lang="en-US" dirty="0">
                <a:latin typeface="Calibri" panose="020F0502020204030204" pitchFamily="34" charset="0"/>
                <a:ea typeface="Calibri" panose="020F0502020204030204" pitchFamily="34" charset="0"/>
                <a:cs typeface="Calibri" panose="020F0502020204030204" pitchFamily="34" charset="0"/>
              </a:rPr>
              <a:t>PhD Exec. MBA , Clinical Dx                   &amp; Medical device Consultant</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6904716C-76B2-8925-AFFE-25BC81E180ED}"/>
              </a:ext>
            </a:extLst>
          </p:cNvPr>
          <p:cNvSpPr txBox="1"/>
          <p:nvPr/>
        </p:nvSpPr>
        <p:spPr>
          <a:xfrm>
            <a:off x="5791671" y="2874403"/>
            <a:ext cx="4523105"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Prof. Amitabha Bandyopadhyay</a:t>
            </a:r>
          </a:p>
          <a:p>
            <a:pPr marL="114300" marR="0" lvl="0" indent="0" algn="ctr" defTabSz="914400" rtl="0" eaLnBrk="1" fontAlgn="auto" latinLnBrk="0" hangingPunct="1">
              <a:spcBef>
                <a:spcPts val="0"/>
              </a:spcBef>
              <a:spcAft>
                <a:spcPts val="0"/>
              </a:spcAft>
              <a:buClrTx/>
              <a:buSzTx/>
              <a:buFontTx/>
              <a:buNone/>
              <a:tabLst/>
              <a:defRPr/>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BSBE, IIT Kanpur</a:t>
            </a:r>
          </a:p>
          <a:p>
            <a:pPr marL="114300" marR="0" lvl="0" indent="0" algn="ctr" defTabSz="914400" rtl="0" eaLnBrk="1" fontAlgn="auto" latinLnBrk="0" hangingPunct="1">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Ex-Harvard Medical School</a:t>
            </a:r>
          </a:p>
        </p:txBody>
      </p:sp>
      <p:pic>
        <p:nvPicPr>
          <p:cNvPr id="1042" name="Picture 18" descr="Profile photo of Niraj Prakash Garg">
            <a:extLst>
              <a:ext uri="{FF2B5EF4-FFF2-40B4-BE49-F238E27FC236}">
                <a16:creationId xmlns:a16="http://schemas.microsoft.com/office/drawing/2014/main" id="{BFC377B2-6747-981A-4932-505427C3186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02834" y="3944975"/>
            <a:ext cx="1764360" cy="176436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Vinod K. Kurmi, Ph.D. - Indian Institute of Science Education and Research  Bhopal (IISER Bhopal) | LinkedIn">
            <a:extLst>
              <a:ext uri="{FF2B5EF4-FFF2-40B4-BE49-F238E27FC236}">
                <a16:creationId xmlns:a16="http://schemas.microsoft.com/office/drawing/2014/main" id="{EF564306-6DA3-345E-B34C-1AFA20A7225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11986" y="3902378"/>
            <a:ext cx="1806579" cy="1806579"/>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0687453-3EBB-5508-57F2-6EA3136A7285}"/>
              </a:ext>
            </a:extLst>
          </p:cNvPr>
          <p:cNvSpPr txBox="1"/>
          <p:nvPr/>
        </p:nvSpPr>
        <p:spPr>
          <a:xfrm>
            <a:off x="9826309" y="5720069"/>
            <a:ext cx="2314892"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Prof. Vinod Kurmi</a:t>
            </a:r>
            <a:endPar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11430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rgbClr val="000000"/>
                </a:solidFill>
                <a:latin typeface="Calibri" panose="020F0502020204030204" pitchFamily="34" charset="0"/>
                <a:ea typeface="Calibri" panose="020F0502020204030204" pitchFamily="34" charset="0"/>
                <a:cs typeface="Calibri" panose="020F0502020204030204" pitchFamily="34" charset="0"/>
              </a:rPr>
              <a:t>EE, IISER</a:t>
            </a:r>
          </a:p>
          <a:p>
            <a:pPr marL="11430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Ph.D. (IIT Kanpur)</a:t>
            </a:r>
          </a:p>
        </p:txBody>
      </p:sp>
      <p:sp>
        <p:nvSpPr>
          <p:cNvPr id="5" name="TextBox 4">
            <a:extLst>
              <a:ext uri="{FF2B5EF4-FFF2-40B4-BE49-F238E27FC236}">
                <a16:creationId xmlns:a16="http://schemas.microsoft.com/office/drawing/2014/main" id="{2529EAD7-7015-6FE8-545F-DAC9C186888D}"/>
              </a:ext>
            </a:extLst>
          </p:cNvPr>
          <p:cNvSpPr txBox="1"/>
          <p:nvPr/>
        </p:nvSpPr>
        <p:spPr>
          <a:xfrm>
            <a:off x="11749791" y="355043"/>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252336617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0052417-F74E-23AF-51A8-96ED3A36EC6C}"/>
            </a:ext>
          </a:extLst>
        </p:cNvPr>
        <p:cNvGrpSpPr/>
        <p:nvPr/>
      </p:nvGrpSpPr>
      <p:grpSpPr>
        <a:xfrm>
          <a:off x="0" y="0"/>
          <a:ext cx="0" cy="0"/>
          <a:chOff x="0" y="0"/>
          <a:chExt cx="0" cy="0"/>
        </a:xfrm>
      </p:grpSpPr>
      <p:sp>
        <p:nvSpPr>
          <p:cNvPr id="423" name="Innovation Highlights">
            <a:extLst>
              <a:ext uri="{FF2B5EF4-FFF2-40B4-BE49-F238E27FC236}">
                <a16:creationId xmlns:a16="http://schemas.microsoft.com/office/drawing/2014/main" id="{659DD7FB-F2E3-3911-7149-61EF9404D1BF}"/>
              </a:ext>
            </a:extLst>
          </p:cNvPr>
          <p:cNvSpPr txBox="1"/>
          <p:nvPr/>
        </p:nvSpPr>
        <p:spPr>
          <a:xfrm>
            <a:off x="482066" y="365124"/>
            <a:ext cx="5166351" cy="720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lvl="0">
              <a:buClr>
                <a:srgbClr val="FFFFFF"/>
              </a:buClr>
              <a:buSzPts val="1800"/>
              <a:defRPr/>
            </a:pPr>
            <a:r>
              <a:rPr lang="en-US" b="1" dirty="0"/>
              <a:t>Credibility &amp; Validation</a:t>
            </a:r>
            <a:endParaRPr lang="en-US" b="1" dirty="0">
              <a:solidFill>
                <a:srgbClr val="000000"/>
              </a:solidFill>
              <a:latin typeface="Arial"/>
              <a:ea typeface="Arial"/>
              <a:cs typeface="Arial"/>
              <a:sym typeface="Arial"/>
            </a:endParaRPr>
          </a:p>
        </p:txBody>
      </p:sp>
      <p:sp>
        <p:nvSpPr>
          <p:cNvPr id="424" name="Line">
            <a:extLst>
              <a:ext uri="{FF2B5EF4-FFF2-40B4-BE49-F238E27FC236}">
                <a16:creationId xmlns:a16="http://schemas.microsoft.com/office/drawing/2014/main" id="{77A27A99-3146-41F1-30E9-3A4C8919F9B6}"/>
              </a:ext>
            </a:extLst>
          </p:cNvPr>
          <p:cNvSpPr/>
          <p:nvPr/>
        </p:nvSpPr>
        <p:spPr>
          <a:xfrm flipV="1">
            <a:off x="554838" y="934789"/>
            <a:ext cx="9094565" cy="44255"/>
          </a:xfrm>
          <a:prstGeom prst="line">
            <a:avLst/>
          </a:prstGeom>
          <a:ln w="25400">
            <a:solidFill>
              <a:srgbClr val="333333"/>
            </a:solidFill>
          </a:ln>
        </p:spPr>
        <p:txBody>
          <a:bodyPr lIns="45719" rIns="45719"/>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5" name="Slide Number">
            <a:extLst>
              <a:ext uri="{FF2B5EF4-FFF2-40B4-BE49-F238E27FC236}">
                <a16:creationId xmlns:a16="http://schemas.microsoft.com/office/drawing/2014/main" id="{BF19BB79-75C4-58E9-1D83-1A18494FB23F}"/>
              </a:ext>
            </a:extLst>
          </p:cNvPr>
          <p:cNvSpPr txBox="1">
            <a:spLocks noGrp="1"/>
          </p:cNvSpPr>
          <p:nvPr>
            <p:ph type="sldNum" sz="quarter" idx="4294967295"/>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21</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40DD22FF-9821-F4D7-C70B-68BA91F724F1}"/>
              </a:ext>
            </a:extLst>
          </p:cNvPr>
          <p:cNvSpPr txBox="1"/>
          <p:nvPr/>
        </p:nvSpPr>
        <p:spPr>
          <a:xfrm>
            <a:off x="9833194" y="476415"/>
            <a:ext cx="2112115" cy="36933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sp>
        <p:nvSpPr>
          <p:cNvPr id="4" name="Rounded Rectangle">
            <a:extLst>
              <a:ext uri="{FF2B5EF4-FFF2-40B4-BE49-F238E27FC236}">
                <a16:creationId xmlns:a16="http://schemas.microsoft.com/office/drawing/2014/main" id="{88C2633E-BA17-4668-72EF-19209BC74208}"/>
              </a:ext>
            </a:extLst>
          </p:cNvPr>
          <p:cNvSpPr/>
          <p:nvPr/>
        </p:nvSpPr>
        <p:spPr>
          <a:xfrm>
            <a:off x="520042" y="1349416"/>
            <a:ext cx="3439678" cy="3203730"/>
          </a:xfrm>
          <a:prstGeom prst="roundRect">
            <a:avLst>
              <a:gd name="adj" fmla="val 8411"/>
            </a:avLst>
          </a:prstGeom>
          <a:gradFill>
            <a:gsLst>
              <a:gs pos="0">
                <a:srgbClr val="BF55FF">
                  <a:alpha val="41324"/>
                </a:srgbClr>
              </a:gs>
              <a:gs pos="100000">
                <a:srgbClr val="733CFF">
                  <a:alpha val="41324"/>
                </a:srgbClr>
              </a:gs>
            </a:gsLst>
            <a:lin ang="12802050"/>
          </a:gradFill>
          <a:ln w="25400">
            <a:solidFill>
              <a:srgbClr val="FFFFFF">
                <a:alpha val="41324"/>
              </a:srgbClr>
            </a:solidFill>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 name="Rounded Rectangle">
            <a:extLst>
              <a:ext uri="{FF2B5EF4-FFF2-40B4-BE49-F238E27FC236}">
                <a16:creationId xmlns:a16="http://schemas.microsoft.com/office/drawing/2014/main" id="{2DE18AAC-23FD-08AB-DC58-36891E7254EF}"/>
              </a:ext>
            </a:extLst>
          </p:cNvPr>
          <p:cNvSpPr/>
          <p:nvPr/>
        </p:nvSpPr>
        <p:spPr>
          <a:xfrm>
            <a:off x="4300866" y="1349415"/>
            <a:ext cx="3568427" cy="3203730"/>
          </a:xfrm>
          <a:prstGeom prst="roundRect">
            <a:avLst>
              <a:gd name="adj" fmla="val 8411"/>
            </a:avLst>
          </a:prstGeom>
          <a:gradFill>
            <a:gsLst>
              <a:gs pos="0">
                <a:srgbClr val="BF55FF">
                  <a:alpha val="41324"/>
                </a:srgbClr>
              </a:gs>
              <a:gs pos="100000">
                <a:srgbClr val="733CFF">
                  <a:alpha val="41324"/>
                </a:srgbClr>
              </a:gs>
            </a:gsLst>
            <a:lin ang="12802050"/>
          </a:gradFill>
          <a:ln w="25400">
            <a:solidFill>
              <a:srgbClr val="FFFFFF">
                <a:alpha val="41324"/>
              </a:srgbClr>
            </a:solidFill>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6" name="Rounded Rectangle">
            <a:extLst>
              <a:ext uri="{FF2B5EF4-FFF2-40B4-BE49-F238E27FC236}">
                <a16:creationId xmlns:a16="http://schemas.microsoft.com/office/drawing/2014/main" id="{92682564-0F46-28CB-61D6-CD305611D7FF}"/>
              </a:ext>
            </a:extLst>
          </p:cNvPr>
          <p:cNvSpPr/>
          <p:nvPr/>
        </p:nvSpPr>
        <p:spPr>
          <a:xfrm>
            <a:off x="8232282" y="1389930"/>
            <a:ext cx="3546584" cy="3163215"/>
          </a:xfrm>
          <a:prstGeom prst="roundRect">
            <a:avLst>
              <a:gd name="adj" fmla="val 8411"/>
            </a:avLst>
          </a:prstGeom>
          <a:gradFill>
            <a:gsLst>
              <a:gs pos="0">
                <a:srgbClr val="BF55FF">
                  <a:alpha val="41324"/>
                </a:srgbClr>
              </a:gs>
              <a:gs pos="100000">
                <a:srgbClr val="733CFF">
                  <a:alpha val="41324"/>
                </a:srgbClr>
              </a:gs>
            </a:gsLst>
            <a:lin ang="12802050"/>
          </a:gradFill>
          <a:ln w="25400">
            <a:solidFill>
              <a:srgbClr val="FFFFFF">
                <a:alpha val="41324"/>
              </a:srgbClr>
            </a:solidFill>
          </a:ln>
          <a:effectLst>
            <a:outerShdw blurRad="38100" dist="23000" dir="5400000" rotWithShape="0">
              <a:srgbClr val="000000">
                <a:alpha val="35000"/>
              </a:srgbClr>
            </a:outerShdw>
          </a:effectLst>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 name="TextBox 10">
            <a:extLst>
              <a:ext uri="{FF2B5EF4-FFF2-40B4-BE49-F238E27FC236}">
                <a16:creationId xmlns:a16="http://schemas.microsoft.com/office/drawing/2014/main" id="{6437BE9B-37AB-BF60-8DB3-3DACE174770F}"/>
              </a:ext>
            </a:extLst>
          </p:cNvPr>
          <p:cNvSpPr txBox="1"/>
          <p:nvPr/>
        </p:nvSpPr>
        <p:spPr>
          <a:xfrm>
            <a:off x="4495851" y="1548709"/>
            <a:ext cx="3200300" cy="2862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Clinical &amp; Field Validation</a:t>
            </a:r>
          </a:p>
          <a:p>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Validated at NABL-accredited lab (City Imaging)</a:t>
            </a:r>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98% accuracy benchmarked against lab reference analyzers</a:t>
            </a:r>
          </a:p>
          <a:p>
            <a:pPr marL="285750"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Multiple strip brands and real-world lighting conditions tested</a:t>
            </a:r>
          </a:p>
        </p:txBody>
      </p:sp>
      <p:sp>
        <p:nvSpPr>
          <p:cNvPr id="12" name="TextBox 11">
            <a:extLst>
              <a:ext uri="{FF2B5EF4-FFF2-40B4-BE49-F238E27FC236}">
                <a16:creationId xmlns:a16="http://schemas.microsoft.com/office/drawing/2014/main" id="{170113A1-A51E-83C9-6179-9F27CAB1ACA2}"/>
              </a:ext>
            </a:extLst>
          </p:cNvPr>
          <p:cNvSpPr txBox="1"/>
          <p:nvPr/>
        </p:nvSpPr>
        <p:spPr>
          <a:xfrm>
            <a:off x="8465819" y="1459518"/>
            <a:ext cx="3064734" cy="34163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Incubation &amp; Regulatory Support</a:t>
            </a:r>
          </a:p>
          <a:p>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GIMS Greater Noida Incubation Center</a:t>
            </a:r>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Clinical trials execution</a:t>
            </a:r>
          </a:p>
          <a:p>
            <a:pPr marL="742950" lvl="1"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Compliance and CDSCO navigation</a:t>
            </a:r>
          </a:p>
          <a:p>
            <a:pPr marL="285750" indent="-285750">
              <a:buFont typeface="Arial" panose="020B0604020202020204" pitchFamily="34" charset="0"/>
              <a:buChar char="•"/>
            </a:pPr>
            <a:r>
              <a:rPr lang="en-IN"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MedTech Mitra:</a:t>
            </a:r>
            <a:r>
              <a:rPr lang="en-IN"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Regulatory guidance &amp; standards compliance</a:t>
            </a:r>
          </a:p>
          <a:p>
            <a:pPr marL="285750" indent="-285750">
              <a:buFont typeface="Arial" panose="020B0604020202020204" pitchFamily="34" charset="0"/>
              <a:buChar char="•"/>
            </a:pPr>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81A7614-036B-7167-FF54-876F7BC7596E}"/>
              </a:ext>
            </a:extLst>
          </p:cNvPr>
          <p:cNvSpPr txBox="1"/>
          <p:nvPr/>
        </p:nvSpPr>
        <p:spPr>
          <a:xfrm>
            <a:off x="554838" y="1548709"/>
            <a:ext cx="3340224"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Academic &amp; Technical Credibility</a:t>
            </a:r>
          </a:p>
          <a:p>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Patent Filed</a:t>
            </a: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for AI-based strip interpretation and calibration methodology</a:t>
            </a:r>
          </a:p>
          <a:p>
            <a:pPr marL="285750" indent="-285750">
              <a:buFont typeface="Arial" panose="020B0604020202020204" pitchFamily="34" charset="0"/>
              <a:buChar char="•"/>
            </a:pP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COE-AI, IIT Kanpur</a:t>
            </a: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 Technical validation of AI models and system architecture</a:t>
            </a:r>
          </a:p>
          <a:p>
            <a:pPr marL="285750"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Core technology developed by </a:t>
            </a: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IIT Kanpur alumni. </a:t>
            </a:r>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 name="Group">
            <a:extLst>
              <a:ext uri="{FF2B5EF4-FFF2-40B4-BE49-F238E27FC236}">
                <a16:creationId xmlns:a16="http://schemas.microsoft.com/office/drawing/2014/main" id="{4E6C1589-3C89-B3F7-8C97-150F3C1CECB1}"/>
              </a:ext>
            </a:extLst>
          </p:cNvPr>
          <p:cNvGrpSpPr/>
          <p:nvPr/>
        </p:nvGrpSpPr>
        <p:grpSpPr>
          <a:xfrm>
            <a:off x="0" y="6720278"/>
            <a:ext cx="12222906" cy="275443"/>
            <a:chOff x="0" y="0"/>
            <a:chExt cx="12222905" cy="275441"/>
          </a:xfrm>
        </p:grpSpPr>
        <p:sp>
          <p:nvSpPr>
            <p:cNvPr id="7" name="Rounded Rectangle">
              <a:extLst>
                <a:ext uri="{FF2B5EF4-FFF2-40B4-BE49-F238E27FC236}">
                  <a16:creationId xmlns:a16="http://schemas.microsoft.com/office/drawing/2014/main" id="{16891214-3333-88D7-3953-665816CA2D7E}"/>
                </a:ext>
              </a:extLst>
            </p:cNvPr>
            <p:cNvSpPr/>
            <p:nvPr/>
          </p:nvSpPr>
          <p:spPr>
            <a:xfrm>
              <a:off x="0" y="0"/>
              <a:ext cx="2582268" cy="275442"/>
            </a:xfrm>
            <a:prstGeom prst="roundRect">
              <a:avLst>
                <a:gd name="adj" fmla="val 50000"/>
              </a:avLst>
            </a:prstGeom>
            <a:solidFill>
              <a:srgbClr val="FFFF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 name="Rectangle">
              <a:extLst>
                <a:ext uri="{FF2B5EF4-FFF2-40B4-BE49-F238E27FC236}">
                  <a16:creationId xmlns:a16="http://schemas.microsoft.com/office/drawing/2014/main" id="{5890B475-179F-B557-F2CD-98DD9E604922}"/>
                </a:ext>
              </a:extLst>
            </p:cNvPr>
            <p:cNvSpPr/>
            <p:nvPr/>
          </p:nvSpPr>
          <p:spPr>
            <a:xfrm>
              <a:off x="2039343" y="0"/>
              <a:ext cx="2582269" cy="275442"/>
            </a:xfrm>
            <a:prstGeom prst="rect">
              <a:avLst/>
            </a:prstGeom>
            <a:solidFill>
              <a:srgbClr val="FFB5A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 name="Rectangle">
              <a:extLst>
                <a:ext uri="{FF2B5EF4-FFF2-40B4-BE49-F238E27FC236}">
                  <a16:creationId xmlns:a16="http://schemas.microsoft.com/office/drawing/2014/main" id="{CBB16BAE-FDD6-2D54-5265-9236B154F6CB}"/>
                </a:ext>
              </a:extLst>
            </p:cNvPr>
            <p:cNvSpPr/>
            <p:nvPr/>
          </p:nvSpPr>
          <p:spPr>
            <a:xfrm>
              <a:off x="4604859" y="0"/>
              <a:ext cx="2582269" cy="275442"/>
            </a:xfrm>
            <a:prstGeom prst="rect">
              <a:avLst/>
            </a:prstGeom>
            <a:solidFill>
              <a:srgbClr val="FFD9A8"/>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 name="Rectangle">
              <a:extLst>
                <a:ext uri="{FF2B5EF4-FFF2-40B4-BE49-F238E27FC236}">
                  <a16:creationId xmlns:a16="http://schemas.microsoft.com/office/drawing/2014/main" id="{98A3C129-A3B2-6C21-D439-E76861E6257E}"/>
                </a:ext>
              </a:extLst>
            </p:cNvPr>
            <p:cNvSpPr/>
            <p:nvPr/>
          </p:nvSpPr>
          <p:spPr>
            <a:xfrm>
              <a:off x="7187127" y="0"/>
              <a:ext cx="2582268" cy="275442"/>
            </a:xfrm>
            <a:prstGeom prst="rect">
              <a:avLst/>
            </a:prstGeom>
            <a:solidFill>
              <a:srgbClr val="EAF28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 name="Rounded Rectangle">
              <a:extLst>
                <a:ext uri="{FF2B5EF4-FFF2-40B4-BE49-F238E27FC236}">
                  <a16:creationId xmlns:a16="http://schemas.microsoft.com/office/drawing/2014/main" id="{A79BEDAF-9A00-39C7-762E-0D9767DB1935}"/>
                </a:ext>
              </a:extLst>
            </p:cNvPr>
            <p:cNvSpPr/>
            <p:nvPr/>
          </p:nvSpPr>
          <p:spPr>
            <a:xfrm>
              <a:off x="9640637" y="0"/>
              <a:ext cx="2582269" cy="275442"/>
            </a:xfrm>
            <a:prstGeom prst="roundRect">
              <a:avLst>
                <a:gd name="adj" fmla="val 50000"/>
              </a:avLst>
            </a:prstGeom>
            <a:solidFill>
              <a:srgbClr val="CBF0FF"/>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 name="Rectangle">
              <a:extLst>
                <a:ext uri="{FF2B5EF4-FFF2-40B4-BE49-F238E27FC236}">
                  <a16:creationId xmlns:a16="http://schemas.microsoft.com/office/drawing/2014/main" id="{CD91EE06-A3C6-207D-189B-29D10D0BE93D}"/>
                </a:ext>
              </a:extLst>
            </p:cNvPr>
            <p:cNvSpPr/>
            <p:nvPr/>
          </p:nvSpPr>
          <p:spPr>
            <a:xfrm>
              <a:off x="8640681" y="0"/>
              <a:ext cx="2582268" cy="275442"/>
            </a:xfrm>
            <a:prstGeom prst="rect">
              <a:avLst/>
            </a:prstGeom>
            <a:solidFill>
              <a:srgbClr val="D9C9FE"/>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16" name="Slide Number">
            <a:extLst>
              <a:ext uri="{FF2B5EF4-FFF2-40B4-BE49-F238E27FC236}">
                <a16:creationId xmlns:a16="http://schemas.microsoft.com/office/drawing/2014/main" id="{56DF8420-CA4D-00FE-8DB5-9763E2EDB517}"/>
              </a:ext>
            </a:extLst>
          </p:cNvPr>
          <p:cNvSpPr txBox="1">
            <a:spLocks/>
          </p:cNvSpPr>
          <p:nvPr/>
        </p:nvSpPr>
        <p:spPr>
          <a:xfrm>
            <a:off x="11172458" y="6414780"/>
            <a:ext cx="181343" cy="24826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699" tIns="45699" rIns="45699" bIns="45699" anchor="ctr">
            <a:spAutoFit/>
          </a:bodyPr>
          <a:lstStyle>
            <a:defPPr>
              <a:defRPr lang="en-US"/>
            </a:defPPr>
            <a:lvl1pPr marL="0" algn="r" defTabSz="914400" rtl="0" eaLnBrk="1" latinLnBrk="0" hangingPunct="1">
              <a:defRPr sz="1200" kern="1200">
                <a:solidFill>
                  <a:srgbClr val="888888"/>
                </a:solidFill>
                <a:latin typeface="Calibri"/>
                <a:ea typeface="Calibri"/>
                <a:cs typeface="Calibri"/>
                <a:sym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en-IN" sz="1200" b="0" i="0" u="none" strike="noStrike" kern="0" cap="none" spc="0" normalizeH="0" baseline="0" noProof="0" smtClean="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21</a:t>
            </a:fld>
            <a:endParaRPr kumimoji="0" lang="en-IN"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17" name="Rounded Rectangle">
            <a:extLst>
              <a:ext uri="{FF2B5EF4-FFF2-40B4-BE49-F238E27FC236}">
                <a16:creationId xmlns:a16="http://schemas.microsoft.com/office/drawing/2014/main" id="{4792D7BF-8926-6F39-96A7-E65EC5AB1138}"/>
              </a:ext>
            </a:extLst>
          </p:cNvPr>
          <p:cNvSpPr/>
          <p:nvPr/>
        </p:nvSpPr>
        <p:spPr>
          <a:xfrm>
            <a:off x="520042" y="4817436"/>
            <a:ext cx="11258823" cy="1675440"/>
          </a:xfrm>
          <a:prstGeom prst="roundRect">
            <a:avLst>
              <a:gd name="adj" fmla="val 8411"/>
            </a:avLst>
          </a:prstGeom>
          <a:gradFill>
            <a:gsLst>
              <a:gs pos="0">
                <a:srgbClr val="BF55FF">
                  <a:alpha val="41324"/>
                </a:srgbClr>
              </a:gs>
              <a:gs pos="100000">
                <a:srgbClr val="733CFF">
                  <a:alpha val="41324"/>
                </a:srgbClr>
              </a:gs>
            </a:gsLst>
            <a:lin ang="12802050"/>
          </a:gradFill>
          <a:ln w="25400">
            <a:solidFill>
              <a:srgbClr val="FFFFFF">
                <a:alpha val="41324"/>
              </a:srgbClr>
            </a:solidFill>
          </a:ln>
          <a:effectLst>
            <a:outerShdw blurRad="38100" dist="23000" dir="5400000" rotWithShape="0">
              <a:srgbClr val="000000">
                <a:alpha val="35000"/>
              </a:srgbClr>
            </a:outerShdw>
          </a:effectLst>
        </p:spPr>
        <p:txBody>
          <a:bodyPr lIns="45719" rIns="45719" anchor="ctr"/>
          <a:lstStyle/>
          <a:p>
            <a:endPar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Strategic Deployment Partnerships - Prompt Dairy Tech </a:t>
            </a:r>
          </a:p>
          <a:p>
            <a:pPr marL="742950" lvl="1"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Access to </a:t>
            </a: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70,000+ villages </a:t>
            </a: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for</a:t>
            </a:r>
            <a:r>
              <a:rPr lang="en-US" b="1"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 cattle health check</a:t>
            </a:r>
            <a:endPar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Devices placed at various centers; strips distributed via health workers</a:t>
            </a:r>
          </a:p>
          <a:p>
            <a:pPr marL="742950" lvl="1" indent="-285750">
              <a:buFont typeface="Arial" panose="020B0604020202020204" pitchFamily="34" charset="0"/>
              <a:buChar char="•"/>
            </a:pPr>
            <a:r>
              <a:rPr lang="en-US" dirty="0">
                <a:solidFill>
                  <a:schemeClr val="bg1">
                    <a:lumMod val="95000"/>
                  </a:schemeClr>
                </a:solidFill>
                <a:latin typeface="Calibri" panose="020F0502020204030204" pitchFamily="34" charset="0"/>
                <a:ea typeface="Calibri" panose="020F0502020204030204" pitchFamily="34" charset="0"/>
                <a:cs typeface="Calibri" panose="020F0502020204030204" pitchFamily="34" charset="0"/>
              </a:rPr>
              <a:t>Home-based scanning enabled through smartphones already present in households</a:t>
            </a:r>
          </a:p>
          <a:p>
            <a:pPr marL="0" marR="0" lvl="0" indent="0" algn="l" defTabSz="914400" rtl="0" eaLnBrk="1" fontAlgn="auto" latinLnBrk="0" hangingPunct="0">
              <a:lnSpc>
                <a:spcPct val="100000"/>
              </a:lnSpc>
              <a:spcBef>
                <a:spcPts val="0"/>
              </a:spcBef>
              <a:spcAft>
                <a:spcPts val="0"/>
              </a:spcAft>
              <a:buClrTx/>
              <a:buSzTx/>
              <a:buFontTx/>
              <a:buNone/>
              <a:tabLst/>
              <a:defRPr/>
            </a:pPr>
            <a:endParaRPr kumimoji="0" b="0" i="0" u="none" strike="noStrike" kern="0" cap="none" spc="0" normalizeH="0" baseline="0" noProof="0" dirty="0">
              <a:ln>
                <a:noFill/>
              </a:ln>
              <a:solidFill>
                <a:schemeClr val="bg1">
                  <a:lumMod val="95000"/>
                </a:schemeClr>
              </a:solidFill>
              <a:effectLst/>
              <a:uLnTx/>
              <a:uFillTx/>
              <a:latin typeface="Arial"/>
              <a:cs typeface="Arial"/>
              <a:sym typeface="Arial"/>
            </a:endParaRPr>
          </a:p>
        </p:txBody>
      </p:sp>
      <p:sp>
        <p:nvSpPr>
          <p:cNvPr id="19" name="TextBox 18">
            <a:extLst>
              <a:ext uri="{FF2B5EF4-FFF2-40B4-BE49-F238E27FC236}">
                <a16:creationId xmlns:a16="http://schemas.microsoft.com/office/drawing/2014/main" id="{53ECB5C8-5678-77EA-884D-898919BA7776}"/>
              </a:ext>
            </a:extLst>
          </p:cNvPr>
          <p:cNvSpPr txBox="1"/>
          <p:nvPr/>
        </p:nvSpPr>
        <p:spPr>
          <a:xfrm>
            <a:off x="11778865" y="454816"/>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390498928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3DCCCDF5-3920-2CEA-505B-794B81A7686B}"/>
            </a:ext>
          </a:extLst>
        </p:cNvPr>
        <p:cNvGrpSpPr/>
        <p:nvPr/>
      </p:nvGrpSpPr>
      <p:grpSpPr>
        <a:xfrm>
          <a:off x="0" y="0"/>
          <a:ext cx="0" cy="0"/>
          <a:chOff x="0" y="0"/>
          <a:chExt cx="0" cy="0"/>
        </a:xfrm>
      </p:grpSpPr>
      <p:sp>
        <p:nvSpPr>
          <p:cNvPr id="3" name="Rectangle">
            <a:extLst>
              <a:ext uri="{FF2B5EF4-FFF2-40B4-BE49-F238E27FC236}">
                <a16:creationId xmlns:a16="http://schemas.microsoft.com/office/drawing/2014/main" id="{4E929C4A-2C6D-F93E-B54C-AAA6E62A5222}"/>
              </a:ext>
            </a:extLst>
          </p:cNvPr>
          <p:cNvSpPr/>
          <p:nvPr/>
        </p:nvSpPr>
        <p:spPr>
          <a:xfrm>
            <a:off x="-1" y="1314459"/>
            <a:ext cx="12192001" cy="5543541"/>
          </a:xfrm>
          <a:prstGeom prst="rect">
            <a:avLst/>
          </a:prstGeom>
          <a:solidFill>
            <a:schemeClr val="bg1"/>
          </a:solidFill>
          <a:ln w="12700">
            <a:miter lim="400000"/>
          </a:ln>
        </p:spPr>
        <p:txBody>
          <a:bodyPr lIns="45719" rIns="45719" anchor="ctr"/>
          <a:lstStyle/>
          <a:p>
            <a:pPr lvl="0" hangingPunct="0">
              <a:defRPr/>
            </a:pP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418" name="AI Model">
            <a:extLst>
              <a:ext uri="{FF2B5EF4-FFF2-40B4-BE49-F238E27FC236}">
                <a16:creationId xmlns:a16="http://schemas.microsoft.com/office/drawing/2014/main" id="{9E0642AE-CAF5-E941-E8FF-AC5695D80340}"/>
              </a:ext>
            </a:extLst>
          </p:cNvPr>
          <p:cNvSpPr txBox="1"/>
          <p:nvPr/>
        </p:nvSpPr>
        <p:spPr>
          <a:xfrm>
            <a:off x="520668" y="450933"/>
            <a:ext cx="7364158" cy="72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lvl1pPr>
              <a:lnSpc>
                <a:spcPct val="90000"/>
              </a:lnSpc>
              <a:defRPr sz="3600">
                <a:solidFill>
                  <a:srgbClr val="FFFFFF"/>
                </a:solidFill>
                <a:latin typeface="Calibri"/>
                <a:ea typeface="Calibri"/>
                <a:cs typeface="Calibri"/>
                <a:sym typeface="Calibri"/>
              </a:defRPr>
            </a:lvl1pPr>
          </a:lstStyle>
          <a:p>
            <a:pPr marL="0" marR="0" lvl="0" indent="0" algn="l" defTabSz="914400" rtl="0" eaLnBrk="1" fontAlgn="auto" latinLnBrk="0" hangingPunct="0">
              <a:lnSpc>
                <a:spcPct val="9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libri"/>
                <a:ea typeface="Calibri"/>
                <a:cs typeface="Calibri"/>
                <a:sym typeface="Calibri"/>
              </a:rPr>
              <a:t>Accreditation Status at City Imaging</a:t>
            </a:r>
            <a:endParaRPr kumimoji="0" sz="3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419" name="Slide Number">
            <a:extLst>
              <a:ext uri="{FF2B5EF4-FFF2-40B4-BE49-F238E27FC236}">
                <a16:creationId xmlns:a16="http://schemas.microsoft.com/office/drawing/2014/main" id="{E718AD13-712D-CFB2-FBA1-2B394AC4CFE0}"/>
              </a:ext>
            </a:extLst>
          </p:cNvPr>
          <p:cNvSpPr txBox="1">
            <a:spLocks noGrp="1"/>
          </p:cNvSpPr>
          <p:nvPr>
            <p:ph type="sldNum" sz="quarter" idx="429496729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200" b="0" i="0" u="none" strike="noStrike" kern="0" cap="none" spc="0" normalizeH="0" baseline="0" noProof="0">
                <a:ln>
                  <a:noFill/>
                </a:ln>
                <a:solidFill>
                  <a:srgbClr val="888888"/>
                </a:solidFill>
                <a:effectLst/>
                <a:uLnTx/>
                <a:uFillTx/>
                <a:latin typeface="Calibri"/>
                <a:ea typeface="Calibri"/>
                <a:cs typeface="Calibri"/>
                <a:sym typeface="Calibri"/>
              </a:rPr>
              <a:pPr marL="0" marR="0" lvl="0" indent="0" algn="r" defTabSz="914400" rtl="0" eaLnBrk="1" fontAlgn="auto" latinLnBrk="0" hangingPunct="0">
                <a:lnSpc>
                  <a:spcPct val="100000"/>
                </a:lnSpc>
                <a:spcBef>
                  <a:spcPts val="0"/>
                </a:spcBef>
                <a:spcAft>
                  <a:spcPts val="0"/>
                </a:spcAft>
                <a:buClrTx/>
                <a:buSzTx/>
                <a:buFontTx/>
                <a:buNone/>
                <a:tabLst/>
                <a:defRPr/>
              </a:pPr>
              <a:t>22</a:t>
            </a:fld>
            <a:endParaRPr kumimoji="0" sz="1200" b="0" i="0" u="none" strike="noStrike" kern="0" cap="none" spc="0" normalizeH="0" baseline="0" noProof="0">
              <a:ln>
                <a:noFill/>
              </a:ln>
              <a:solidFill>
                <a:srgbClr val="888888"/>
              </a:solidFill>
              <a:effectLst/>
              <a:uLnTx/>
              <a:uFillTx/>
              <a:latin typeface="Calibri"/>
              <a:ea typeface="Calibri"/>
              <a:cs typeface="Calibri"/>
              <a:sym typeface="Calibri"/>
            </a:endParaRPr>
          </a:p>
        </p:txBody>
      </p:sp>
      <p:sp>
        <p:nvSpPr>
          <p:cNvPr id="2" name="BillionTests">
            <a:extLst>
              <a:ext uri="{FF2B5EF4-FFF2-40B4-BE49-F238E27FC236}">
                <a16:creationId xmlns:a16="http://schemas.microsoft.com/office/drawing/2014/main" id="{23FC3F85-75FC-75F4-ED05-988A2121F712}"/>
              </a:ext>
            </a:extLst>
          </p:cNvPr>
          <p:cNvSpPr txBox="1"/>
          <p:nvPr/>
        </p:nvSpPr>
        <p:spPr>
          <a:xfrm>
            <a:off x="9559217" y="688698"/>
            <a:ext cx="2112115" cy="3693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1800">
                <a:solidFill>
                  <a:srgbClr val="A7A7A7"/>
                </a:solidFill>
                <a:latin typeface="Cascadia Code Regular Bold"/>
                <a:ea typeface="Cascadia Code Regular Bold"/>
                <a:cs typeface="Cascadia Code Regular Bold"/>
                <a:sym typeface="Cascadia Code Regular Bold"/>
              </a:defRPr>
            </a:lvl1p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BillionTests</a:t>
            </a:r>
            <a:r>
              <a:rPr kumimoji="0" lang="en-US"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.AI</a:t>
            </a:r>
            <a:endParaRPr kumimoji="0" sz="18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endParaRPr>
          </a:p>
        </p:txBody>
      </p:sp>
      <p:pic>
        <p:nvPicPr>
          <p:cNvPr id="5" name="Picture 4">
            <a:extLst>
              <a:ext uri="{FF2B5EF4-FFF2-40B4-BE49-F238E27FC236}">
                <a16:creationId xmlns:a16="http://schemas.microsoft.com/office/drawing/2014/main" id="{3D092434-DF11-DEEF-1B00-95A889122AF4}"/>
              </a:ext>
            </a:extLst>
          </p:cNvPr>
          <p:cNvPicPr>
            <a:picLocks noChangeAspect="1"/>
          </p:cNvPicPr>
          <p:nvPr/>
        </p:nvPicPr>
        <p:blipFill>
          <a:blip r:embed="rId3"/>
          <a:stretch>
            <a:fillRect/>
          </a:stretch>
        </p:blipFill>
        <p:spPr>
          <a:xfrm>
            <a:off x="1966451" y="2542676"/>
            <a:ext cx="2891455" cy="3749760"/>
          </a:xfrm>
          <a:prstGeom prst="rect">
            <a:avLst/>
          </a:prstGeom>
        </p:spPr>
      </p:pic>
      <p:pic>
        <p:nvPicPr>
          <p:cNvPr id="8" name="Picture 7">
            <a:extLst>
              <a:ext uri="{FF2B5EF4-FFF2-40B4-BE49-F238E27FC236}">
                <a16:creationId xmlns:a16="http://schemas.microsoft.com/office/drawing/2014/main" id="{9A6C6E1A-A559-F3C0-65C5-3E723775E98C}"/>
              </a:ext>
            </a:extLst>
          </p:cNvPr>
          <p:cNvPicPr>
            <a:picLocks noChangeAspect="1"/>
          </p:cNvPicPr>
          <p:nvPr/>
        </p:nvPicPr>
        <p:blipFill>
          <a:blip r:embed="rId4"/>
          <a:stretch>
            <a:fillRect/>
          </a:stretch>
        </p:blipFill>
        <p:spPr>
          <a:xfrm>
            <a:off x="6961238" y="2386373"/>
            <a:ext cx="3127429" cy="4062365"/>
          </a:xfrm>
          <a:prstGeom prst="rect">
            <a:avLst/>
          </a:prstGeom>
        </p:spPr>
      </p:pic>
      <p:sp>
        <p:nvSpPr>
          <p:cNvPr id="10" name="TextBox 9">
            <a:extLst>
              <a:ext uri="{FF2B5EF4-FFF2-40B4-BE49-F238E27FC236}">
                <a16:creationId xmlns:a16="http://schemas.microsoft.com/office/drawing/2014/main" id="{61EDD4FC-8D6F-45F5-5418-5F5E44453487}"/>
              </a:ext>
            </a:extLst>
          </p:cNvPr>
          <p:cNvSpPr txBox="1"/>
          <p:nvPr/>
        </p:nvSpPr>
        <p:spPr>
          <a:xfrm>
            <a:off x="342575" y="1823223"/>
            <a:ext cx="8182377"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hangingPunct="0">
              <a:buFont typeface="Arial" panose="020B0604020202020204" pitchFamily="34" charset="0"/>
              <a:buChar char="•"/>
            </a:pPr>
            <a:r>
              <a:rPr lang="en-US" sz="1400" kern="0" dirty="0">
                <a:solidFill>
                  <a:srgbClr val="000000"/>
                </a:solidFill>
                <a:sym typeface="Arial"/>
              </a:rPr>
              <a:t>Validated at City Imaging and Clinical Labs(NABL Accredited).</a:t>
            </a:r>
          </a:p>
        </p:txBody>
      </p:sp>
      <p:sp>
        <p:nvSpPr>
          <p:cNvPr id="6" name="TextBox 5">
            <a:extLst>
              <a:ext uri="{FF2B5EF4-FFF2-40B4-BE49-F238E27FC236}">
                <a16:creationId xmlns:a16="http://schemas.microsoft.com/office/drawing/2014/main" id="{11321BF8-6153-E940-4DA2-F96C1C5BFF34}"/>
              </a:ext>
            </a:extLst>
          </p:cNvPr>
          <p:cNvSpPr txBox="1"/>
          <p:nvPr/>
        </p:nvSpPr>
        <p:spPr>
          <a:xfrm>
            <a:off x="11504887" y="656511"/>
            <a:ext cx="332889" cy="2308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A7A7A7"/>
                </a:solidFill>
                <a:effectLst/>
                <a:uLnTx/>
                <a:uFillTx/>
                <a:latin typeface="Cascadia Mono SemiBold" panose="020B0609020000020004" pitchFamily="49" charset="0"/>
                <a:ea typeface="Cascadia Mono SemiBold" panose="020B0609020000020004" pitchFamily="49" charset="0"/>
                <a:cs typeface="Cascadia Mono SemiBold" panose="020B0609020000020004" pitchFamily="49" charset="0"/>
                <a:sym typeface="Cascadia Code Regular Bold"/>
              </a:rPr>
              <a:t>TM</a:t>
            </a:r>
          </a:p>
        </p:txBody>
      </p:sp>
    </p:spTree>
    <p:extLst>
      <p:ext uri="{BB962C8B-B14F-4D97-AF65-F5344CB8AC3E}">
        <p14:creationId xmlns:p14="http://schemas.microsoft.com/office/powerpoint/2010/main" val="47471343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587" name="Rectangle"/>
          <p:cNvSpPr/>
          <p:nvPr/>
        </p:nvSpPr>
        <p:spPr>
          <a:xfrm>
            <a:off x="2269807" y="1200312"/>
            <a:ext cx="7652386" cy="4457376"/>
          </a:xfrm>
          <a:prstGeom prst="rect">
            <a:avLst/>
          </a:prstGeom>
          <a:solidFill>
            <a:srgbClr val="EFCAFF">
              <a:alpha val="0"/>
            </a:srgbClr>
          </a:solidFill>
          <a:ln w="12700">
            <a:miter lim="400000"/>
          </a:ln>
        </p:spPr>
        <p:txBody>
          <a:bodyPr lIns="45719" rIns="45719" anchor="ctr"/>
          <a:lstStyle/>
          <a:p>
            <a:pPr marL="0" marR="0" lvl="0" indent="0" algn="l" defTabSz="914400" rtl="0" eaLnBrk="1" fontAlgn="auto" latinLnBrk="0" hangingPunct="0">
              <a:lnSpc>
                <a:spcPct val="100000"/>
              </a:lnSpc>
              <a:spcBef>
                <a:spcPts val="0"/>
              </a:spcBef>
              <a:spcAft>
                <a:spcPts val="0"/>
              </a:spcAft>
              <a:buClrTx/>
              <a:buSzTx/>
              <a:buFontTx/>
              <a:buNone/>
              <a:tabLst/>
              <a:defRPr>
                <a:solidFill>
                  <a:srgbClr val="FFFFFF"/>
                </a:solidFill>
              </a:defRPr>
            </a:pPr>
            <a:endParaRPr kumimoji="0" sz="1400" b="0" i="0" u="none" strike="noStrike" kern="0" cap="none" spc="0" normalizeH="0" baseline="0" noProof="0">
              <a:ln>
                <a:noFill/>
              </a:ln>
              <a:solidFill>
                <a:srgbClr val="FFFFFF"/>
              </a:solidFill>
              <a:effectLst/>
              <a:uLnTx/>
              <a:uFillTx/>
              <a:latin typeface="Arial"/>
              <a:cs typeface="Arial"/>
              <a:sym typeface="Arial"/>
            </a:endParaRPr>
          </a:p>
        </p:txBody>
      </p:sp>
      <p:sp>
        <p:nvSpPr>
          <p:cNvPr id="588" name="Google Shape;454;p37"/>
          <p:cNvSpPr txBox="1">
            <a:spLocks noGrp="1"/>
          </p:cNvSpPr>
          <p:nvPr>
            <p:ph type="body" sz="half" idx="1"/>
          </p:nvPr>
        </p:nvSpPr>
        <p:spPr>
          <a:xfrm>
            <a:off x="838200" y="2202633"/>
            <a:ext cx="10515600" cy="2452734"/>
          </a:xfrm>
          <a:prstGeom prst="rect">
            <a:avLst/>
          </a:prstGeom>
        </p:spPr>
        <p:txBody>
          <a:bodyPr/>
          <a:lstStyle/>
          <a:p>
            <a:pPr marL="0" indent="0" algn="ctr">
              <a:spcBef>
                <a:spcPts val="0"/>
              </a:spcBef>
              <a:buSzTx/>
              <a:buNone/>
            </a:pPr>
            <a:r>
              <a:rPr lang="en-IN" sz="3600" dirty="0">
                <a:solidFill>
                  <a:srgbClr val="FFFFFF"/>
                </a:solidFill>
              </a:rPr>
              <a:t>Thanks</a:t>
            </a:r>
            <a:endParaRPr dirty="0"/>
          </a:p>
        </p:txBody>
      </p:sp>
      <p:sp>
        <p:nvSpPr>
          <p:cNvPr id="589" name="Google Shape;455;p37"/>
          <p:cNvSpPr txBox="1"/>
          <p:nvPr/>
        </p:nvSpPr>
        <p:spPr>
          <a:xfrm>
            <a:off x="4017158" y="3082749"/>
            <a:ext cx="4157683" cy="9172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800">
                <a:solidFill>
                  <a:srgbClr val="FFFFFF"/>
                </a:solidFill>
                <a:latin typeface="Calibri"/>
                <a:ea typeface="Calibri"/>
                <a:cs typeface="Calibri"/>
                <a:sym typeface="Calibri"/>
              </a:defRPr>
            </a:pPr>
            <a:r>
              <a:rPr kumimoji="0" sz="1800" b="0" i="0" u="none" strike="noStrike" kern="0" cap="none" spc="0" normalizeH="0" baseline="0" noProof="0" dirty="0">
                <a:ln>
                  <a:noFill/>
                </a:ln>
                <a:solidFill>
                  <a:srgbClr val="FFFFFF"/>
                </a:solidFill>
                <a:effectLst/>
                <a:uLnTx/>
                <a:uFillTx/>
                <a:latin typeface="Calibri"/>
                <a:ea typeface="Calibri"/>
                <a:cs typeface="Calibri"/>
                <a:sym typeface="Calibri"/>
              </a:rPr>
              <a:t>Pranav Asthana</a:t>
            </a:r>
          </a:p>
          <a:p>
            <a:pPr marL="0" marR="0" lvl="0" indent="0" algn="ctr" defTabSz="914400" rtl="0" eaLnBrk="1" fontAlgn="auto" latinLnBrk="0" hangingPunct="0">
              <a:lnSpc>
                <a:spcPct val="100000"/>
              </a:lnSpc>
              <a:spcBef>
                <a:spcPts val="0"/>
              </a:spcBef>
              <a:spcAft>
                <a:spcPts val="0"/>
              </a:spcAft>
              <a:buClrTx/>
              <a:buSzTx/>
              <a:buFontTx/>
              <a:buNone/>
              <a:tabLst/>
              <a:defRPr sz="1800">
                <a:solidFill>
                  <a:srgbClr val="FFFFFF"/>
                </a:solidFill>
                <a:latin typeface="Calibri"/>
                <a:ea typeface="Calibri"/>
                <a:cs typeface="Calibri"/>
                <a:sym typeface="Calibri"/>
              </a:defRPr>
            </a:pPr>
            <a:r>
              <a:rPr kumimoji="0" sz="1800" b="0" i="0" u="none" strike="noStrike" kern="0" cap="none" spc="0" normalizeH="0" baseline="0" noProof="0" dirty="0">
                <a:ln>
                  <a:noFill/>
                </a:ln>
                <a:solidFill>
                  <a:srgbClr val="FFFFFF"/>
                </a:solidFill>
                <a:effectLst/>
                <a:uLnTx/>
                <a:uFillTx/>
                <a:latin typeface="Calibri"/>
                <a:ea typeface="Calibri"/>
                <a:cs typeface="Calibri"/>
                <a:sym typeface="Calibri"/>
              </a:rPr>
              <a:t>+91 9651891556</a:t>
            </a:r>
          </a:p>
          <a:p>
            <a:pPr marL="0" marR="0" lvl="0" indent="0" algn="ctr" defTabSz="914400" rtl="0" eaLnBrk="1" fontAlgn="auto" latinLnBrk="0" hangingPunct="0">
              <a:lnSpc>
                <a:spcPct val="100000"/>
              </a:lnSpc>
              <a:spcBef>
                <a:spcPts val="0"/>
              </a:spcBef>
              <a:spcAft>
                <a:spcPts val="0"/>
              </a:spcAft>
              <a:buClrTx/>
              <a:buSzTx/>
              <a:buFontTx/>
              <a:buNone/>
              <a:tabLst/>
              <a:defRPr sz="1800" u="sng">
                <a:solidFill>
                  <a:srgbClr val="0563C1"/>
                </a:solidFill>
                <a:latin typeface="Calibri"/>
                <a:ea typeface="Calibri"/>
                <a:cs typeface="Calibri"/>
                <a:sym typeface="Calibri"/>
              </a:defRPr>
            </a:pPr>
            <a:r>
              <a:rPr kumimoji="0" lang="en-IN" sz="1800" b="0" i="0" u="sng" strike="noStrike" kern="0" cap="none" spc="0" normalizeH="0" baseline="0" noProof="0" dirty="0">
                <a:ln>
                  <a:noFill/>
                </a:ln>
                <a:solidFill>
                  <a:srgbClr val="0563C1"/>
                </a:solidFill>
                <a:effectLst/>
                <a:uLnTx/>
                <a:uFill>
                  <a:solidFill>
                    <a:srgbClr val="0563C1"/>
                  </a:solidFill>
                </a:uFill>
                <a:latin typeface="Calibri"/>
                <a:ea typeface="Calibri"/>
                <a:cs typeface="Calibri"/>
                <a:sym typeface="Calibri"/>
              </a:rPr>
              <a:t>pranav@excl.ai</a:t>
            </a:r>
            <a:endParaRPr kumimoji="0" sz="18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cSld>
  <p:clrMapOvr>
    <a:masterClrMapping/>
  </p:clrMapOvr>
  <p:transition spd="med"/>
</p:sld>
</file>

<file path=ppt/theme/theme1.xml><?xml version="1.0" encoding="utf-8"?>
<a:theme xmlns:a="http://schemas.openxmlformats.org/drawingml/2006/main" name="1_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6058</TotalTime>
  <Words>2532</Words>
  <Application>Microsoft Office PowerPoint</Application>
  <PresentationFormat>Widescreen</PresentationFormat>
  <Paragraphs>500</Paragraphs>
  <Slides>23</Slides>
  <Notes>15</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Cascadia Code SemiBold</vt:lpstr>
      <vt:lpstr>Cascadia Mono SemiBold</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Kulshrestha;shikha kumari</dc:creator>
  <cp:lastModifiedBy>Alok Kulshresth</cp:lastModifiedBy>
  <cp:revision>126</cp:revision>
  <cp:lastPrinted>2026-01-08T06:17:23Z</cp:lastPrinted>
  <dcterms:created xsi:type="dcterms:W3CDTF">2025-09-03T06:40:05Z</dcterms:created>
  <dcterms:modified xsi:type="dcterms:W3CDTF">2026-08-12T13:08:31Z</dcterms:modified>
</cp:coreProperties>
</file>